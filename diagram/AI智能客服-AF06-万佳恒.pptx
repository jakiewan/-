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6" r:id="rId5"/>
    <p:sldId id="257" r:id="rId6"/>
    <p:sldId id="259" r:id="rId7"/>
    <p:sldId id="261" r:id="rId8"/>
    <p:sldId id="260" r:id="rId9"/>
    <p:sldId id="262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亮点对应当前代码行为，不将方案或离线实验写成已上线能力。当前 recognize_intent 未使用 BertIntentClassifier，intent_context_v3.csv 等文件属于保留的离线训练资料，因此不展示 BERT 准确率。固定 RAG 也没有检索规划 Agent、证据选择 Agent 或重查循环。FAQ 直接返回正文条款，文档回答依证据生成，HyDE 只用于扩展查询，不能充当证据。Neo4j 为可选扩展，在线只读并检查源文件版本。售后在提交前再次验证本人订单及商品快照，申请仅代表本地待审核记录。validate_answer 目前检查非空和部分确定性边界，不是完整的语义事实校验。</a:t>
            </a:r>
          </a:p>
          <a:p>
            <a:r>
              <a:t>源码依据：backend/graph/nodes.py:23-98、243-316；backend/rag/agent.py；backend/rag/models.py:53-108；backend/rag/phone_graph.py；backend/graph/after_sales.py；backend/tools/after_sales.py。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项目解决三个具体问题：重复查询资料、多轮对话缺少上下文、业务查询与售后动作脱节。用户先咨询参数或政策，再查询本人订单，需要实际办理时收集订单、商品、动作和原因，展示确认后落库。当前不连接外部商城，不代表真实退款或维修完成。</a:t>
            </a:r>
          </a:p>
          <a:p>
            <a:r>
              <a:t>源码依据：backend/graph/nodes.py:33-170、178-231、243-316；backend/graph/after_sales.py；backend/tools/after_sales.py；backend/data/knowledge/xiaomi-cn/README.md。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一次请求由浏览器发往 FastAPI，服务通过 Cookie 解析当前账号，用用户级 thread_id 与 PostgreSQL advisory lock 串行处理同一会话。DeepSeekClient 调用 build_workflow。咨询进入固定 RAG 子流程，订单与售后节点直接读写 PostgreSQL。Milvus 保存向量索引，Redis 保存正文和版本元数据；启用 RAG_NEO4J_URI 后，手机参数关系查询可读取 Neo4j。PostgreSQL 也保存主图检查点及 Store；登录会话本身当前仍保存在单进程内存，不是 JWT。</a:t>
            </a:r>
          </a:p>
          <a:p>
            <a:r>
              <a:t>知识维护：backend/data/knowledge/xiaomi-cn/原始资料/ 为当前小米资料唯一日常入口，rebuild_knowledge.py 更新文档与 FAQ；sync_phone_graph.py 同步专用手机图谱。</a:t>
            </a:r>
          </a:p>
          <a:p>
            <a:r>
              <a:t>源码依据：backend/main.py:26-77、86-160；backend/common/auth.py；backend/utils/minimax_client.py:16-65；backend/utils/deepseek_client.py；backend/rag/retriever.py:29-86；backend/scripts/rebuild_knowledge.py；backend/scripts/sync_phone_graph.py。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主流程：START → prepare_context → recognize_intent。咨询、订单、售后、闲聊、投诉进入各业务节点，随后 aggregate_results → check_handoff；人工需求先执行 handoff，否则直接 generate_answer。显式转人工从识别节点直接走 handoff。needs_clarification=true 时跳过业务节点直接生成追问。query_order 如果识别到用户实际在问商品信息，会改走 retrieve_knowledge。generate_answer → validate_answer，通过结束，失败走 safe_fallback → END；不重新提交业务。</a:t>
            </a:r>
          </a:p>
          <a:p>
            <a:r>
              <a:t>当前复杂子图仍保留 agent_decide → execute_tools → agent_decide 的结构，以及工具上限与结果收集节点；但 recognize_intent 固定 is_complex=False，agent_decide 也不要求工具，因此这不是已启用的自主工具 Agent。投诉只标记人工需求，handoff 返回 demo_waiting 文案，不代表真实坐席接管。</a:t>
            </a:r>
          </a:p>
          <a:p>
            <a:r>
              <a:t>此页为便于答辩阅读合并了部分节点显示名；精确条件边依据 backend/graph/workflow.py:23-139，节点行为依据 backend/graph/nodes.py。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先用当前消息、上一轮完整问答与待补任务重写问题，提取品类、品牌、型号、地区和渠道。缺少咨询方面、型号等必要条件时返回澄清；海外版或不支持品牌明确说明边界。</a:t>
            </a:r>
          </a:p>
          <a:p>
            <a:r>
              <a:t>全部诉求能表达为手机参数关系时可查 Neo4j。命中直接返回程序形成的表格；未配置、未覆盖、源文档版本不一致或连接异常时回到 FAQ/文档链路。普通问题直接查 FAQ。FAQ 使用 BGE-M3 dense 召回，Reranker 校验后按条目去重；型号参数问题不会套用泛品类政策 FAQ。明确命中直接输出标准条款。</a:t>
            </a:r>
          </a:p>
          <a:p>
            <a:r>
              <a:t>FAQ no_match 或 ambiguous 才进入文档检索。先对原查询做 dense/sparse 混合检索，再生成 HyDE 假设文本并做第二次混合检索。代码为顺序执行，不是并行 Agent。两次检索结果都来自真实文档，HyDE 本身不能作为证据。每次 dense/sparse 默认各召回20条，权重各0.5，混合后保留10条。RRF k=60，原查询/HyDE权重1.0/0.7，按带版本的 evidence_id 去重，融合最多10条。随后独立 bge-reranker-base 精排，最多5条、8000字符，允许0条；多个型号分配证据预算。</a:t>
            </a:r>
          </a:p>
          <a:p>
            <a:r>
              <a:t>rag_result 返回业务结果与证据给主图，由 generate_answer 依正文回答。无匹配说明无法核实，服务异常明确失败。FAQ/图谱直接答案同样经过主图回复出口。图中的直接返回指跳过文档生成，不指跳过主图。</a:t>
            </a:r>
          </a:p>
          <a:p>
            <a:r>
              <a:t>源码依据：backend/rag/agent.py:49-373；backend/rag/retriever.py:89-220；backend/rag/models.py:18-108；backend/rag/phone_graph.py；backend/graph/nodes.py:243-316。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抽槽是从用户消息中提取业务参数，填槽是合并已知参数并追问缺失条件。咨询在 rag_rewrite 中结合本轮消息、上一轮问答与待补任务提取条件，continues_task 为 true 时继承品类、型号、渠道和品牌。售后仅抽取新增字段，Python 合并非空值，参数变化后重新确认。订单查询只提取本轮条件。Pydantic 校验结构，不代表语义正确；数据库核实本人订单，售后还需明确确认。例子为代码流程说明，不代表本次接口实测。源码：backend/rag/agent.py:20,53,109,238,324；backend/graph/after_sales.py:23,125,197；backend/graph/nodes.py:162。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项目亮点"/>
          <p:cNvSpPr>
            <a:spLocks noGrp="1"/>
          </p:cNvSpPr>
          <p:nvPr/>
        </p:nvSpPr>
        <p:spPr>
          <a:xfrm>
            <a:off x="523875" y="33337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项目亮点</a:t>
            </a:r>
            <a:endParaRPr sz="315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" name="围绕实际问答与办理过程，保持流程可追踪、证据有来源、写操作有确认"/>
          <p:cNvSpPr>
            <a:spLocks noGrp="1"/>
          </p:cNvSpPr>
          <p:nvPr/>
        </p:nvSpPr>
        <p:spPr>
          <a:xfrm>
            <a:off x="542925" y="94297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围绕实际问答与办理过程，保持流程可追踪、证据有来源、写操作有确认</a:t>
            </a:r>
            <a:endParaRPr sz="172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AI智能客服  /  万佳恒"/>
          <p:cNvSpPr>
            <a:spLocks noGrp="1"/>
          </p:cNvSpPr>
          <p:nvPr/>
        </p:nvSpPr>
        <p:spPr>
          <a:xfrm>
            <a:off x="523875" y="6496050"/>
            <a:ext cx="7143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AI智能客服  /  万佳恒</a:t>
            </a:r>
            <a:endParaRPr sz="12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" name="3 / 6"/>
          <p:cNvSpPr>
            <a:spLocks noGrp="1"/>
          </p:cNvSpPr>
          <p:nvPr/>
        </p:nvSpPr>
        <p:spPr>
          <a:xfrm>
            <a:off x="10763250" y="6496050"/>
            <a:ext cx="904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3 / 7</a:t>
            </a:r>
            <a:endParaRPr sz="127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5" name="01"/>
          <p:cNvSpPr>
            <a:spLocks noGrp="1"/>
          </p:cNvSpPr>
          <p:nvPr/>
        </p:nvSpPr>
        <p:spPr>
          <a:xfrm>
            <a:off x="523875" y="15240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01</a:t>
            </a:r>
            <a:endParaRPr sz="23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可控的单意图路由"/>
          <p:cNvSpPr>
            <a:spLocks noGrp="1"/>
          </p:cNvSpPr>
          <p:nvPr/>
        </p:nvSpPr>
        <p:spPr>
          <a:xfrm>
            <a:off x="1333500" y="152400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可控的单意图路由</a:t>
            </a:r>
            <a:endParaRPr sz="202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明确寒暄与转人工走 Python 规则，其余由 LLM 分类"/>
          <p:cNvSpPr>
            <a:spLocks noGrp="1"/>
          </p:cNvSpPr>
          <p:nvPr/>
        </p:nvSpPr>
        <p:spPr>
          <a:xfrm>
            <a:off x="1333500" y="197167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明确寒暄与转人工走 Python 规则，其余由 LLM 分类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8" name="多轮上下文与 SSE 节点进度可追踪"/>
          <p:cNvSpPr>
            <a:spLocks noGrp="1"/>
          </p:cNvSpPr>
          <p:nvPr/>
        </p:nvSpPr>
        <p:spPr>
          <a:xfrm>
            <a:off x="6096000" y="1524000"/>
            <a:ext cx="5476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多轮上下文与 SSE 节点进度可追踪</a:t>
            </a:r>
            <a:endParaRPr sz="172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1333500" y="2457450"/>
            <a:ext cx="10334625" cy="0"/>
          </a:xfrm>
          <a:prstGeom prst="straightConnector1">
            <a:avLst/>
          </a:prstGeom>
          <a:ln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0" name="02"/>
          <p:cNvSpPr>
            <a:spLocks noGrp="1"/>
          </p:cNvSpPr>
          <p:nvPr/>
        </p:nvSpPr>
        <p:spPr>
          <a:xfrm>
            <a:off x="523875" y="26289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02</a:t>
            </a:r>
            <a:endParaRPr sz="23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1" name="分层检索与独立精排"/>
          <p:cNvSpPr>
            <a:spLocks noGrp="1"/>
          </p:cNvSpPr>
          <p:nvPr/>
        </p:nvSpPr>
        <p:spPr>
          <a:xfrm>
            <a:off x="1333500" y="262890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分层检索与独立精排</a:t>
            </a:r>
            <a:endParaRPr sz="202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FAQ 优先，未明确命中再走原查询 + HyDE 混合检索"/>
          <p:cNvSpPr>
            <a:spLocks noGrp="1"/>
          </p:cNvSpPr>
          <p:nvPr/>
        </p:nvSpPr>
        <p:spPr>
          <a:xfrm>
            <a:off x="1333500" y="307657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FAQ 优先，未明确命中再走原查询 + HyDE 混合检索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3" name="双向量召回后，按证据相关性独立精排"/>
          <p:cNvSpPr>
            <a:spLocks noGrp="1"/>
          </p:cNvSpPr>
          <p:nvPr/>
        </p:nvSpPr>
        <p:spPr>
          <a:xfrm>
            <a:off x="6096000" y="2628900"/>
            <a:ext cx="5476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双向量召回后，按证据相关性独立精排</a:t>
            </a:r>
            <a:endParaRPr sz="172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1333500" y="3562350"/>
            <a:ext cx="10334625" cy="0"/>
          </a:xfrm>
          <a:prstGeom prst="straightConnector1">
            <a:avLst/>
          </a:prstGeom>
          <a:ln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5" name="03"/>
          <p:cNvSpPr>
            <a:spLocks noGrp="1"/>
          </p:cNvSpPr>
          <p:nvPr/>
        </p:nvSpPr>
        <p:spPr>
          <a:xfrm>
            <a:off x="523875" y="37338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03</a:t>
            </a:r>
            <a:endParaRPr sz="23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6" name="参数关系查询有确定结果"/>
          <p:cNvSpPr>
            <a:spLocks noGrp="1"/>
          </p:cNvSpPr>
          <p:nvPr/>
        </p:nvSpPr>
        <p:spPr>
          <a:xfrm>
            <a:off x="1333500" y="373380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参数关系查询有确定结果</a:t>
            </a:r>
            <a:endParaRPr sz="202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7" name="Neo4j 支持型号比较、共同参数与多条件筛选"/>
          <p:cNvSpPr>
            <a:spLocks noGrp="1"/>
          </p:cNvSpPr>
          <p:nvPr/>
        </p:nvSpPr>
        <p:spPr>
          <a:xfrm>
            <a:off x="1333500" y="418147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Neo4j 支持型号比较、共同参数与多条件筛选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8" name="固定 Cypher 查询，程序计算差值与筛选结果"/>
          <p:cNvSpPr>
            <a:spLocks noGrp="1"/>
          </p:cNvSpPr>
          <p:nvPr/>
        </p:nvSpPr>
        <p:spPr>
          <a:xfrm>
            <a:off x="6096000" y="3733800"/>
            <a:ext cx="5476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固定 Cypher 查询，程序计算差值与筛选结果</a:t>
            </a:r>
            <a:endParaRPr sz="172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333500" y="4667250"/>
            <a:ext cx="10334625" cy="0"/>
          </a:xfrm>
          <a:prstGeom prst="straightConnector1">
            <a:avLst/>
          </a:prstGeom>
          <a:ln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20" name="04"/>
          <p:cNvSpPr>
            <a:spLocks noGrp="1"/>
          </p:cNvSpPr>
          <p:nvPr/>
        </p:nvSpPr>
        <p:spPr>
          <a:xfrm>
            <a:off x="523875" y="48387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04</a:t>
            </a:r>
            <a:endParaRPr sz="23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1" name="售后确认与重复提交保护"/>
          <p:cNvSpPr>
            <a:spLocks noGrp="1"/>
          </p:cNvSpPr>
          <p:nvPr/>
        </p:nvSpPr>
        <p:spPr>
          <a:xfrm>
            <a:off x="1333500" y="483870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售后确认与重复提交保护</a:t>
            </a:r>
            <a:endParaRPr sz="202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2" name="核对本人订单、商品和动作，明确确认后再创建申请"/>
          <p:cNvSpPr>
            <a:spLocks noGrp="1"/>
          </p:cNvSpPr>
          <p:nvPr/>
        </p:nvSpPr>
        <p:spPr>
          <a:xfrm>
            <a:off x="1333500" y="528637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核对本人订单、商品和动作，明确确认后再创建申请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3" name="参数改变重新确认，同一申请不重复创建"/>
          <p:cNvSpPr>
            <a:spLocks noGrp="1"/>
          </p:cNvSpPr>
          <p:nvPr/>
        </p:nvSpPr>
        <p:spPr>
          <a:xfrm>
            <a:off x="6096000" y="4838700"/>
            <a:ext cx="5476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参数改变重新确认，同一申请不重复创建</a:t>
            </a:r>
            <a:endParaRPr sz="172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1333500" y="5772150"/>
            <a:ext cx="10334625" cy="0"/>
          </a:xfrm>
          <a:prstGeom prst="straightConnector1">
            <a:avLst/>
          </a:prstGeom>
          <a:ln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25" name="知识来自同一份 Markdown 正文，内部保留来源与版本；未找到依据时明确说明无法核实"/>
          <p:cNvSpPr>
            <a:spLocks noGrp="1"/>
          </p:cNvSpPr>
          <p:nvPr/>
        </p:nvSpPr>
        <p:spPr>
          <a:xfrm>
            <a:off x="542925" y="6076950"/>
            <a:ext cx="11096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知识来自同一份 Markdown 正文，内部保留来源与版本；未找到依据时明确说明无法核实</a:t>
            </a:r>
            <a:endParaRPr sz="1650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解决什么问题"/>
          <p:cNvSpPr>
            <a:spLocks noGrp="1"/>
          </p:cNvSpPr>
          <p:nvPr/>
        </p:nvSpPr>
        <p:spPr>
          <a:xfrm>
            <a:off x="523875" y="33337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解决什么问题</a:t>
            </a:r>
            <a:endParaRPr sz="315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" name="面向电商售前与售后咨询，衔接知识问答、本人订单查询和售后申请"/>
          <p:cNvSpPr>
            <a:spLocks noGrp="1"/>
          </p:cNvSpPr>
          <p:nvPr/>
        </p:nvSpPr>
        <p:spPr>
          <a:xfrm>
            <a:off x="542925" y="94297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面向电商售前与售后咨询，衔接知识问答、本人订单查询和售后申请</a:t>
            </a:r>
            <a:endParaRPr sz="172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AI智能客服  /  万佳恒"/>
          <p:cNvSpPr>
            <a:spLocks noGrp="1"/>
          </p:cNvSpPr>
          <p:nvPr/>
        </p:nvSpPr>
        <p:spPr>
          <a:xfrm>
            <a:off x="523875" y="6496050"/>
            <a:ext cx="7143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AI智能客服  /  万佳恒</a:t>
            </a:r>
            <a:endParaRPr sz="12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" name="1 / 6"/>
          <p:cNvSpPr>
            <a:spLocks noGrp="1"/>
          </p:cNvSpPr>
          <p:nvPr/>
        </p:nvSpPr>
        <p:spPr>
          <a:xfrm>
            <a:off x="10763250" y="6496050"/>
            <a:ext cx="904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1 / 7</a:t>
            </a:r>
            <a:endParaRPr sz="127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5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42925" y="161925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01</a:t>
            </a:r>
            <a:endParaRPr sz="247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重复咨询量大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352550" y="1619250"/>
            <a:ext cx="32861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重复咨询量大</a:t>
            </a:r>
            <a:endParaRPr sz="21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参数、保修与售后政策分散，用户反复查找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352550" y="2076450"/>
            <a:ext cx="10048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参数、保修与售后政策分散，用户反复查找</a:t>
            </a:r>
            <a:endParaRPr sz="18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8" name="FAQ 直接返回标准条款，复杂问法继续查文档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6000" y="1619250"/>
            <a:ext cx="5286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FAQ 直接返回标准条款，复杂问法继续查文档</a:t>
            </a:r>
            <a:endParaRPr sz="187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9" name="直接箭头连接符 8"/>
          <p:cNvCxnSpPr/>
          <p:nvPr>
            <p:custDataLst>
              <p:tags r:id="rId5"/>
            </p:custDataLst>
          </p:nvPr>
        </p:nvCxnSpPr>
        <p:spPr>
          <a:xfrm>
            <a:off x="1352550" y="2619375"/>
            <a:ext cx="10315575" cy="0"/>
          </a:xfrm>
          <a:prstGeom prst="straightConnector1">
            <a:avLst/>
          </a:prstGeom>
          <a:ln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0" name="0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42925" y="285750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02</a:t>
            </a:r>
            <a:endParaRPr sz="247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1" name="多轮对话容易丢条件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352550" y="2857500"/>
            <a:ext cx="32861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多轮对话容易丢条件</a:t>
            </a:r>
            <a:endParaRPr sz="21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“它的屏幕呢”“那保修多久”需要理解上下文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352550" y="3314700"/>
            <a:ext cx="10048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“它的屏幕呢”“那保修多久”需要理解上下文</a:t>
            </a:r>
            <a:endParaRPr sz="18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3" name="结合上一轮问答与待补槽位，重写完整检索问题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96000" y="2857500"/>
            <a:ext cx="5286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结合上一轮问答与待补槽位，重写完整检索问题</a:t>
            </a:r>
            <a:endParaRPr sz="187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14" name="直接箭头连接符 13"/>
          <p:cNvCxnSpPr/>
          <p:nvPr>
            <p:custDataLst>
              <p:tags r:id="rId10"/>
            </p:custDataLst>
          </p:nvPr>
        </p:nvCxnSpPr>
        <p:spPr>
          <a:xfrm>
            <a:off x="1352550" y="3857625"/>
            <a:ext cx="10315575" cy="0"/>
          </a:xfrm>
          <a:prstGeom prst="straightConnector1">
            <a:avLst/>
          </a:prstGeom>
          <a:ln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5" name="0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42925" y="409575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4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03</a:t>
            </a:r>
            <a:endParaRPr sz="247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6" name="回答与实际办理脱节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352550" y="4095750"/>
            <a:ext cx="32861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回答与实际办理脱节</a:t>
            </a:r>
            <a:endParaRPr sz="21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7" name="订单归属、申请商品和操作意愿需要核实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352550" y="4552950"/>
            <a:ext cx="10048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订单归属、申请商品和操作意愿需要核实</a:t>
            </a:r>
            <a:endParaRPr sz="18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8" name="查询本人订单，确认退／换／修后生成本地申请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096000" y="4095750"/>
            <a:ext cx="5286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查询本人订单，确认退／换／修后生成本地申请</a:t>
            </a:r>
            <a:endParaRPr sz="187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352550" y="5095875"/>
            <a:ext cx="10315575" cy="0"/>
          </a:xfrm>
          <a:prstGeom prst="straightConnector1">
            <a:avLst/>
          </a:prstGeom>
          <a:ln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20" name="项目边界：小米国行知识资料 + 本地演示订单／售后记录，人工转接仅展示等待文案"/>
          <p:cNvSpPr>
            <a:spLocks noGrp="1"/>
          </p:cNvSpPr>
          <p:nvPr/>
        </p:nvSpPr>
        <p:spPr>
          <a:xfrm>
            <a:off x="542925" y="5734050"/>
            <a:ext cx="111061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项目边界：国行知识资料 + 本地演示订单／售后记录，人工转接仅展示等待文案</a:t>
            </a:r>
            <a:endParaRPr sz="1800" b="0">
              <a:solidFill>
                <a:srgbClr val="936421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2" name="肘形连接符 21"/>
          <p:cNvCxnSpPr>
            <a:stCxn id="12" idx="2"/>
            <a:endCxn id="19" idx="0"/>
          </p:cNvCxnSpPr>
          <p:nvPr/>
        </p:nvCxnSpPr>
        <p:spPr>
          <a:xfrm>
            <a:off x="9667875" y="4352925"/>
            <a:ext cx="142875" cy="866775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1" name="肘形连接符 20"/>
          <p:cNvCxnSpPr>
            <a:stCxn id="11" idx="2"/>
            <a:endCxn id="18" idx="0"/>
          </p:cNvCxnSpPr>
          <p:nvPr/>
        </p:nvCxnSpPr>
        <p:spPr>
          <a:xfrm>
            <a:off x="5262563" y="4352925"/>
            <a:ext cx="1333500" cy="866775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0" name="肘形连接符 19"/>
          <p:cNvCxnSpPr>
            <a:stCxn id="11" idx="2"/>
            <a:endCxn id="17" idx="0"/>
          </p:cNvCxnSpPr>
          <p:nvPr/>
        </p:nvCxnSpPr>
        <p:spPr>
          <a:xfrm flipH="1">
            <a:off x="4357688" y="4352925"/>
            <a:ext cx="904875" cy="866775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5" name="肘形连接符 14"/>
          <p:cNvCxnSpPr>
            <a:stCxn id="6" idx="2"/>
            <a:endCxn id="10" idx="0"/>
          </p:cNvCxnSpPr>
          <p:nvPr/>
        </p:nvCxnSpPr>
        <p:spPr>
          <a:xfrm flipH="1">
            <a:off x="1690688" y="2362200"/>
            <a:ext cx="3000375" cy="87630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285F98"/>
            </a:solidFill>
            <a:prstDash val="dash"/>
            <a:tailEnd type="triangle" w="sm" len="sm"/>
          </a:ln>
        </p:spPr>
      </p:cxnSp>
      <p:cxnSp>
        <p:nvCxnSpPr>
          <p:cNvPr id="14" name="肘形连接符 13"/>
          <p:cNvCxnSpPr>
            <a:stCxn id="7" idx="2"/>
            <a:endCxn id="12" idx="0"/>
          </p:cNvCxnSpPr>
          <p:nvPr/>
        </p:nvCxnSpPr>
        <p:spPr>
          <a:xfrm>
            <a:off x="9096375" y="2362200"/>
            <a:ext cx="571500" cy="87630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3" name="肘形连接符 12"/>
          <p:cNvCxnSpPr>
            <a:stCxn id="7" idx="2"/>
            <a:endCxn id="11" idx="0"/>
          </p:cNvCxnSpPr>
          <p:nvPr/>
        </p:nvCxnSpPr>
        <p:spPr>
          <a:xfrm flipH="1">
            <a:off x="5262563" y="2362200"/>
            <a:ext cx="3833813" cy="87630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9" name="直接箭头连接符 8"/>
          <p:cNvCxnSpPr>
            <a:stCxn id="6" idx="3"/>
            <a:endCxn id="7" idx="1"/>
          </p:cNvCxnSpPr>
          <p:nvPr/>
        </p:nvCxnSpPr>
        <p:spPr>
          <a:xfrm>
            <a:off x="6000750" y="1981200"/>
            <a:ext cx="523875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8" name="直接箭头连接符 7"/>
          <p:cNvCxnSpPr>
            <a:stCxn id="5" idx="3"/>
            <a:endCxn id="6" idx="1"/>
          </p:cNvCxnSpPr>
          <p:nvPr/>
        </p:nvCxnSpPr>
        <p:spPr>
          <a:xfrm>
            <a:off x="2857500" y="1981200"/>
            <a:ext cx="523875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28" name="系统架构"/>
          <p:cNvSpPr>
            <a:spLocks noGrp="1"/>
          </p:cNvSpPr>
          <p:nvPr/>
        </p:nvSpPr>
        <p:spPr>
          <a:xfrm>
            <a:off x="523875" y="33337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系统架构</a:t>
            </a:r>
            <a:endParaRPr sz="315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" name="Vue 3 提供对话界面，FastAPI 接入请求，LangGraph 编排业务与知识查询"/>
          <p:cNvSpPr>
            <a:spLocks noGrp="1"/>
          </p:cNvSpPr>
          <p:nvPr/>
        </p:nvSpPr>
        <p:spPr>
          <a:xfrm>
            <a:off x="542925" y="94297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Vue 3 提供对话界面，FastAPI 接入请求，LangGraph 编排业务与知识查询</a:t>
            </a:r>
            <a:endParaRPr sz="172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AI智能客服  /  万佳恒"/>
          <p:cNvSpPr>
            <a:spLocks noGrp="1"/>
          </p:cNvSpPr>
          <p:nvPr/>
        </p:nvSpPr>
        <p:spPr>
          <a:xfrm>
            <a:off x="523875" y="6496050"/>
            <a:ext cx="7143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AI智能客服  /  万佳恒</a:t>
            </a:r>
            <a:endParaRPr sz="12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" name="2 / 6"/>
          <p:cNvSpPr>
            <a:spLocks noGrp="1"/>
          </p:cNvSpPr>
          <p:nvPr/>
        </p:nvSpPr>
        <p:spPr>
          <a:xfrm>
            <a:off x="10763250" y="6496050"/>
            <a:ext cx="904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2 / 7</a:t>
            </a:r>
            <a:endParaRPr sz="127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5" name="Vue 3 + Vite"/>
          <p:cNvSpPr>
            <a:spLocks noGrp="1"/>
          </p:cNvSpPr>
          <p:nvPr/>
        </p:nvSpPr>
        <p:spPr>
          <a:xfrm>
            <a:off x="523875" y="1600200"/>
            <a:ext cx="2333625" cy="762000"/>
          </a:xfrm>
          <a:prstGeom prst="rect">
            <a:avLst/>
          </a:prstGeom>
          <a:solidFill>
            <a:srgbClr val="FFFFFF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Vue 3 + Vite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登录、对话、进度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FastAPI + SSE"/>
          <p:cNvSpPr>
            <a:spLocks noGrp="1"/>
          </p:cNvSpPr>
          <p:nvPr/>
        </p:nvSpPr>
        <p:spPr>
          <a:xfrm>
            <a:off x="3381375" y="1600200"/>
            <a:ext cx="2619375" cy="762000"/>
          </a:xfrm>
          <a:prstGeom prst="rect">
            <a:avLst/>
          </a:prstGeom>
          <a:solidFill>
            <a:srgbClr val="FFFFFF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FastAPI + SSE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Cookie 身份、请求排队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LangGraph 客服主图"/>
          <p:cNvSpPr>
            <a:spLocks noGrp="1"/>
          </p:cNvSpPr>
          <p:nvPr/>
        </p:nvSpPr>
        <p:spPr>
          <a:xfrm>
            <a:off x="6524625" y="1600200"/>
            <a:ext cx="5143500" cy="762000"/>
          </a:xfrm>
          <a:prstGeom prst="rect">
            <a:avLst/>
          </a:prstGeom>
          <a:solidFill>
            <a:srgbClr val="EDF2FA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LangGraph 客服主图</a:t>
            </a:r>
            <a:endParaRPr sz="172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规则与 LLM 路由、统一回复</a:t>
            </a:r>
            <a:endParaRPr sz="172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0" name="LLM 接入"/>
          <p:cNvSpPr>
            <a:spLocks noGrp="1"/>
          </p:cNvSpPr>
          <p:nvPr/>
        </p:nvSpPr>
        <p:spPr>
          <a:xfrm>
            <a:off x="523875" y="3238500"/>
            <a:ext cx="2333625" cy="1114425"/>
          </a:xfrm>
          <a:prstGeom prst="rect">
            <a:avLst/>
          </a:prstGeom>
          <a:solidFill>
            <a:srgbClr val="FFFFFF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LLM 接入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DeepSeek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分类、重写与生成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1" name="固定 RAG 子流程"/>
          <p:cNvSpPr>
            <a:spLocks noGrp="1"/>
          </p:cNvSpPr>
          <p:nvPr/>
        </p:nvSpPr>
        <p:spPr>
          <a:xfrm>
            <a:off x="3381375" y="3238500"/>
            <a:ext cx="3762375" cy="1114425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固定 RAG 子流程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FAQ、文档混合检索、精排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可选手机参数关系查询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业务节点"/>
          <p:cNvSpPr>
            <a:spLocks noGrp="1"/>
          </p:cNvSpPr>
          <p:nvPr/>
        </p:nvSpPr>
        <p:spPr>
          <a:xfrm>
            <a:off x="7667625" y="3238500"/>
            <a:ext cx="4000500" cy="1114425"/>
          </a:xfrm>
          <a:prstGeom prst="rect">
            <a:avLst/>
          </a:prstGeom>
          <a:solidFill>
            <a:srgbClr val="EDF2FA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业务节点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本人订单查询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退货／换货／维修申请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6" name="模型供 Graph 与 RAG 使用"/>
          <p:cNvSpPr>
            <a:spLocks noGrp="1"/>
          </p:cNvSpPr>
          <p:nvPr/>
        </p:nvSpPr>
        <p:spPr>
          <a:xfrm>
            <a:off x="523875" y="4524375"/>
            <a:ext cx="2714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模型供 Graph 与 RAG 使用</a:t>
            </a:r>
            <a:endParaRPr sz="1500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7" name="Milvus"/>
          <p:cNvSpPr>
            <a:spLocks noGrp="1"/>
          </p:cNvSpPr>
          <p:nvPr/>
        </p:nvSpPr>
        <p:spPr>
          <a:xfrm>
            <a:off x="3381375" y="5219700"/>
            <a:ext cx="1952625" cy="704850"/>
          </a:xfrm>
          <a:prstGeom prst="rect">
            <a:avLst/>
          </a:prstGeom>
          <a:solidFill>
            <a:srgbClr val="FFFFFF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Milvus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FAQ 与文档向量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8" name="Redis"/>
          <p:cNvSpPr>
            <a:spLocks noGrp="1"/>
          </p:cNvSpPr>
          <p:nvPr/>
        </p:nvSpPr>
        <p:spPr>
          <a:xfrm>
            <a:off x="5572125" y="5219700"/>
            <a:ext cx="2047875" cy="704850"/>
          </a:xfrm>
          <a:prstGeom prst="rect">
            <a:avLst/>
          </a:prstGeom>
          <a:solidFill>
            <a:srgbClr val="FFFFFF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Redis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版本化正文、目录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9" name="PostgreSQL"/>
          <p:cNvSpPr>
            <a:spLocks noGrp="1"/>
          </p:cNvSpPr>
          <p:nvPr/>
        </p:nvSpPr>
        <p:spPr>
          <a:xfrm>
            <a:off x="7953375" y="5219700"/>
            <a:ext cx="3714750" cy="704850"/>
          </a:xfrm>
          <a:prstGeom prst="rect">
            <a:avLst/>
          </a:prstGeom>
          <a:solidFill>
            <a:srgbClr val="FFFFFF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PostgreSQL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会话检查点、订单、申请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3" name="Neo4j（可选）"/>
          <p:cNvSpPr>
            <a:spLocks noGrp="1"/>
          </p:cNvSpPr>
          <p:nvPr/>
        </p:nvSpPr>
        <p:spPr>
          <a:xfrm>
            <a:off x="523875" y="5219700"/>
            <a:ext cx="2333625" cy="704850"/>
          </a:xfrm>
          <a:prstGeom prst="rect">
            <a:avLst/>
          </a:prstGeom>
          <a:solidFill>
            <a:srgbClr val="FFFFFF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Neo4j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手机参数关系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3667125" y="4352925"/>
            <a:ext cx="0" cy="600075"/>
          </a:xfrm>
          <a:prstGeom prst="straightConnector1">
            <a:avLst/>
          </a:prstGeom>
          <a:ln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25" name="直接箭头连接符 24"/>
          <p:cNvCxnSpPr/>
          <p:nvPr/>
        </p:nvCxnSpPr>
        <p:spPr>
          <a:xfrm flipH="1">
            <a:off x="1685925" y="4953000"/>
            <a:ext cx="1981200" cy="0"/>
          </a:xfrm>
          <a:prstGeom prst="straightConnector1">
            <a:avLst/>
          </a:prstGeom>
          <a:ln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26" name="直接箭头连接符 25"/>
          <p:cNvCxnSpPr/>
          <p:nvPr/>
        </p:nvCxnSpPr>
        <p:spPr>
          <a:xfrm>
            <a:off x="1685925" y="4953000"/>
            <a:ext cx="0" cy="266700"/>
          </a:xfrm>
          <a:prstGeom prst="straightConnector1">
            <a:avLst/>
          </a:prstGeom>
          <a:ln w="1524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27" name="原始 Markdown 统一维护知识，更新 Milvus / Redis；参数关系单独同步 Neo4j"/>
          <p:cNvSpPr>
            <a:spLocks noGrp="1"/>
          </p:cNvSpPr>
          <p:nvPr/>
        </p:nvSpPr>
        <p:spPr>
          <a:xfrm>
            <a:off x="3381375" y="6038850"/>
            <a:ext cx="8286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0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原始 Markdown 统一维护知识，更新 Milvus / Redis；参数关系单独同步 Neo4j</a:t>
            </a:r>
            <a:endParaRPr sz="1500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48" name="肘形连接符 47"/>
          <p:cNvCxnSpPr>
            <a:stCxn id="46" idx="3"/>
            <a:endCxn id="42" idx="2"/>
          </p:cNvCxnSpPr>
          <p:nvPr/>
        </p:nvCxnSpPr>
        <p:spPr>
          <a:xfrm flipV="1">
            <a:off x="9334500" y="5962650"/>
            <a:ext cx="1714500" cy="285750"/>
          </a:xfrm>
          <a:prstGeom prst="bentConnector2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47" name="直接箭头连接符 46"/>
          <p:cNvCxnSpPr>
            <a:stCxn id="41" idx="2"/>
            <a:endCxn id="46" idx="0"/>
          </p:cNvCxnSpPr>
          <p:nvPr/>
        </p:nvCxnSpPr>
        <p:spPr>
          <a:xfrm>
            <a:off x="8286750" y="5962650"/>
            <a:ext cx="0" cy="142875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44" name="直接箭头连接符 43"/>
          <p:cNvCxnSpPr>
            <a:stCxn id="41" idx="3"/>
            <a:endCxn id="42" idx="1"/>
          </p:cNvCxnSpPr>
          <p:nvPr/>
        </p:nvCxnSpPr>
        <p:spPr>
          <a:xfrm>
            <a:off x="9334500" y="5676900"/>
            <a:ext cx="1095375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43" name="直接箭头连接符 42"/>
          <p:cNvCxnSpPr>
            <a:stCxn id="35" idx="3"/>
            <a:endCxn id="41" idx="1"/>
          </p:cNvCxnSpPr>
          <p:nvPr/>
        </p:nvCxnSpPr>
        <p:spPr>
          <a:xfrm>
            <a:off x="6334125" y="5676900"/>
            <a:ext cx="904875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6" name="直接箭头连接符 35"/>
          <p:cNvCxnSpPr>
            <a:stCxn id="29" idx="2"/>
            <a:endCxn id="35" idx="0"/>
          </p:cNvCxnSpPr>
          <p:nvPr/>
        </p:nvCxnSpPr>
        <p:spPr>
          <a:xfrm>
            <a:off x="5286375" y="5105400"/>
            <a:ext cx="0" cy="28575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3" name="直接箭头连接符 32"/>
          <p:cNvCxnSpPr>
            <a:stCxn id="16" idx="2"/>
            <a:endCxn id="30" idx="0"/>
          </p:cNvCxnSpPr>
          <p:nvPr/>
        </p:nvCxnSpPr>
        <p:spPr>
          <a:xfrm>
            <a:off x="10739438" y="3467100"/>
            <a:ext cx="0" cy="106680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2" name="肘形连接符 31"/>
          <p:cNvCxnSpPr>
            <a:stCxn id="29" idx="3"/>
            <a:endCxn id="30" idx="1"/>
          </p:cNvCxnSpPr>
          <p:nvPr/>
        </p:nvCxnSpPr>
        <p:spPr>
          <a:xfrm>
            <a:off x="6334125" y="4819650"/>
            <a:ext cx="3476625" cy="142875"/>
          </a:xfrm>
          <a:prstGeom prst="bentConnector4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1" name="肘形连接符 30"/>
          <p:cNvCxnSpPr>
            <a:stCxn id="23" idx="2"/>
            <a:endCxn id="29" idx="0"/>
          </p:cNvCxnSpPr>
          <p:nvPr/>
        </p:nvCxnSpPr>
        <p:spPr>
          <a:xfrm>
            <a:off x="5048250" y="4286250"/>
            <a:ext cx="238125" cy="24765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8" name="肘形连接符 27"/>
          <p:cNvCxnSpPr>
            <a:stCxn id="15" idx="2"/>
            <a:endCxn id="23" idx="0"/>
          </p:cNvCxnSpPr>
          <p:nvPr/>
        </p:nvCxnSpPr>
        <p:spPr>
          <a:xfrm flipH="1">
            <a:off x="5048250" y="3467100"/>
            <a:ext cx="3714750" cy="38100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7" name="肘形连接符 26"/>
          <p:cNvCxnSpPr>
            <a:stCxn id="14" idx="2"/>
            <a:endCxn id="23" idx="0"/>
          </p:cNvCxnSpPr>
          <p:nvPr/>
        </p:nvCxnSpPr>
        <p:spPr>
          <a:xfrm flipH="1">
            <a:off x="5048250" y="3467100"/>
            <a:ext cx="1857375" cy="38100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6" name="直接箭头连接符 25"/>
          <p:cNvCxnSpPr>
            <a:stCxn id="13" idx="2"/>
            <a:endCxn id="23" idx="0"/>
          </p:cNvCxnSpPr>
          <p:nvPr/>
        </p:nvCxnSpPr>
        <p:spPr>
          <a:xfrm>
            <a:off x="5048250" y="3467100"/>
            <a:ext cx="0" cy="38100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5" name="肘形连接符 24"/>
          <p:cNvCxnSpPr>
            <a:stCxn id="12" idx="2"/>
            <a:endCxn id="23" idx="0"/>
          </p:cNvCxnSpPr>
          <p:nvPr/>
        </p:nvCxnSpPr>
        <p:spPr>
          <a:xfrm>
            <a:off x="3190875" y="3467100"/>
            <a:ext cx="1857375" cy="38100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4" name="肘形连接符 23"/>
          <p:cNvCxnSpPr>
            <a:stCxn id="11" idx="2"/>
            <a:endCxn id="23" idx="0"/>
          </p:cNvCxnSpPr>
          <p:nvPr/>
        </p:nvCxnSpPr>
        <p:spPr>
          <a:xfrm>
            <a:off x="1333500" y="3467100"/>
            <a:ext cx="3714750" cy="38100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2" name="肘形连接符 21"/>
          <p:cNvCxnSpPr>
            <a:stCxn id="7" idx="2"/>
            <a:endCxn id="16" idx="0"/>
          </p:cNvCxnSpPr>
          <p:nvPr/>
        </p:nvCxnSpPr>
        <p:spPr>
          <a:xfrm>
            <a:off x="5762625" y="2047875"/>
            <a:ext cx="4976813" cy="752475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1" name="肘形连接符 20"/>
          <p:cNvCxnSpPr>
            <a:stCxn id="7" idx="2"/>
            <a:endCxn id="15" idx="0"/>
          </p:cNvCxnSpPr>
          <p:nvPr/>
        </p:nvCxnSpPr>
        <p:spPr>
          <a:xfrm>
            <a:off x="5762625" y="2047875"/>
            <a:ext cx="3000375" cy="752475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0" name="肘形连接符 19"/>
          <p:cNvCxnSpPr>
            <a:stCxn id="7" idx="2"/>
            <a:endCxn id="14" idx="0"/>
          </p:cNvCxnSpPr>
          <p:nvPr/>
        </p:nvCxnSpPr>
        <p:spPr>
          <a:xfrm>
            <a:off x="5762625" y="2047875"/>
            <a:ext cx="1143000" cy="752475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9" name="肘形连接符 18"/>
          <p:cNvCxnSpPr>
            <a:stCxn id="7" idx="2"/>
            <a:endCxn id="13" idx="0"/>
          </p:cNvCxnSpPr>
          <p:nvPr/>
        </p:nvCxnSpPr>
        <p:spPr>
          <a:xfrm flipH="1">
            <a:off x="5048250" y="2047875"/>
            <a:ext cx="714375" cy="752475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8" name="肘形连接符 17"/>
          <p:cNvCxnSpPr>
            <a:stCxn id="7" idx="2"/>
            <a:endCxn id="12" idx="0"/>
          </p:cNvCxnSpPr>
          <p:nvPr/>
        </p:nvCxnSpPr>
        <p:spPr>
          <a:xfrm flipH="1">
            <a:off x="3190875" y="2047875"/>
            <a:ext cx="2571750" cy="752475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7" name="肘形连接符 16"/>
          <p:cNvCxnSpPr>
            <a:stCxn id="7" idx="2"/>
            <a:endCxn id="11" idx="0"/>
          </p:cNvCxnSpPr>
          <p:nvPr/>
        </p:nvCxnSpPr>
        <p:spPr>
          <a:xfrm flipH="1">
            <a:off x="1333500" y="2047875"/>
            <a:ext cx="4429125" cy="752475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9" name="直接箭头连接符 8"/>
          <p:cNvCxnSpPr>
            <a:stCxn id="6" idx="3"/>
            <a:endCxn id="7" idx="1"/>
          </p:cNvCxnSpPr>
          <p:nvPr/>
        </p:nvCxnSpPr>
        <p:spPr>
          <a:xfrm>
            <a:off x="4143375" y="1743075"/>
            <a:ext cx="381000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8" name="直接箭头连接符 7"/>
          <p:cNvCxnSpPr>
            <a:stCxn id="5" idx="3"/>
            <a:endCxn id="6" idx="1"/>
          </p:cNvCxnSpPr>
          <p:nvPr/>
        </p:nvCxnSpPr>
        <p:spPr>
          <a:xfrm>
            <a:off x="1666875" y="1743075"/>
            <a:ext cx="381000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1" name="客服 Graph 主流程"/>
          <p:cNvSpPr>
            <a:spLocks noGrp="1"/>
          </p:cNvSpPr>
          <p:nvPr/>
        </p:nvSpPr>
        <p:spPr>
          <a:xfrm>
            <a:off x="523875" y="33337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客服 Graph 主流程</a:t>
            </a:r>
            <a:endParaRPr sz="315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" name="单意图分流后汇总业务结果，再生成回复并校验"/>
          <p:cNvSpPr>
            <a:spLocks noGrp="1"/>
          </p:cNvSpPr>
          <p:nvPr/>
        </p:nvSpPr>
        <p:spPr>
          <a:xfrm>
            <a:off x="542925" y="94297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单意图分流后汇总业务结果，再生成回复并校验</a:t>
            </a:r>
            <a:endParaRPr sz="172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AI智能客服  /  万佳恒"/>
          <p:cNvSpPr>
            <a:spLocks noGrp="1"/>
          </p:cNvSpPr>
          <p:nvPr/>
        </p:nvSpPr>
        <p:spPr>
          <a:xfrm>
            <a:off x="523875" y="6496050"/>
            <a:ext cx="7143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AI智能客服  /  万佳恒</a:t>
            </a:r>
            <a:endParaRPr sz="12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" name="4 / 6"/>
          <p:cNvSpPr>
            <a:spLocks noGrp="1"/>
          </p:cNvSpPr>
          <p:nvPr/>
        </p:nvSpPr>
        <p:spPr>
          <a:xfrm>
            <a:off x="10763250" y="6496050"/>
            <a:ext cx="904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4 / 7</a:t>
            </a:r>
            <a:endParaRPr sz="127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5" name="START"/>
          <p:cNvSpPr>
            <a:spLocks noGrp="1"/>
          </p:cNvSpPr>
          <p:nvPr/>
        </p:nvSpPr>
        <p:spPr>
          <a:xfrm>
            <a:off x="523875" y="1485900"/>
            <a:ext cx="114300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START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prepare_context"/>
          <p:cNvSpPr>
            <a:spLocks noGrp="1"/>
          </p:cNvSpPr>
          <p:nvPr/>
        </p:nvSpPr>
        <p:spPr>
          <a:xfrm>
            <a:off x="2047875" y="1438275"/>
            <a:ext cx="2095500" cy="609600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prepare_context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保留有效槽位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recognize_intent"/>
          <p:cNvSpPr>
            <a:spLocks noGrp="1"/>
          </p:cNvSpPr>
          <p:nvPr/>
        </p:nvSpPr>
        <p:spPr>
          <a:xfrm>
            <a:off x="4524375" y="1438275"/>
            <a:ext cx="2476500" cy="609600"/>
          </a:xfrm>
          <a:prstGeom prst="rect">
            <a:avLst/>
          </a:prstGeom>
          <a:solidFill>
            <a:srgbClr val="EDF2FA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recognize_intent</a:t>
            </a:r>
            <a:endParaRPr sz="165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规则 + LLM 分类</a:t>
            </a:r>
            <a:endParaRPr sz="165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0" name="复杂子图保留但当前不进入"/>
          <p:cNvSpPr>
            <a:spLocks noGrp="1"/>
          </p:cNvSpPr>
          <p:nvPr/>
        </p:nvSpPr>
        <p:spPr>
          <a:xfrm>
            <a:off x="7572375" y="1419225"/>
            <a:ext cx="4095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复杂子图保留但当前不进入</a:t>
            </a:r>
            <a:endParaRPr sz="15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is_complex=False，业务工具未接入</a:t>
            </a:r>
            <a:endParaRPr sz="15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1" name="咨询"/>
          <p:cNvSpPr>
            <a:spLocks noGrp="1"/>
          </p:cNvSpPr>
          <p:nvPr/>
        </p:nvSpPr>
        <p:spPr>
          <a:xfrm>
            <a:off x="523875" y="2800350"/>
            <a:ext cx="1619250" cy="666750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咨询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知识检索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订单查询"/>
          <p:cNvSpPr>
            <a:spLocks noGrp="1"/>
          </p:cNvSpPr>
          <p:nvPr/>
        </p:nvSpPr>
        <p:spPr>
          <a:xfrm>
            <a:off x="2381250" y="2800350"/>
            <a:ext cx="1619250" cy="666750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订单查询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本人订单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3" name="售后"/>
          <p:cNvSpPr>
            <a:spLocks noGrp="1"/>
          </p:cNvSpPr>
          <p:nvPr/>
        </p:nvSpPr>
        <p:spPr>
          <a:xfrm>
            <a:off x="4238625" y="2800350"/>
            <a:ext cx="1619250" cy="666750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售后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确认后提交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4" name="闲聊"/>
          <p:cNvSpPr>
            <a:spLocks noGrp="1"/>
          </p:cNvSpPr>
          <p:nvPr/>
        </p:nvSpPr>
        <p:spPr>
          <a:xfrm>
            <a:off x="6096000" y="2800350"/>
            <a:ext cx="1619250" cy="666750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闲聊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规则或普通回复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5" name="投诉"/>
          <p:cNvSpPr>
            <a:spLocks noGrp="1"/>
          </p:cNvSpPr>
          <p:nvPr/>
        </p:nvSpPr>
        <p:spPr>
          <a:xfrm>
            <a:off x="7953375" y="2800350"/>
            <a:ext cx="1619250" cy="666750"/>
          </a:xfrm>
          <a:prstGeom prst="rect">
            <a:avLst/>
          </a:prstGeom>
          <a:solidFill>
            <a:srgbClr val="FFF6E7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投诉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标记需要人工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6" name="转人工"/>
          <p:cNvSpPr>
            <a:spLocks noGrp="1"/>
          </p:cNvSpPr>
          <p:nvPr/>
        </p:nvSpPr>
        <p:spPr>
          <a:xfrm>
            <a:off x="9810750" y="2800350"/>
            <a:ext cx="1857375" cy="666750"/>
          </a:xfrm>
          <a:prstGeom prst="rect">
            <a:avLst/>
          </a:prstGeom>
          <a:solidFill>
            <a:srgbClr val="FFF6E7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转人工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3" name="aggregate_results  汇总结果、证据与动作"/>
          <p:cNvSpPr>
            <a:spLocks noGrp="1"/>
          </p:cNvSpPr>
          <p:nvPr/>
        </p:nvSpPr>
        <p:spPr>
          <a:xfrm>
            <a:off x="523875" y="3848100"/>
            <a:ext cx="9048750" cy="438150"/>
          </a:xfrm>
          <a:prstGeom prst="rect">
            <a:avLst/>
          </a:prstGeom>
          <a:solidFill>
            <a:srgbClr val="EDF2FA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aggregate_results  汇总结果、证据与动作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9" name="check_handoff"/>
          <p:cNvSpPr>
            <a:spLocks noGrp="1"/>
          </p:cNvSpPr>
          <p:nvPr/>
        </p:nvSpPr>
        <p:spPr>
          <a:xfrm>
            <a:off x="4238625" y="4533900"/>
            <a:ext cx="2095500" cy="571500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check_handoff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检查人工需求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0" name="handoff"/>
          <p:cNvSpPr>
            <a:spLocks noGrp="1"/>
          </p:cNvSpPr>
          <p:nvPr/>
        </p:nvSpPr>
        <p:spPr>
          <a:xfrm>
            <a:off x="9810750" y="4533900"/>
            <a:ext cx="1857375" cy="571500"/>
          </a:xfrm>
          <a:prstGeom prst="rect">
            <a:avLst/>
          </a:prstGeom>
          <a:solidFill>
            <a:srgbClr val="FFF6E7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handoff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展示转接等待文案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4" name="需要人工"/>
          <p:cNvSpPr>
            <a:spLocks noGrp="1"/>
          </p:cNvSpPr>
          <p:nvPr/>
        </p:nvSpPr>
        <p:spPr>
          <a:xfrm>
            <a:off x="7239000" y="4543425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需要人工</a:t>
            </a:r>
            <a:endParaRPr sz="1425" b="0">
              <a:solidFill>
                <a:srgbClr val="936421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5" name="generate_answer"/>
          <p:cNvSpPr>
            <a:spLocks noGrp="1"/>
          </p:cNvSpPr>
          <p:nvPr/>
        </p:nvSpPr>
        <p:spPr>
          <a:xfrm>
            <a:off x="4238625" y="5391150"/>
            <a:ext cx="2095500" cy="571500"/>
          </a:xfrm>
          <a:prstGeom prst="rect">
            <a:avLst/>
          </a:prstGeom>
          <a:solidFill>
            <a:srgbClr val="EDF2FA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generate_answer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生成或直接返回回复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7" name="否"/>
          <p:cNvSpPr>
            <a:spLocks noGrp="1"/>
          </p:cNvSpPr>
          <p:nvPr/>
        </p:nvSpPr>
        <p:spPr>
          <a:xfrm>
            <a:off x="5448300" y="5133975"/>
            <a:ext cx="228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3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3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3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3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3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3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3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3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3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3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3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否</a:t>
            </a:r>
            <a:endParaRPr sz="1350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>
            <a:off x="10734675" y="5105400"/>
            <a:ext cx="0" cy="123825"/>
          </a:xfrm>
          <a:prstGeom prst="straightConnector1">
            <a:avLst/>
          </a:prstGeom>
          <a:ln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39" name="直接箭头连接符 38"/>
          <p:cNvCxnSpPr/>
          <p:nvPr/>
        </p:nvCxnSpPr>
        <p:spPr>
          <a:xfrm flipH="1">
            <a:off x="5905500" y="5229225"/>
            <a:ext cx="4829175" cy="0"/>
          </a:xfrm>
          <a:prstGeom prst="straightConnector1">
            <a:avLst/>
          </a:prstGeom>
          <a:ln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40" name="直接箭头连接符 39"/>
          <p:cNvCxnSpPr/>
          <p:nvPr/>
        </p:nvCxnSpPr>
        <p:spPr>
          <a:xfrm>
            <a:off x="5905500" y="5229225"/>
            <a:ext cx="0" cy="161925"/>
          </a:xfrm>
          <a:prstGeom prst="straightConnector1">
            <a:avLst/>
          </a:prstGeom>
          <a:ln w="1524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41" name="validate_answer"/>
          <p:cNvSpPr>
            <a:spLocks noGrp="1"/>
          </p:cNvSpPr>
          <p:nvPr/>
        </p:nvSpPr>
        <p:spPr>
          <a:xfrm>
            <a:off x="7239000" y="5391150"/>
            <a:ext cx="2095500" cy="571500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validate_answer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非空与边界校验</a:t>
            </a:r>
            <a:endParaRPr sz="15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2" name="END"/>
          <p:cNvSpPr>
            <a:spLocks noGrp="1"/>
          </p:cNvSpPr>
          <p:nvPr/>
        </p:nvSpPr>
        <p:spPr>
          <a:xfrm>
            <a:off x="10429875" y="5391150"/>
            <a:ext cx="1238250" cy="571500"/>
          </a:xfrm>
          <a:prstGeom prst="rect">
            <a:avLst/>
          </a:prstGeom>
          <a:solidFill>
            <a:srgbClr val="FFFFFF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END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5" name="通过"/>
          <p:cNvSpPr>
            <a:spLocks noGrp="1"/>
          </p:cNvSpPr>
          <p:nvPr/>
        </p:nvSpPr>
        <p:spPr>
          <a:xfrm>
            <a:off x="9553575" y="53530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4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4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4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4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4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4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4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4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4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4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4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通过</a:t>
            </a:r>
            <a:endParaRPr sz="142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6" name="safe_fallback"/>
          <p:cNvSpPr>
            <a:spLocks noGrp="1"/>
          </p:cNvSpPr>
          <p:nvPr/>
        </p:nvSpPr>
        <p:spPr>
          <a:xfrm>
            <a:off x="7239000" y="6105525"/>
            <a:ext cx="2095500" cy="285750"/>
          </a:xfrm>
          <a:prstGeom prst="rect">
            <a:avLst/>
          </a:prstGeom>
          <a:solidFill>
            <a:srgbClr val="FFF6E7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4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4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4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4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4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4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4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4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4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4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4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4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safe_fallback</a:t>
            </a:r>
            <a:endParaRPr sz="14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9" name="失败"/>
          <p:cNvSpPr>
            <a:spLocks noGrp="1"/>
          </p:cNvSpPr>
          <p:nvPr/>
        </p:nvSpPr>
        <p:spPr>
          <a:xfrm>
            <a:off x="6477000" y="6086475"/>
            <a:ext cx="6477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42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失败</a:t>
            </a:r>
            <a:endParaRPr sz="1425" b="0">
              <a:solidFill>
                <a:srgbClr val="936421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50" name="需澄清直接生成追问"/>
          <p:cNvSpPr>
            <a:spLocks noGrp="1"/>
          </p:cNvSpPr>
          <p:nvPr/>
        </p:nvSpPr>
        <p:spPr>
          <a:xfrm>
            <a:off x="523875" y="4752975"/>
            <a:ext cx="3333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需澄清直接生成追问</a:t>
            </a:r>
            <a:endParaRPr sz="15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订单判为咨询时回到知识检索</a:t>
            </a:r>
            <a:endParaRPr sz="15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项目亮点"/>
          <p:cNvSpPr>
            <a:spLocks noGrp="1"/>
          </p:cNvSpPr>
          <p:nvPr/>
        </p:nvSpPr>
        <p:spPr>
          <a:xfrm>
            <a:off x="523875" y="33337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Markdown 父子分块与入库</a:t>
            </a:r>
            <a:endParaRPr sz="315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" name="围绕实际问答与办理过程，保持流程可追踪、证据有来源、写操作有确认"/>
          <p:cNvSpPr>
            <a:spLocks noGrp="1"/>
          </p:cNvSpPr>
          <p:nvPr/>
        </p:nvSpPr>
        <p:spPr>
          <a:xfrm>
            <a:off x="542925" y="94297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按主题保留完整上下文，在父块内部切分子块，分别保存正文与检索索引</a:t>
            </a:r>
            <a:endParaRPr sz="172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AI智能客服  /  万佳恒"/>
          <p:cNvSpPr>
            <a:spLocks noGrp="1"/>
          </p:cNvSpPr>
          <p:nvPr/>
        </p:nvSpPr>
        <p:spPr>
          <a:xfrm>
            <a:off x="523875" y="6496050"/>
            <a:ext cx="7143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AI智能客服  /  万佳恒</a:t>
            </a:r>
            <a:endParaRPr sz="12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" name="3 / 5"/>
          <p:cNvSpPr>
            <a:spLocks noGrp="1"/>
          </p:cNvSpPr>
          <p:nvPr/>
        </p:nvSpPr>
        <p:spPr>
          <a:xfrm>
            <a:off x="10763250" y="6496050"/>
            <a:ext cx="904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6 / 7</a:t>
            </a:r>
            <a:endParaRPr sz="127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5" name="01"/>
          <p:cNvSpPr>
            <a:spLocks noGrp="1"/>
          </p:cNvSpPr>
          <p:nvPr/>
        </p:nvSpPr>
        <p:spPr>
          <a:xfrm>
            <a:off x="523875" y="15240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01</a:t>
            </a:r>
            <a:endParaRPr sz="23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可控的单意图路由"/>
          <p:cNvSpPr>
            <a:spLocks noGrp="1"/>
          </p:cNvSpPr>
          <p:nvPr/>
        </p:nvSpPr>
        <p:spPr>
          <a:xfrm>
            <a:off x="1333500" y="152400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Markdown 划分父块</a:t>
            </a:r>
            <a:endParaRPr sz="202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明确寒暄与转人工走 Python 规则，其余由 LLM 分类"/>
          <p:cNvSpPr>
            <a:spLocks noGrp="1"/>
          </p:cNvSpPr>
          <p:nvPr/>
        </p:nvSpPr>
        <p:spPr>
          <a:xfrm>
            <a:off x="1333500" y="197167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按标题层级和完整主题划分父块，保留标题路径与来源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8" name="多轮上下文与 SSE 节点进度可追踪"/>
          <p:cNvSpPr>
            <a:spLocks noGrp="1"/>
          </p:cNvSpPr>
          <p:nvPr/>
        </p:nvSpPr>
        <p:spPr>
          <a:xfrm>
            <a:off x="6096000" y="1524000"/>
            <a:ext cx="5476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父块保留完整业务语境</a:t>
            </a:r>
            <a:endParaRPr sz="172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1333500" y="2457450"/>
            <a:ext cx="10334625" cy="0"/>
          </a:xfrm>
          <a:prstGeom prst="straightConnector1">
            <a:avLst/>
          </a:prstGeom>
          <a:ln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0" name="02"/>
          <p:cNvSpPr>
            <a:spLocks noGrp="1"/>
          </p:cNvSpPr>
          <p:nvPr/>
        </p:nvSpPr>
        <p:spPr>
          <a:xfrm>
            <a:off x="523875" y="26289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02</a:t>
            </a:r>
            <a:endParaRPr sz="23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1" name="分层检索与独立精排"/>
          <p:cNvSpPr>
            <a:spLocks noGrp="1"/>
          </p:cNvSpPr>
          <p:nvPr/>
        </p:nvSpPr>
        <p:spPr>
          <a:xfrm>
            <a:off x="1333500" y="262890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父块内部切分子块</a:t>
            </a:r>
            <a:endParaRPr sz="202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FAQ 优先，未明确命中再走原查询 + HyDE 混合检索"/>
          <p:cNvSpPr>
            <a:spLocks noGrp="1"/>
          </p:cNvSpPr>
          <p:nvPr/>
        </p:nvSpPr>
        <p:spPr>
          <a:xfrm>
            <a:off x="1333500" y="307657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优先沿段落和句子切分，以长度上限控制子块大小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3" name="双向量召回后，按证据相关性独立精排"/>
          <p:cNvSpPr>
            <a:spLocks noGrp="1"/>
          </p:cNvSpPr>
          <p:nvPr/>
        </p:nvSpPr>
        <p:spPr>
          <a:xfrm>
            <a:off x="6096000" y="2628900"/>
            <a:ext cx="5476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每个子块关联唯一父块 ID</a:t>
            </a:r>
            <a:endParaRPr sz="172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1333500" y="3562350"/>
            <a:ext cx="10334625" cy="0"/>
          </a:xfrm>
          <a:prstGeom prst="straightConnector1">
            <a:avLst/>
          </a:prstGeom>
          <a:ln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5" name="03"/>
          <p:cNvSpPr>
            <a:spLocks noGrp="1"/>
          </p:cNvSpPr>
          <p:nvPr/>
        </p:nvSpPr>
        <p:spPr>
          <a:xfrm>
            <a:off x="523875" y="37338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03</a:t>
            </a:r>
            <a:endParaRPr sz="23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6" name="参数关系查询有确定结果"/>
          <p:cNvSpPr>
            <a:spLocks noGrp="1"/>
          </p:cNvSpPr>
          <p:nvPr/>
        </p:nvSpPr>
        <p:spPr>
          <a:xfrm>
            <a:off x="1333500" y="373380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父块正文存 PostgreSQL</a:t>
            </a:r>
            <a:endParaRPr sz="202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7" name="Neo4j 支持型号比较、共同参数与多条件筛选"/>
          <p:cNvSpPr>
            <a:spLocks noGrp="1"/>
          </p:cNvSpPr>
          <p:nvPr/>
        </p:nvSpPr>
        <p:spPr>
          <a:xfrm>
            <a:off x="1333500" y="418147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保存父块正文、父块 ID、文档 ID、版本及适用范围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8" name="固定 Cypher 查询，程序计算差值与筛选结果"/>
          <p:cNvSpPr>
            <a:spLocks noGrp="1"/>
          </p:cNvSpPr>
          <p:nvPr/>
        </p:nvSpPr>
        <p:spPr>
          <a:xfrm>
            <a:off x="6096000" y="3733800"/>
            <a:ext cx="5476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按父块 ID 与版本批量回查</a:t>
            </a:r>
            <a:endParaRPr sz="172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333500" y="4667250"/>
            <a:ext cx="10334625" cy="0"/>
          </a:xfrm>
          <a:prstGeom prst="straightConnector1">
            <a:avLst/>
          </a:prstGeom>
          <a:ln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20" name="04"/>
          <p:cNvSpPr>
            <a:spLocks noGrp="1"/>
          </p:cNvSpPr>
          <p:nvPr/>
        </p:nvSpPr>
        <p:spPr>
          <a:xfrm>
            <a:off x="523875" y="48387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04</a:t>
            </a:r>
            <a:endParaRPr sz="23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1" name="售后确认与重复提交保护"/>
          <p:cNvSpPr>
            <a:spLocks noGrp="1"/>
          </p:cNvSpPr>
          <p:nvPr/>
        </p:nvSpPr>
        <p:spPr>
          <a:xfrm>
            <a:off x="1333500" y="483870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子块索引存 Milvus</a:t>
            </a:r>
            <a:endParaRPr sz="202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2" name="核对本人订单、商品和动作，明确确认后再创建申请"/>
          <p:cNvSpPr>
            <a:spLocks noGrp="1"/>
          </p:cNvSpPr>
          <p:nvPr/>
        </p:nvSpPr>
        <p:spPr>
          <a:xfrm>
            <a:off x="1333500" y="528637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保存子块向量与正文、父块 ID、版本，以及品牌、型号等过滤字段</a:t>
            </a:r>
            <a:endParaRPr sz="18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3" name="参数改变重新确认，同一申请不重复创建"/>
          <p:cNvSpPr>
            <a:spLocks noGrp="1"/>
          </p:cNvSpPr>
          <p:nvPr/>
        </p:nvSpPr>
        <p:spPr>
          <a:xfrm>
            <a:off x="6096000" y="4838700"/>
            <a:ext cx="54768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BGE-M3 生成 Dense + Sparse 向量</a:t>
            </a:r>
            <a:endParaRPr sz="172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1333500" y="5772150"/>
            <a:ext cx="10334625" cy="0"/>
          </a:xfrm>
          <a:prstGeom prst="straightConnector1">
            <a:avLst/>
          </a:prstGeom>
          <a:ln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25" name="知识来自同一份 Markdown 正文，内部保留来源与版本；未找到依据时明确说明无法核实"/>
          <p:cNvSpPr>
            <a:spLocks noGrp="1"/>
          </p:cNvSpPr>
          <p:nvPr/>
        </p:nvSpPr>
        <p:spPr>
          <a:xfrm>
            <a:off x="542925" y="6076950"/>
            <a:ext cx="11096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检索时先命中子块，再按父块 ID 与版本回查 PostgreSQL，补齐上下文</a:t>
            </a:r>
            <a:endParaRPr sz="1650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4" name="直接箭头连接符 33"/>
          <p:cNvCxnSpPr>
            <a:stCxn id="30" idx="1"/>
            <a:endCxn id="31" idx="3"/>
          </p:cNvCxnSpPr>
          <p:nvPr/>
        </p:nvCxnSpPr>
        <p:spPr>
          <a:xfrm flipH="1">
            <a:off x="5572125" y="5638800"/>
            <a:ext cx="523875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3" name="直接箭头连接符 32"/>
          <p:cNvCxnSpPr>
            <a:stCxn id="29" idx="1"/>
            <a:endCxn id="30" idx="3"/>
          </p:cNvCxnSpPr>
          <p:nvPr/>
        </p:nvCxnSpPr>
        <p:spPr>
          <a:xfrm flipH="1">
            <a:off x="8429625" y="5638800"/>
            <a:ext cx="523875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2" name="直接箭头连接符 31"/>
          <p:cNvCxnSpPr>
            <a:stCxn id="21" idx="2"/>
            <a:endCxn id="29" idx="0"/>
          </p:cNvCxnSpPr>
          <p:nvPr/>
        </p:nvCxnSpPr>
        <p:spPr>
          <a:xfrm>
            <a:off x="10310813" y="4705350"/>
            <a:ext cx="0" cy="542925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4" name="直接箭头连接符 23"/>
          <p:cNvCxnSpPr>
            <a:stCxn id="20" idx="3"/>
            <a:endCxn id="21" idx="1"/>
          </p:cNvCxnSpPr>
          <p:nvPr/>
        </p:nvCxnSpPr>
        <p:spPr>
          <a:xfrm>
            <a:off x="8429625" y="4300538"/>
            <a:ext cx="523875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3" name="直接箭头连接符 22"/>
          <p:cNvCxnSpPr>
            <a:stCxn id="19" idx="3"/>
            <a:endCxn id="20" idx="1"/>
          </p:cNvCxnSpPr>
          <p:nvPr/>
        </p:nvCxnSpPr>
        <p:spPr>
          <a:xfrm>
            <a:off x="5572125" y="4300538"/>
            <a:ext cx="523875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2" name="直接箭头连接符 21"/>
          <p:cNvCxnSpPr>
            <a:stCxn id="18" idx="3"/>
            <a:endCxn id="19" idx="1"/>
          </p:cNvCxnSpPr>
          <p:nvPr/>
        </p:nvCxnSpPr>
        <p:spPr>
          <a:xfrm>
            <a:off x="2857500" y="4300538"/>
            <a:ext cx="523875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1" name="直接箭头连接符 10"/>
          <p:cNvCxnSpPr>
            <a:stCxn id="7" idx="3"/>
            <a:endCxn id="8" idx="1"/>
          </p:cNvCxnSpPr>
          <p:nvPr/>
        </p:nvCxnSpPr>
        <p:spPr>
          <a:xfrm>
            <a:off x="9096375" y="2166938"/>
            <a:ext cx="523875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0" name="直接箭头连接符 9"/>
          <p:cNvCxnSpPr>
            <a:stCxn id="6" idx="3"/>
            <a:endCxn id="7" idx="1"/>
          </p:cNvCxnSpPr>
          <p:nvPr/>
        </p:nvCxnSpPr>
        <p:spPr>
          <a:xfrm>
            <a:off x="6238875" y="2166938"/>
            <a:ext cx="523875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9" name="直接箭头连接符 8"/>
          <p:cNvCxnSpPr>
            <a:stCxn id="5" idx="3"/>
            <a:endCxn id="6" idx="1"/>
          </p:cNvCxnSpPr>
          <p:nvPr/>
        </p:nvCxnSpPr>
        <p:spPr>
          <a:xfrm>
            <a:off x="2857500" y="2166938"/>
            <a:ext cx="523875" cy="0"/>
          </a:xfrm>
          <a:prstGeom prst="straightConnector1">
            <a:avLst/>
          </a:prstGeom>
          <a:ln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37" name="RAG 检索流程"/>
          <p:cNvSpPr>
            <a:spLocks noGrp="1"/>
          </p:cNvSpPr>
          <p:nvPr/>
        </p:nvSpPr>
        <p:spPr>
          <a:xfrm>
            <a:off x="523875" y="33337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RAG 检索流程</a:t>
            </a:r>
            <a:endParaRPr sz="315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" name="固定顺序查询，返回真实证据；FAQ 与图谱命中时跳过文档生成"/>
          <p:cNvSpPr>
            <a:spLocks noGrp="1"/>
          </p:cNvSpPr>
          <p:nvPr/>
        </p:nvSpPr>
        <p:spPr>
          <a:xfrm>
            <a:off x="542925" y="94297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固定顺序查询，返回真实证据；FAQ 与图谱命中时跳过文档生成</a:t>
            </a:r>
            <a:endParaRPr sz="172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AI智能客服  /  万佳恒"/>
          <p:cNvSpPr>
            <a:spLocks noGrp="1"/>
          </p:cNvSpPr>
          <p:nvPr/>
        </p:nvSpPr>
        <p:spPr>
          <a:xfrm>
            <a:off x="523875" y="6496050"/>
            <a:ext cx="7143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AI智能客服  /  万佳恒</a:t>
            </a:r>
            <a:endParaRPr sz="12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" name="6 / 6"/>
          <p:cNvSpPr>
            <a:spLocks noGrp="1"/>
          </p:cNvSpPr>
          <p:nvPr/>
        </p:nvSpPr>
        <p:spPr>
          <a:xfrm>
            <a:off x="10763250" y="6496050"/>
            <a:ext cx="904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r"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7 / 7</a:t>
            </a:r>
            <a:endParaRPr sz="127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5" name="问题重写"/>
          <p:cNvSpPr>
            <a:spLocks noGrp="1"/>
          </p:cNvSpPr>
          <p:nvPr/>
        </p:nvSpPr>
        <p:spPr>
          <a:xfrm>
            <a:off x="523875" y="1762125"/>
            <a:ext cx="2333625" cy="809625"/>
          </a:xfrm>
          <a:prstGeom prst="rect">
            <a:avLst/>
          </a:prstGeom>
          <a:solidFill>
            <a:srgbClr val="EDF2FA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问题重写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补全上下文与条件</a:t>
            </a:r>
            <a:endParaRPr sz="17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参数关系查询（可选）"/>
          <p:cNvSpPr>
            <a:spLocks noGrp="1"/>
          </p:cNvSpPr>
          <p:nvPr/>
        </p:nvSpPr>
        <p:spPr>
          <a:xfrm>
            <a:off x="3381375" y="1762125"/>
            <a:ext cx="2857500" cy="809625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参数关系查询（可选）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Neo4j 固定 Cypher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FAQ 问法召回"/>
          <p:cNvSpPr>
            <a:spLocks noGrp="1"/>
          </p:cNvSpPr>
          <p:nvPr/>
        </p:nvSpPr>
        <p:spPr>
          <a:xfrm>
            <a:off x="6762750" y="1762125"/>
            <a:ext cx="2333625" cy="809625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FAQ 问法召回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相关性校验与去重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8" name="直接返回"/>
          <p:cNvSpPr>
            <a:spLocks noGrp="1"/>
          </p:cNvSpPr>
          <p:nvPr/>
        </p:nvSpPr>
        <p:spPr>
          <a:xfrm>
            <a:off x="9620250" y="1762125"/>
            <a:ext cx="2047875" cy="809625"/>
          </a:xfrm>
          <a:prstGeom prst="rect">
            <a:avLst/>
          </a:prstGeom>
          <a:solidFill>
            <a:srgbClr val="EDF2FA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直接返回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图谱表格／FAQ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普通问题直接查 FAQ"/>
          <p:cNvSpPr>
            <a:spLocks noGrp="1"/>
          </p:cNvSpPr>
          <p:nvPr/>
        </p:nvSpPr>
        <p:spPr>
          <a:xfrm>
            <a:off x="523875" y="2714625"/>
            <a:ext cx="6477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普通问题直接查 FAQ</a:t>
            </a:r>
            <a:endParaRPr sz="172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l"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图谱未覆盖、版本过期或异常时回到 FAQ</a:t>
            </a:r>
            <a:endParaRPr sz="172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4810125" y="1457325"/>
            <a:ext cx="0" cy="304800"/>
          </a:xfrm>
          <a:prstGeom prst="straightConnector1">
            <a:avLst/>
          </a:prstGeom>
          <a:ln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14" name="直接箭头连接符 13"/>
          <p:cNvCxnSpPr/>
          <p:nvPr/>
        </p:nvCxnSpPr>
        <p:spPr>
          <a:xfrm>
            <a:off x="4810125" y="1457325"/>
            <a:ext cx="5829300" cy="0"/>
          </a:xfrm>
          <a:prstGeom prst="straightConnector1">
            <a:avLst/>
          </a:prstGeom>
          <a:ln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15" name="直接箭头连接符 14"/>
          <p:cNvCxnSpPr/>
          <p:nvPr/>
        </p:nvCxnSpPr>
        <p:spPr>
          <a:xfrm>
            <a:off x="10639425" y="1457325"/>
            <a:ext cx="0" cy="304800"/>
          </a:xfrm>
          <a:prstGeom prst="straightConnector1">
            <a:avLst/>
          </a:prstGeom>
          <a:ln w="1524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16" name="图谱命中"/>
          <p:cNvSpPr>
            <a:spLocks noGrp="1"/>
          </p:cNvSpPr>
          <p:nvPr/>
        </p:nvSpPr>
        <p:spPr>
          <a:xfrm>
            <a:off x="6924675" y="1123950"/>
            <a:ext cx="1905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图谱命中</a:t>
            </a:r>
            <a:endParaRPr sz="1500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7" name="明确命中"/>
          <p:cNvSpPr>
            <a:spLocks noGrp="1"/>
          </p:cNvSpPr>
          <p:nvPr/>
        </p:nvSpPr>
        <p:spPr>
          <a:xfrm>
            <a:off x="9267825" y="2638425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00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明确命中</a:t>
            </a:r>
            <a:endParaRPr sz="1500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8" name="原查询混合检索"/>
          <p:cNvSpPr>
            <a:spLocks noGrp="1"/>
          </p:cNvSpPr>
          <p:nvPr/>
        </p:nvSpPr>
        <p:spPr>
          <a:xfrm>
            <a:off x="523875" y="3895725"/>
            <a:ext cx="2333625" cy="809625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原查询混合检索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BGE-M3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Dense + Sparse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9" name="HyDE 生成"/>
          <p:cNvSpPr>
            <a:spLocks noGrp="1"/>
          </p:cNvSpPr>
          <p:nvPr/>
        </p:nvSpPr>
        <p:spPr>
          <a:xfrm>
            <a:off x="3381375" y="3895725"/>
            <a:ext cx="2190750" cy="809625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HyDE 生成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假设文本仅用于检索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0" name="HyDE 混合检索"/>
          <p:cNvSpPr>
            <a:spLocks noGrp="1"/>
          </p:cNvSpPr>
          <p:nvPr/>
        </p:nvSpPr>
        <p:spPr>
          <a:xfrm>
            <a:off x="6096000" y="3895725"/>
            <a:ext cx="2333625" cy="809625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HyDE 混合检索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BGE-M3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Dense + Sparse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1" name="RRF 融合去重"/>
          <p:cNvSpPr>
            <a:spLocks noGrp="1"/>
          </p:cNvSpPr>
          <p:nvPr/>
        </p:nvSpPr>
        <p:spPr>
          <a:xfrm>
            <a:off x="8953500" y="3895725"/>
            <a:ext cx="2714625" cy="809625"/>
          </a:xfrm>
          <a:prstGeom prst="rect">
            <a:avLst/>
          </a:prstGeom>
          <a:solidFill>
            <a:srgbClr val="EDF2FA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RRF 融合去重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合并两次真实文档召回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7924800" y="2571750"/>
            <a:ext cx="0" cy="866775"/>
          </a:xfrm>
          <a:prstGeom prst="straightConnector1">
            <a:avLst/>
          </a:prstGeom>
          <a:ln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26" name="直接箭头连接符 25"/>
          <p:cNvCxnSpPr/>
          <p:nvPr/>
        </p:nvCxnSpPr>
        <p:spPr>
          <a:xfrm flipH="1">
            <a:off x="1685925" y="3438525"/>
            <a:ext cx="6238875" cy="0"/>
          </a:xfrm>
          <a:prstGeom prst="straightConnector1">
            <a:avLst/>
          </a:prstGeom>
          <a:ln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27" name="直接箭头连接符 26"/>
          <p:cNvCxnSpPr/>
          <p:nvPr/>
        </p:nvCxnSpPr>
        <p:spPr>
          <a:xfrm>
            <a:off x="1685925" y="3438525"/>
            <a:ext cx="0" cy="457200"/>
          </a:xfrm>
          <a:prstGeom prst="straightConnector1">
            <a:avLst/>
          </a:prstGeom>
          <a:ln w="1524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28" name="FAQ 未明确命中"/>
          <p:cNvSpPr>
            <a:spLocks noGrp="1"/>
          </p:cNvSpPr>
          <p:nvPr/>
        </p:nvSpPr>
        <p:spPr>
          <a:xfrm>
            <a:off x="3714750" y="3209925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5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5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5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5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5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5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5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5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5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5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FAQ 未明确命中</a:t>
            </a:r>
            <a:endParaRPr sz="157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9" name="独立 Reranker 精排"/>
          <p:cNvSpPr>
            <a:spLocks noGrp="1"/>
          </p:cNvSpPr>
          <p:nvPr/>
        </p:nvSpPr>
        <p:spPr>
          <a:xfrm>
            <a:off x="8953500" y="5248275"/>
            <a:ext cx="2714625" cy="781050"/>
          </a:xfrm>
          <a:prstGeom prst="rect">
            <a:avLst/>
          </a:prstGeom>
          <a:solidFill>
            <a:srgbClr val="EDF2FA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独立 Reranker 精排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最多 5 条、正文 8000 字符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0" name="整理真实证据"/>
          <p:cNvSpPr>
            <a:spLocks noGrp="1"/>
          </p:cNvSpPr>
          <p:nvPr/>
        </p:nvSpPr>
        <p:spPr>
          <a:xfrm>
            <a:off x="6096000" y="5248275"/>
            <a:ext cx="2333625" cy="781050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整理真实证据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保留来源与版本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1" name="主图统一回复"/>
          <p:cNvSpPr>
            <a:spLocks noGrp="1"/>
          </p:cNvSpPr>
          <p:nvPr/>
        </p:nvSpPr>
        <p:spPr>
          <a:xfrm>
            <a:off x="3381375" y="5248275"/>
            <a:ext cx="2190750" cy="781050"/>
          </a:xfrm>
          <a:prstGeom prst="rect">
            <a:avLst/>
          </a:prstGeom>
          <a:solidFill>
            <a:srgbClr val="E9F3F5"/>
          </a:solidFill>
          <a:ln w="11430">
            <a:solidFill>
              <a:srgbClr val="B6C8D6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>
            <a:def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主图统一回复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 algn="ctr">
              <a:def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依据真实证据生成</a:t>
            </a:r>
            <a:endParaRPr sz="165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5" name="原查询 / HyDE 权重 1.0 / 0.7，RRF k=60"/>
          <p:cNvSpPr>
            <a:spLocks noGrp="1"/>
          </p:cNvSpPr>
          <p:nvPr/>
        </p:nvSpPr>
        <p:spPr>
          <a:xfrm>
            <a:off x="523875" y="6143625"/>
            <a:ext cx="7000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原查询 / HyDE 权重 1.0 / 0.7，RRF k=60</a:t>
            </a:r>
            <a:endParaRPr sz="15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6" name="缺条件先澄清，缺证据说明无法核实"/>
          <p:cNvSpPr>
            <a:spLocks noGrp="1"/>
          </p:cNvSpPr>
          <p:nvPr/>
        </p:nvSpPr>
        <p:spPr>
          <a:xfrm>
            <a:off x="7667625" y="614362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 algn="l">
              <a:defRPr sz="157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 algn="l">
              <a:defRPr sz="157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 algn="l">
              <a:defRPr sz="157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 algn="l">
              <a:defRPr sz="157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 algn="l">
              <a:defRPr sz="157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 algn="l">
              <a:defRPr sz="157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 algn="l">
              <a:defRPr sz="157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 algn="l">
              <a:defRPr sz="157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 algn="l">
              <a:defRPr sz="157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 algn="l">
              <a:defRPr sz="157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936421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缺条件先澄清，缺证据说明无法核实</a:t>
            </a:r>
            <a:endParaRPr sz="1575" b="0">
              <a:solidFill>
                <a:srgbClr val="936421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523875" y="33337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31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抽槽与跨轮补参</a:t>
            </a:r>
            <a:endParaRPr sz="315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42925" y="94297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LLM 提取本轮条件，Python 保留有效槽位，缺少信息时继续追问</a:t>
            </a:r>
            <a:endParaRPr sz="172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42925" y="161925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01</a:t>
            </a:r>
            <a:endParaRPr sz="23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52550" y="1619250"/>
            <a:ext cx="2714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抽取参数</a:t>
            </a:r>
            <a:endParaRPr sz="210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95750" y="1619250"/>
            <a:ext cx="7524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LLM 输出 JSON，Pydantic 校验字段结构</a:t>
            </a:r>
            <a:endParaRPr sz="18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42925" y="257175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02</a:t>
            </a:r>
            <a:endParaRPr sz="23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52550" y="2571750"/>
            <a:ext cx="2714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合并与追问</a:t>
            </a:r>
            <a:endParaRPr sz="210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095750" y="2571750"/>
            <a:ext cx="7524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沿用已知条件，补充或纠正新值，缺参继续问</a:t>
            </a:r>
            <a:endParaRPr sz="18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42925" y="3524250"/>
            <a:ext cx="61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3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03</a:t>
            </a:r>
            <a:endParaRPr sz="23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52550" y="3524250"/>
            <a:ext cx="2714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核实与确认</a:t>
            </a:r>
            <a:endParaRPr sz="210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095750" y="3524250"/>
            <a:ext cx="7524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订单归属由数据库核实，售后明确确认后提交</a:t>
            </a:r>
            <a:endParaRPr sz="18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42925" y="466725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咨询示例</a:t>
            </a:r>
            <a:endParaRPr sz="20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42925" y="5143500"/>
            <a:ext cx="11096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“我想了解小米15”  →  记录型号，追问咨询方面</a:t>
            </a:r>
            <a:endParaRPr sz="18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42925" y="5572125"/>
            <a:ext cx="11096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“屏幕参数”  →  继承型号，检索“小米15的屏幕参数”</a:t>
            </a:r>
            <a:endParaRPr sz="187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42925" y="6076950"/>
            <a:ext cx="11096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650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咨询与售后支持跨轮补参，订单查询仅提取本轮条件</a:t>
            </a:r>
            <a:endParaRPr sz="1650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3875" y="6496050"/>
            <a:ext cx="7143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536A79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AI智能客服  /  万佳恒</a:t>
            </a:r>
            <a:endParaRPr sz="1275" b="0">
              <a:solidFill>
                <a:srgbClr val="536A79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763250" y="6496050"/>
            <a:ext cx="904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  <a:lvl1pPr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1pPr>
            <a:lvl2pPr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2pPr>
            <a:lvl3pPr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3pPr>
            <a:lvl4pPr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4pPr>
            <a:lvl5pPr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5pPr>
            <a:lvl6pPr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6pPr>
            <a:lvl7pPr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7pPr>
            <a:lvl8pPr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8pPr>
            <a:lvl9pPr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lvl9pPr>
          </a:lstStyle>
          <a:p>
            <a:pPr>
              <a:def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27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5 / 7</a:t>
            </a:r>
            <a:endParaRPr sz="127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ags/tag2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ags/tag3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ags/tag4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ags/tag5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ags/tag6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ags/tag7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ags/tag8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ags/tag9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ags/tag10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ags/tag11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ags/tag12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ags/tag13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ags/tag14.xml><?xml version="1.0" encoding="utf-8"?>
<p:tagLst xmlns:p="http://schemas.openxmlformats.org/presentationml/2006/main">
  <p:tag name="KSO_WM_DIAGRAM_VIRTUALLY_FRAME" val="{&quot;height&quot;:256.5,&quot;left&quot;:42.75,&quot;top&quot;:127.5,&quot;width&quot;:876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2183</Words>
  <Application>WPS 演示</Application>
  <PresentationFormat>Converted Presentation</PresentationFormat>
  <Paragraphs>318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Heiti TC</vt:lpstr>
      <vt:lpstr>微软雅黑</vt:lpstr>
      <vt:lpstr>方正雅意黑 GB18030L2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</cp:lastModifiedBy>
  <cp:revision>1</cp:revision>
  <dcterms:created xsi:type="dcterms:W3CDTF">2026-10-22T14:02:14Z</dcterms:created>
  <dcterms:modified xsi:type="dcterms:W3CDTF">2026-10-22T14:02:14Z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B5A70F60D4AE6FBB6617DA6A49D58726_42</vt:lpwstr>
  </property>
</Properties>
</file>