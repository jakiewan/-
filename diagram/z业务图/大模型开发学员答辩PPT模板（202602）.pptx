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  <p:embeddedFontLst>
    <p:embeddedFont>
      <p:font typeface="微软雅黑" panose="020B0503020204020204" charset="-122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32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402561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32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402561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2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68680" y="1257300"/>
            <a:ext cx="6035040" cy="339471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77240" y="4840605"/>
            <a:ext cx="6217920" cy="396049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402561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6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5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5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4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2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2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466560"/>
            <a:ext cx="1097208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685880"/>
            <a:ext cx="10972080" cy="36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  <a:lvl6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6pPr>
            <a:lvl7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2" Type="http://schemas.openxmlformats.org/officeDocument/2006/relationships/slideLayout" Target="../slideLayouts/slideLayout8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3" Type="http://schemas.openxmlformats.org/officeDocument/2006/relationships/slideLayout" Target="../slideLayouts/slideLayout11.xml"/><Relationship Id="rId12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0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5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png"/><Relationship Id="rId7" Type="http://schemas.openxmlformats.org/officeDocument/2006/relationships/image" Target="../media/image69.png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63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文本框 22"/>
          <p:cNvSpPr txBox="1"/>
          <p:nvPr/>
        </p:nvSpPr>
        <p:spPr>
          <a:xfrm>
            <a:off x="4525560" y="2615040"/>
            <a:ext cx="3144520" cy="796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5180" b="1" i="0" u="none" strike="noStrike">
                <a:solidFill>
                  <a:srgbClr val="061D5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[项目名称]</a:t>
            </a:r>
            <a:endParaRPr lang="en-US" sz="5180" b="1" i="0" u="none" strike="noStrike">
              <a:solidFill>
                <a:srgbClr val="061D59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27600" y="3566160"/>
            <a:ext cx="8056564" cy="52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530" b="0" i="0" u="none" strike="noStrike">
                <a:solidFill>
                  <a:srgbClr val="3F485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基于多智能体协作的[业务场景]解决方案</a:t>
            </a:r>
            <a:endParaRPr lang="zh-CN" sz="3530" b="0" i="0" u="none" strike="noStrike">
              <a:solidFill>
                <a:srgbClr val="3F4857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28080" y="5519880"/>
            <a:ext cx="5358130" cy="242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答辩人：[你的名字]</a:t>
            </a:r>
            <a:r>
              <a:rPr lang="en-US" alt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en-US" alt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指导老师：[老师姓名]</a:t>
            </a:r>
            <a:r>
              <a:rPr lang="en-US" alt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en-US" alt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80" b="0" i="0" u="none" strike="noStrike">
                <a:solidFill>
                  <a:srgbClr val="1D1C1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2026年X月X日</a:t>
            </a:r>
            <a:endParaRPr lang="zh-CN" sz="1580" b="0" i="0" u="none" strike="noStrike">
              <a:solidFill>
                <a:srgbClr val="1D1C1E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图片 44"/>
          <p:cNvPicPr/>
          <p:nvPr/>
        </p:nvPicPr>
        <p:blipFill>
          <a:blip r:embed="rId2"/>
          <a:stretch>
            <a:fillRect/>
          </a:stretch>
        </p:blipFill>
        <p:spPr>
          <a:xfrm>
            <a:off x="10039320" y="419040"/>
            <a:ext cx="1304640" cy="124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图片 45"/>
          <p:cNvPicPr/>
          <p:nvPr/>
        </p:nvPicPr>
        <p:blipFill>
          <a:blip r:embed="rId3"/>
          <a:stretch>
            <a:fillRect/>
          </a:stretch>
        </p:blipFill>
        <p:spPr>
          <a:xfrm>
            <a:off x="2838600" y="4572000"/>
            <a:ext cx="723600" cy="34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图片 46"/>
          <p:cNvPicPr/>
          <p:nvPr/>
        </p:nvPicPr>
        <p:blipFill>
          <a:blip r:embed="rId4"/>
          <a:stretch>
            <a:fillRect/>
          </a:stretch>
        </p:blipFill>
        <p:spPr>
          <a:xfrm>
            <a:off x="1590840" y="5324400"/>
            <a:ext cx="533160" cy="67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图片 47"/>
          <p:cNvPicPr/>
          <p:nvPr/>
        </p:nvPicPr>
        <p:blipFill>
          <a:blip r:embed="rId5"/>
          <a:stretch>
            <a:fillRect/>
          </a:stretch>
        </p:blipFill>
        <p:spPr>
          <a:xfrm>
            <a:off x="8877240" y="723960"/>
            <a:ext cx="704520" cy="33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图片 48"/>
          <p:cNvPicPr/>
          <p:nvPr/>
        </p:nvPicPr>
        <p:blipFill>
          <a:blip r:embed="rId6"/>
          <a:stretch>
            <a:fillRect/>
          </a:stretch>
        </p:blipFill>
        <p:spPr>
          <a:xfrm>
            <a:off x="4048200" y="4962600"/>
            <a:ext cx="45684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图片 49"/>
          <p:cNvPicPr/>
          <p:nvPr/>
        </p:nvPicPr>
        <p:blipFill>
          <a:blip r:embed="rId7"/>
          <a:stretch>
            <a:fillRect/>
          </a:stretch>
        </p:blipFill>
        <p:spPr>
          <a:xfrm>
            <a:off x="3819600" y="876240"/>
            <a:ext cx="418680" cy="47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图片 50"/>
          <p:cNvPicPr/>
          <p:nvPr/>
        </p:nvPicPr>
        <p:blipFill>
          <a:blip r:embed="rId8"/>
          <a:stretch>
            <a:fillRect/>
          </a:stretch>
        </p:blipFill>
        <p:spPr>
          <a:xfrm>
            <a:off x="10105920" y="4933800"/>
            <a:ext cx="45684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图片 51"/>
          <p:cNvPicPr/>
          <p:nvPr/>
        </p:nvPicPr>
        <p:blipFill>
          <a:blip r:embed="rId9"/>
          <a:stretch>
            <a:fillRect/>
          </a:stretch>
        </p:blipFill>
        <p:spPr>
          <a:xfrm>
            <a:off x="7286760" y="4933800"/>
            <a:ext cx="46620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图片 52"/>
          <p:cNvPicPr/>
          <p:nvPr/>
        </p:nvPicPr>
        <p:blipFill>
          <a:blip r:embed="rId10"/>
          <a:stretch>
            <a:fillRect/>
          </a:stretch>
        </p:blipFill>
        <p:spPr>
          <a:xfrm>
            <a:off x="8248680" y="5191200"/>
            <a:ext cx="139968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图片 53"/>
          <p:cNvPicPr/>
          <p:nvPr/>
        </p:nvPicPr>
        <p:blipFill>
          <a:blip r:embed="rId11"/>
          <a:stretch>
            <a:fillRect/>
          </a:stretch>
        </p:blipFill>
        <p:spPr>
          <a:xfrm>
            <a:off x="5010120" y="5181480"/>
            <a:ext cx="1837800" cy="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文本框 54"/>
          <p:cNvSpPr txBox="1"/>
          <p:nvPr/>
        </p:nvSpPr>
        <p:spPr>
          <a:xfrm>
            <a:off x="460800" y="309240"/>
            <a:ext cx="3526726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550" b="1" i="0" u="none" strike="noStrike">
                <a:solidFill>
                  <a:srgbClr val="0811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为什么需要这个项目?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61520" y="1354680"/>
            <a:ext cx="1426057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1" i="0" u="none" strike="noStrike"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行业背景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81720" y="1354680"/>
            <a:ext cx="1426057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1" i="0" u="none" strike="noStrike"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核心问题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56000" y="2234520"/>
            <a:ext cx="4751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91D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市场规模：[所属行业]市场达XX亿元,年增长率</a:t>
            </a:r>
            <a:r>
              <a:rPr lang="en-US" altLang="zh-CN" sz="1650" b="0" i="0" u="none" strike="noStrike">
                <a:solidFill>
                  <a:srgbClr val="191D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50" b="0" i="0" u="none" strike="noStrike">
                <a:solidFill>
                  <a:srgbClr val="191D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676200" y="2234520"/>
            <a:ext cx="491998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问题一：效率低下,人工处理速度慢,无法应对实时需求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56000" y="2815560"/>
            <a:ext cx="41548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91D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传统痛点：人工处理效率低,平均耗时</a:t>
            </a:r>
            <a:r>
              <a:rPr lang="en-US" altLang="zh-CN" sz="1650" b="0" i="0" u="none" strike="noStrike">
                <a:solidFill>
                  <a:srgbClr val="191D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50" b="0" i="0" u="none" strike="noStrike">
                <a:solidFill>
                  <a:srgbClr val="191D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XX小时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676200" y="2815560"/>
            <a:ext cx="471043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D20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问题二：质量不稳定,依赖人工经验,准确性难以保证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6720" y="3386160"/>
            <a:ext cx="4699635" cy="242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91D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数据支撑：传统方式准确率仅XX%,无法满足实时需求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676920" y="3386160"/>
            <a:ext cx="3457575" cy="242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D20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问题三：成本高昂,人力成本高,ROI较低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60800" y="4736160"/>
            <a:ext cx="1426057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1" i="0" u="none" strike="noStrike"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解决思路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3247920" y="5653080"/>
            <a:ext cx="22072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1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采用多智能体协作技术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676920" y="5653080"/>
            <a:ext cx="1619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C1F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智能体分工协作,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9725040" y="5657760"/>
            <a:ext cx="12092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B1F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AI辅助决策,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3335040" y="5948640"/>
            <a:ext cx="1986534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1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实现业务流程自动化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676200" y="5948640"/>
            <a:ext cx="1765808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C1F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大幅提升工作效率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9430920" y="5947920"/>
            <a:ext cx="188595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E21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保障准确性和一致性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图片 1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图片 11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01320" y="1200240"/>
            <a:ext cx="30456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文本框 113"/>
          <p:cNvSpPr txBox="1"/>
          <p:nvPr/>
        </p:nvSpPr>
        <p:spPr>
          <a:xfrm>
            <a:off x="546480" y="677160"/>
            <a:ext cx="3970832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230" b="1" i="0" u="none" strike="noStrike">
                <a:solidFill>
                  <a:srgbClr val="07164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我们的目标是什么?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545120" y="2053440"/>
            <a:ext cx="1659636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09154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项目目标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383800" y="2025000"/>
            <a:ext cx="1659636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0A164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业务价值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9252360" y="2025000"/>
            <a:ext cx="1659636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0A16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技术价值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8815680" y="2795040"/>
            <a:ext cx="27660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1" i="0" u="none" strike="noStrike">
                <a:solidFill>
                  <a:srgbClr val="1D22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掌握多智能体协作核心技术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844920" y="2805120"/>
            <a:ext cx="1220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zh-CN" sz="1580" b="0" u="none" strike="noStrike">
                <a:solidFill>
                  <a:srgbClr val="1B1F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响 应 时 间 缩 短 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2526480" y="2809800"/>
            <a:ext cx="378460" cy="242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B1F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XX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2833560" y="2805120"/>
            <a:ext cx="379730" cy="242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580" b="0" i="0" u="none" strike="noStrike">
                <a:solidFill>
                  <a:srgbClr val="1B1F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sz="1580" b="0" i="0" u="none" strike="noStrike">
                <a:solidFill>
                  <a:srgbClr val="1B1F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3073680" y="2809800"/>
            <a:ext cx="19980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B1F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4566960" y="2804400"/>
            <a:ext cx="296926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1F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效率提升：从XX小时缩短至XX分钟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4596120" y="3328560"/>
            <a:ext cx="291338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1F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成本节约：年节约人工成本XX万元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714485" y="3842640"/>
            <a:ext cx="3128645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提升准确率提升至XX%,超越行业基准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8640000" y="3861720"/>
            <a:ext cx="273873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1F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深度理解Agent分工与协作机制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61920" y="4366800"/>
            <a:ext cx="25603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成本降低XX%,年节约XX万元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4565880" y="4385520"/>
            <a:ext cx="311785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质量改善：准确率从XX%提升至XX%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8815680" y="4394520"/>
            <a:ext cx="2397252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30" b="0" i="0" u="none" strike="noStrike">
                <a:solidFill>
                  <a:srgbClr val="1B1F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构建可扩展的智能系统架构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4537440" y="49190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⽤⼾体验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320440" y="49233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5378760" y="4919040"/>
            <a:ext cx="931545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满意度从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6161760" y="4923360"/>
            <a:ext cx="415925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 XX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421320" y="4919040"/>
            <a:ext cx="931545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分提升至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7204320" y="4923360"/>
            <a:ext cx="415925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 XX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7463520" y="4919040"/>
            <a:ext cx="360045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sz="1500" b="0" i="0" u="none" strike="noStrike">
                <a:solidFill>
                  <a:srgbClr val="1C2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图片 16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图片 162"/>
          <p:cNvPicPr/>
          <p:nvPr/>
        </p:nvPicPr>
        <p:blipFill>
          <a:blip r:embed="rId2"/>
          <a:stretch>
            <a:fillRect/>
          </a:stretch>
        </p:blipFill>
        <p:spPr>
          <a:xfrm>
            <a:off x="6296040" y="771480"/>
            <a:ext cx="5724000" cy="356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图片 163"/>
          <p:cNvPicPr/>
          <p:nvPr/>
        </p:nvPicPr>
        <p:blipFill>
          <a:blip r:embed="rId3"/>
          <a:stretch>
            <a:fillRect/>
          </a:stretch>
        </p:blipFill>
        <p:spPr>
          <a:xfrm>
            <a:off x="666720" y="2276640"/>
            <a:ext cx="66240" cy="10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文本框 164"/>
          <p:cNvSpPr txBox="1"/>
          <p:nvPr/>
        </p:nvSpPr>
        <p:spPr>
          <a:xfrm>
            <a:off x="662400" y="556920"/>
            <a:ext cx="3319272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600" b="1" i="0" u="none" strike="noStrike">
                <a:solidFill>
                  <a:srgbClr val="0710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系统架构设计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785520" y="2214720"/>
            <a:ext cx="662178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783360" y="2652840"/>
            <a:ext cx="3799205" cy="242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核心框架：LangChain 1.x、LangGraph、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786240" y="2990880"/>
            <a:ext cx="176293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CrewAI、AutoGen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784800" y="3405960"/>
            <a:ext cx="35179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大模型：DeepSeek、千问、通义千问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785520" y="3825000"/>
            <a:ext cx="29102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向量数据库：Chroma、Milvus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786240" y="4234680"/>
            <a:ext cx="29102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向量数据库：Chroma、Milvus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784800" y="4655160"/>
            <a:ext cx="263715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知识库：Neo4j(知识图谱)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6148800" y="4707000"/>
            <a:ext cx="1008380" cy="266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730" b="0" i="0" u="none" strike="noStrike">
                <a:solidFill>
                  <a:srgbClr val="15214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 设计亮点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785520" y="5082480"/>
            <a:ext cx="278638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工具集成：N8n、Coze、Dify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6265800" y="5130720"/>
            <a:ext cx="3568065" cy="266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B1E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亮点一：模块化设计,易于扩展和维护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785520" y="5510880"/>
            <a:ext cx="345948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前后端：Streamlit、FastAPI、Vue.js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6265800" y="5502240"/>
            <a:ext cx="3568065" cy="266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B1E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亮点二：多智能体协作,提高工作效率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6265800" y="5873760"/>
            <a:ext cx="3787775" cy="266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B1E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亮点三：人机协同,保障准确性和可靠性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669600" y="6323760"/>
            <a:ext cx="381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C1F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35%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图片 21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图片 220"/>
          <p:cNvPicPr/>
          <p:nvPr/>
        </p:nvPicPr>
        <p:blipFill>
          <a:blip r:embed="rId2"/>
          <a:stretch>
            <a:fillRect/>
          </a:stretch>
        </p:blipFill>
        <p:spPr>
          <a:xfrm>
            <a:off x="4867200" y="1495440"/>
            <a:ext cx="599760" cy="72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图片 221"/>
          <p:cNvPicPr/>
          <p:nvPr/>
        </p:nvPicPr>
        <p:blipFill>
          <a:blip r:embed="rId3"/>
          <a:stretch>
            <a:fillRect/>
          </a:stretch>
        </p:blipFill>
        <p:spPr>
          <a:xfrm>
            <a:off x="7667640" y="3257640"/>
            <a:ext cx="618840" cy="69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/>
          <p:cNvPicPr/>
          <p:nvPr/>
        </p:nvPicPr>
        <p:blipFill>
          <a:blip r:embed="rId4"/>
          <a:stretch>
            <a:fillRect/>
          </a:stretch>
        </p:blipFill>
        <p:spPr>
          <a:xfrm>
            <a:off x="5819760" y="2914560"/>
            <a:ext cx="5709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图片 223"/>
          <p:cNvPicPr/>
          <p:nvPr/>
        </p:nvPicPr>
        <p:blipFill>
          <a:blip r:embed="rId5"/>
          <a:stretch>
            <a:fillRect/>
          </a:stretch>
        </p:blipFill>
        <p:spPr>
          <a:xfrm>
            <a:off x="3924360" y="3267000"/>
            <a:ext cx="599760" cy="69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图片 224"/>
          <p:cNvPicPr/>
          <p:nvPr/>
        </p:nvPicPr>
        <p:blipFill>
          <a:blip r:embed="rId6"/>
          <a:stretch>
            <a:fillRect/>
          </a:stretch>
        </p:blipFill>
        <p:spPr>
          <a:xfrm>
            <a:off x="6791400" y="1495440"/>
            <a:ext cx="59976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文本框 225"/>
          <p:cNvSpPr txBox="1"/>
          <p:nvPr/>
        </p:nvSpPr>
        <p:spPr>
          <a:xfrm>
            <a:off x="487800" y="334800"/>
            <a:ext cx="4056888" cy="48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300" b="1" i="0" u="none" strike="noStrike"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智能体分工与协作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3012840" y="1311840"/>
            <a:ext cx="157670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215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意图识别Agent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7643520" y="1311840"/>
            <a:ext cx="1653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316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知识捡索Agent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1605240" y="1712520"/>
            <a:ext cx="142494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u="none" strike="noStrike">
                <a:solidFill>
                  <a:srgbClr val="19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理解用户意图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3058560" y="1717920"/>
            <a:ext cx="237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70" b="0" i="0" u="none" strike="noStrike">
                <a:solidFill>
                  <a:srgbClr val="19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,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3129120" y="1712520"/>
            <a:ext cx="1567433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9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识别任务类型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7641720" y="1730880"/>
            <a:ext cx="255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从知识库检索相关信息,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1634400" y="2017440"/>
            <a:ext cx="36180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u="none" strike="noStrike">
                <a:solidFill>
                  <a:srgbClr val="19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使 ⽤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2341800" y="2022840"/>
            <a:ext cx="1282446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70" b="0" i="0" u="none" strike="noStrike">
                <a:solidFill>
                  <a:srgbClr val="19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LangChain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3670920" y="2022840"/>
            <a:ext cx="569976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70" b="0" i="0" u="none" strike="noStrike">
                <a:solidFill>
                  <a:srgbClr val="19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Tool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7643520" y="2016720"/>
            <a:ext cx="2462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使用RAG和向量数据库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2075040" y="3083400"/>
            <a:ext cx="157670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215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工具调用Agent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8610480" y="3083400"/>
            <a:ext cx="165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315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结果生成Agent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783720" y="3503160"/>
            <a:ext cx="2704919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9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调用外部API执行操作,使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8609760" y="3476160"/>
            <a:ext cx="3027194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A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整合输出,生成最终响应,使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5649120" y="3628440"/>
            <a:ext cx="883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320" b="0" i="0" u="none" strike="noStrike">
                <a:solidFill>
                  <a:srgbClr val="0D0E3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813960" y="3798720"/>
            <a:ext cx="267984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9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用Function Calling和N8n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8609760" y="3798000"/>
            <a:ext cx="3408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A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用LLM和Prompt Engineering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5413680" y="5062680"/>
            <a:ext cx="1464056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0" i="0" u="none" strike="noStrike">
                <a:solidFill>
                  <a:srgbClr val="0A104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协作流程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图片 26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图片 267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360" y="4371840"/>
            <a:ext cx="1780920" cy="18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图片 268"/>
          <p:cNvPicPr/>
          <p:nvPr/>
        </p:nvPicPr>
        <p:blipFill>
          <a:blip r:embed="rId3"/>
          <a:stretch>
            <a:fillRect/>
          </a:stretch>
        </p:blipFill>
        <p:spPr>
          <a:xfrm>
            <a:off x="952560" y="4362480"/>
            <a:ext cx="1866600" cy="18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图片 269"/>
          <p:cNvPicPr/>
          <p:nvPr/>
        </p:nvPicPr>
        <p:blipFill>
          <a:blip r:embed="rId4"/>
          <a:stretch>
            <a:fillRect/>
          </a:stretch>
        </p:blipFill>
        <p:spPr>
          <a:xfrm>
            <a:off x="9534600" y="4533840"/>
            <a:ext cx="2047680" cy="171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图片 270"/>
          <p:cNvPicPr/>
          <p:nvPr/>
        </p:nvPicPr>
        <p:blipFill>
          <a:blip r:embed="rId5"/>
          <a:stretch>
            <a:fillRect/>
          </a:stretch>
        </p:blipFill>
        <p:spPr>
          <a:xfrm>
            <a:off x="6296040" y="3295800"/>
            <a:ext cx="5209920" cy="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图片 271"/>
          <p:cNvPicPr/>
          <p:nvPr/>
        </p:nvPicPr>
        <p:blipFill>
          <a:blip r:embed="rId6"/>
          <a:stretch>
            <a:fillRect/>
          </a:stretch>
        </p:blipFill>
        <p:spPr>
          <a:xfrm>
            <a:off x="895320" y="3295800"/>
            <a:ext cx="477180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图片 272"/>
          <p:cNvPicPr/>
          <p:nvPr/>
        </p:nvPicPr>
        <p:blipFill>
          <a:blip r:embed="rId7"/>
          <a:stretch>
            <a:fillRect/>
          </a:stretch>
        </p:blipFill>
        <p:spPr>
          <a:xfrm>
            <a:off x="6372360" y="2438280"/>
            <a:ext cx="5038200" cy="2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图片 273"/>
          <p:cNvPicPr/>
          <p:nvPr/>
        </p:nvPicPr>
        <p:blipFill>
          <a:blip r:embed="rId8"/>
          <a:stretch>
            <a:fillRect/>
          </a:stretch>
        </p:blipFill>
        <p:spPr>
          <a:xfrm>
            <a:off x="5915160" y="1276200"/>
            <a:ext cx="37800" cy="47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文本框 274"/>
          <p:cNvSpPr txBox="1"/>
          <p:nvPr/>
        </p:nvSpPr>
        <p:spPr>
          <a:xfrm>
            <a:off x="490680" y="324720"/>
            <a:ext cx="3126655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1" i="0" u="none" strike="noStrike">
                <a:solidFill>
                  <a:srgbClr val="0C184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核心功能模块:意图识别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579960" y="1236240"/>
            <a:ext cx="1044956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117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功能描述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6090120" y="1233360"/>
            <a:ext cx="11605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111F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|效果展示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610200" y="1890000"/>
            <a:ext cx="209550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功能名称：意图识别模块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6208200" y="1882080"/>
            <a:ext cx="488061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D21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测试用例一：我想了解XX产品价格→咨询→准确识别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10200" y="2784960"/>
            <a:ext cx="799084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30" b="0" i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功能目标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1370520" y="2788920"/>
            <a:ext cx="1807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1429920" y="2784960"/>
            <a:ext cx="1560830" cy="219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430" b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1430" b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准确识别⽤⼾意图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2950200" y="2788920"/>
            <a:ext cx="1807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,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3009600" y="2784960"/>
            <a:ext cx="2796794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30" b="0" i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分类为咨询、投诉、售后等类型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6208200" y="2767680"/>
            <a:ext cx="50292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C1F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测试用例二：你们的服务态度太差了→投诉→准确识别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610200" y="3604680"/>
            <a:ext cx="4892040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1D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技术方案：LangChain Tool+大模型Prompt Engineering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6208200" y="3596400"/>
            <a:ext cx="41910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D20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测试用例三：我要申请退货→售后→准确识别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16" name="文本框 315"/>
          <p:cNvSpPr txBox="1"/>
          <p:nvPr/>
        </p:nvSpPr>
        <p:spPr>
          <a:xfrm>
            <a:off x="6208200" y="4519080"/>
            <a:ext cx="172212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00" b="0" i="0" u="none" strike="noStrike">
                <a:solidFill>
                  <a:srgbClr val="161A3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测试准确率：</a:t>
            </a:r>
            <a:r>
              <a:rPr lang="en-US" altLang="zh-CN" sz="1600" b="0" i="0" u="none" strike="noStrike">
                <a:solidFill>
                  <a:srgbClr val="161A3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 %</a:t>
            </a:r>
            <a:endParaRPr lang="en-US" altLang="zh-CN" sz="1600" b="0" i="0" u="none" strike="noStrike">
              <a:solidFill>
                <a:srgbClr val="161A36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6208200" y="4977000"/>
            <a:ext cx="2952115" cy="2425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61A3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整体准确率：XX%,响应时间XX秒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图片 32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图片 323"/>
          <p:cNvPicPr/>
          <p:nvPr/>
        </p:nvPicPr>
        <p:blipFill>
          <a:blip r:embed="rId2"/>
          <a:stretch>
            <a:fillRect/>
          </a:stretch>
        </p:blipFill>
        <p:spPr>
          <a:xfrm>
            <a:off x="8115120" y="495360"/>
            <a:ext cx="799560" cy="78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图片 324"/>
          <p:cNvPicPr/>
          <p:nvPr/>
        </p:nvPicPr>
        <p:blipFill>
          <a:blip r:embed="rId3"/>
          <a:stretch>
            <a:fillRect/>
          </a:stretch>
        </p:blipFill>
        <p:spPr>
          <a:xfrm>
            <a:off x="2695680" y="1495440"/>
            <a:ext cx="1171080" cy="1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图片 325"/>
          <p:cNvPicPr/>
          <p:nvPr/>
        </p:nvPicPr>
        <p:blipFill>
          <a:blip r:embed="rId4"/>
          <a:stretch>
            <a:fillRect/>
          </a:stretch>
        </p:blipFill>
        <p:spPr>
          <a:xfrm>
            <a:off x="5495760" y="1485720"/>
            <a:ext cx="1161720" cy="13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图片 326"/>
          <p:cNvPicPr/>
          <p:nvPr/>
        </p:nvPicPr>
        <p:blipFill>
          <a:blip r:embed="rId5"/>
          <a:stretch>
            <a:fillRect/>
          </a:stretch>
        </p:blipFill>
        <p:spPr>
          <a:xfrm>
            <a:off x="11525400" y="1419120"/>
            <a:ext cx="418680" cy="47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图片 327"/>
          <p:cNvPicPr/>
          <p:nvPr/>
        </p:nvPicPr>
        <p:blipFill>
          <a:blip r:embed="rId6"/>
          <a:stretch>
            <a:fillRect/>
          </a:stretch>
        </p:blipFill>
        <p:spPr>
          <a:xfrm>
            <a:off x="8362800" y="1495440"/>
            <a:ext cx="1161720" cy="1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图片 328"/>
          <p:cNvPicPr/>
          <p:nvPr/>
        </p:nvPicPr>
        <p:blipFill>
          <a:blip r:embed="rId7"/>
          <a:stretch>
            <a:fillRect/>
          </a:stretch>
        </p:blipFill>
        <p:spPr>
          <a:xfrm>
            <a:off x="1542960" y="2324160"/>
            <a:ext cx="9924840" cy="6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图片 329"/>
          <p:cNvPicPr/>
          <p:nvPr/>
        </p:nvPicPr>
        <p:blipFill>
          <a:blip r:embed="rId8"/>
          <a:stretch>
            <a:fillRect/>
          </a:stretch>
        </p:blipFill>
        <p:spPr>
          <a:xfrm>
            <a:off x="152280" y="5410080"/>
            <a:ext cx="17100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文本框 330"/>
          <p:cNvSpPr txBox="1"/>
          <p:nvPr/>
        </p:nvSpPr>
        <p:spPr>
          <a:xfrm>
            <a:off x="577440" y="417240"/>
            <a:ext cx="4166212" cy="43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930" b="1" i="0" u="none" strike="noStrike">
                <a:solidFill>
                  <a:srgbClr val="09134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核心功能模块:知识检索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1370880" y="1379160"/>
            <a:ext cx="1044956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81E4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原始文档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4126320" y="1388880"/>
            <a:ext cx="1044956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71D4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文档分割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6792840" y="1396080"/>
            <a:ext cx="1385316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020" b="0" i="0" u="none" strike="noStrike">
                <a:solidFill>
                  <a:srgbClr val="15194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Embedding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9664920" y="1370520"/>
            <a:ext cx="1362075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161D4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向量化存储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2717280" y="2877480"/>
            <a:ext cx="1333855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1" i="0" u="none" strike="noStrike">
                <a:solidFill>
                  <a:srgbClr val="111D4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检索策略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8345160" y="2896560"/>
            <a:ext cx="1212596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i="0" u="none" strike="noStrike">
                <a:solidFill>
                  <a:srgbClr val="0E1A4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效果数据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989280" y="3876120"/>
            <a:ext cx="4222115" cy="309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相似度检索：Top-K相关文档,阈值0.7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46" name="文本框 345"/>
          <p:cNvSpPr txBox="1"/>
          <p:nvPr/>
        </p:nvSpPr>
        <p:spPr>
          <a:xfrm>
            <a:off x="6938640" y="3876120"/>
            <a:ext cx="4196715" cy="309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检索准确率：XX%,Top-5命中率XX%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50" name="文本框 349"/>
          <p:cNvSpPr txBox="1"/>
          <p:nvPr/>
        </p:nvSpPr>
        <p:spPr>
          <a:xfrm>
            <a:off x="989640" y="4856400"/>
            <a:ext cx="4834255" cy="2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F3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多路召回：BM25关键词检索+向量语义检索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55" name="文本框 354"/>
          <p:cNvSpPr txBox="1"/>
          <p:nvPr/>
        </p:nvSpPr>
        <p:spPr>
          <a:xfrm>
            <a:off x="6939360" y="4847760"/>
            <a:ext cx="3984625" cy="309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平均检索时间：XX秒,满足实时需求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6968520" y="5837760"/>
            <a:ext cx="7459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⽤⼾满意度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8230680" y="5843160"/>
            <a:ext cx="567690" cy="2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altLang="en-US" sz="195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95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8634960" y="5837760"/>
            <a:ext cx="272415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63" name="文本框 362"/>
          <p:cNvSpPr txBox="1"/>
          <p:nvPr/>
        </p:nvSpPr>
        <p:spPr>
          <a:xfrm>
            <a:off x="8887320" y="5843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,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64" name="文本框 363"/>
          <p:cNvSpPr txBox="1"/>
          <p:nvPr/>
        </p:nvSpPr>
        <p:spPr>
          <a:xfrm>
            <a:off x="8960760" y="5837760"/>
            <a:ext cx="163449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超过传统方案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65" name="文本框 364"/>
          <p:cNvSpPr txBox="1"/>
          <p:nvPr/>
        </p:nvSpPr>
        <p:spPr>
          <a:xfrm>
            <a:off x="10475640" y="5843160"/>
            <a:ext cx="552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F2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XX%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66" name="文本框 365"/>
          <p:cNvSpPr txBox="1"/>
          <p:nvPr/>
        </p:nvSpPr>
        <p:spPr>
          <a:xfrm>
            <a:off x="960480" y="5837760"/>
            <a:ext cx="5064760" cy="299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F3F6F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重排策略：使用Reranker优化排序,提升准确率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图片 37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图片 373"/>
          <p:cNvPicPr/>
          <p:nvPr/>
        </p:nvPicPr>
        <p:blipFill>
          <a:blip r:embed="rId2"/>
          <a:stretch>
            <a:fillRect/>
          </a:stretch>
        </p:blipFill>
        <p:spPr>
          <a:xfrm>
            <a:off x="1095480" y="2943360"/>
            <a:ext cx="752040" cy="84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图片 374"/>
          <p:cNvPicPr/>
          <p:nvPr/>
        </p:nvPicPr>
        <p:blipFill>
          <a:blip r:embed="rId3"/>
          <a:stretch>
            <a:fillRect/>
          </a:stretch>
        </p:blipFill>
        <p:spPr>
          <a:xfrm>
            <a:off x="5695920" y="2924280"/>
            <a:ext cx="790200" cy="86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图片 375"/>
          <p:cNvPicPr/>
          <p:nvPr/>
        </p:nvPicPr>
        <p:blipFill>
          <a:blip r:embed="rId4"/>
          <a:stretch>
            <a:fillRect/>
          </a:stretch>
        </p:blipFill>
        <p:spPr>
          <a:xfrm>
            <a:off x="3381480" y="2943360"/>
            <a:ext cx="790200" cy="8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图片 376"/>
          <p:cNvPicPr/>
          <p:nvPr/>
        </p:nvPicPr>
        <p:blipFill>
          <a:blip r:embed="rId5"/>
          <a:stretch>
            <a:fillRect/>
          </a:stretch>
        </p:blipFill>
        <p:spPr>
          <a:xfrm>
            <a:off x="8058240" y="2857320"/>
            <a:ext cx="723600" cy="9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图片 377"/>
          <p:cNvPicPr/>
          <p:nvPr/>
        </p:nvPicPr>
        <p:blipFill>
          <a:blip r:embed="rId6"/>
          <a:stretch>
            <a:fillRect/>
          </a:stretch>
        </p:blipFill>
        <p:spPr>
          <a:xfrm>
            <a:off x="10344240" y="2943360"/>
            <a:ext cx="752040" cy="85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图片 378"/>
          <p:cNvPicPr/>
          <p:nvPr/>
        </p:nvPicPr>
        <p:blipFill>
          <a:blip r:embed="rId7"/>
          <a:stretch>
            <a:fillRect/>
          </a:stretch>
        </p:blipFill>
        <p:spPr>
          <a:xfrm>
            <a:off x="6905520" y="3238560"/>
            <a:ext cx="87588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图片 379"/>
          <p:cNvPicPr/>
          <p:nvPr/>
        </p:nvPicPr>
        <p:blipFill>
          <a:blip r:embed="rId8"/>
          <a:stretch>
            <a:fillRect/>
          </a:stretch>
        </p:blipFill>
        <p:spPr>
          <a:xfrm>
            <a:off x="9163080" y="3238560"/>
            <a:ext cx="89496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图片 380"/>
          <p:cNvPicPr/>
          <p:nvPr/>
        </p:nvPicPr>
        <p:blipFill>
          <a:blip r:embed="rId9"/>
          <a:stretch>
            <a:fillRect/>
          </a:stretch>
        </p:blipFill>
        <p:spPr>
          <a:xfrm>
            <a:off x="2276640" y="3238560"/>
            <a:ext cx="82836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图片 381"/>
          <p:cNvPicPr/>
          <p:nvPr/>
        </p:nvPicPr>
        <p:blipFill>
          <a:blip r:embed="rId10"/>
          <a:stretch>
            <a:fillRect/>
          </a:stretch>
        </p:blipFill>
        <p:spPr>
          <a:xfrm>
            <a:off x="4562640" y="3238560"/>
            <a:ext cx="85680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图片 382"/>
          <p:cNvPicPr/>
          <p:nvPr/>
        </p:nvPicPr>
        <p:blipFill>
          <a:blip r:embed="rId11"/>
          <a:stretch>
            <a:fillRect/>
          </a:stretch>
        </p:blipFill>
        <p:spPr>
          <a:xfrm>
            <a:off x="600120" y="1104840"/>
            <a:ext cx="485280" cy="6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图片 383"/>
          <p:cNvPicPr/>
          <p:nvPr/>
        </p:nvPicPr>
        <p:blipFill>
          <a:blip r:embed="rId12"/>
          <a:stretch>
            <a:fillRect/>
          </a:stretch>
        </p:blipFill>
        <p:spPr>
          <a:xfrm>
            <a:off x="4410000" y="5467320"/>
            <a:ext cx="914040" cy="2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文本框 384"/>
          <p:cNvSpPr txBox="1"/>
          <p:nvPr/>
        </p:nvSpPr>
        <p:spPr>
          <a:xfrm>
            <a:off x="575640" y="476280"/>
            <a:ext cx="5161342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150" b="1" i="0" u="none" strike="noStrike">
                <a:solidFill>
                  <a:srgbClr val="08134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N8N/Coze/Dify工作流集成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87" name="文本框 386"/>
          <p:cNvSpPr txBox="1"/>
          <p:nvPr/>
        </p:nvSpPr>
        <p:spPr>
          <a:xfrm>
            <a:off x="4830480" y="2343960"/>
            <a:ext cx="88011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91E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If/Else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5473800" y="2339280"/>
            <a:ext cx="138303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91E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条件分支判断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7556760" y="4064400"/>
            <a:ext cx="16543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1B1E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Send Email发送通知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91" name="文本框 390"/>
          <p:cNvSpPr txBox="1"/>
          <p:nvPr/>
        </p:nvSpPr>
        <p:spPr>
          <a:xfrm>
            <a:off x="579960" y="4093920"/>
            <a:ext cx="1769255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1B1C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Webhook触发器接收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93" name="文本框 392"/>
          <p:cNvSpPr txBox="1"/>
          <p:nvPr/>
        </p:nvSpPr>
        <p:spPr>
          <a:xfrm>
            <a:off x="2749680" y="4070160"/>
            <a:ext cx="19139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1C1C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调用Agent API处理任务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96" name="文本框 395"/>
          <p:cNvSpPr txBox="1"/>
          <p:nvPr/>
        </p:nvSpPr>
        <p:spPr>
          <a:xfrm>
            <a:off x="5124600" y="4055760"/>
            <a:ext cx="1904946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1A1C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Function节点处理数据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98" name="文本框 397"/>
          <p:cNvSpPr txBox="1"/>
          <p:nvPr/>
        </p:nvSpPr>
        <p:spPr>
          <a:xfrm>
            <a:off x="10018800" y="4051800"/>
            <a:ext cx="1398397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30" b="0" i="0" u="none" strike="noStrike">
                <a:solidFill>
                  <a:srgbClr val="1B1E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数据库存储结果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399" name="文本框 398"/>
          <p:cNvSpPr txBox="1"/>
          <p:nvPr/>
        </p:nvSpPr>
        <p:spPr>
          <a:xfrm>
            <a:off x="1109160" y="4284360"/>
            <a:ext cx="4741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1C1C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HTTP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00" name="文本框 399"/>
          <p:cNvSpPr txBox="1"/>
          <p:nvPr/>
        </p:nvSpPr>
        <p:spPr>
          <a:xfrm>
            <a:off x="1581480" y="4280400"/>
            <a:ext cx="199771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30" b="0" i="0" u="none" strike="noStrike">
                <a:solidFill>
                  <a:srgbClr val="1C1C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请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01" name="文本框 400"/>
          <p:cNvSpPr txBox="1"/>
          <p:nvPr/>
        </p:nvSpPr>
        <p:spPr>
          <a:xfrm>
            <a:off x="5473800" y="5331960"/>
            <a:ext cx="1436814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1" i="0" u="none" strike="noStrike">
                <a:solidFill>
                  <a:srgbClr val="1116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监控与告警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02" name="文本框 401"/>
          <p:cNvSpPr txBox="1"/>
          <p:nvPr/>
        </p:nvSpPr>
        <p:spPr>
          <a:xfrm>
            <a:off x="816120" y="5869440"/>
            <a:ext cx="2485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80" b="0" i="0" u="none" strike="noStrike">
                <a:solidFill>
                  <a:srgbClr val="1F20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实时监控:工作流执行状态可视化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05" name="文本框 404"/>
          <p:cNvSpPr txBox="1"/>
          <p:nvPr/>
        </p:nvSpPr>
        <p:spPr>
          <a:xfrm>
            <a:off x="3570840" y="5869440"/>
            <a:ext cx="2678336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80" b="0" i="0" u="none" strike="noStrike">
                <a:solidFill>
                  <a:srgbClr val="1F20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异常告警:自动发送邮件和钉钉通知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6472440" y="5869440"/>
            <a:ext cx="2323944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80" b="0" i="0" u="none" strike="noStrike">
                <a:solidFill>
                  <a:srgbClr val="1F20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日志记录:完整日志记录与分析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9139680" y="5869440"/>
            <a:ext cx="2312424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80" b="0" i="0" u="none" strike="noStrike">
                <a:solidFill>
                  <a:srgbClr val="1F20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性能统计:关键指标统计与报表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图片 41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图片 414"/>
          <p:cNvPicPr/>
          <p:nvPr/>
        </p:nvPicPr>
        <p:blipFill>
          <a:blip r:embed="rId2"/>
          <a:stretch>
            <a:fillRect/>
          </a:stretch>
        </p:blipFill>
        <p:spPr>
          <a:xfrm>
            <a:off x="6591240" y="1685880"/>
            <a:ext cx="1028160" cy="6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图片 415"/>
          <p:cNvPicPr/>
          <p:nvPr/>
        </p:nvPicPr>
        <p:blipFill>
          <a:blip r:embed="rId3"/>
          <a:stretch>
            <a:fillRect/>
          </a:stretch>
        </p:blipFill>
        <p:spPr>
          <a:xfrm>
            <a:off x="9744120" y="5514840"/>
            <a:ext cx="866520" cy="7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图片 416"/>
          <p:cNvPicPr/>
          <p:nvPr/>
        </p:nvPicPr>
        <p:blipFill>
          <a:blip r:embed="rId4"/>
          <a:stretch>
            <a:fillRect/>
          </a:stretch>
        </p:blipFill>
        <p:spPr>
          <a:xfrm>
            <a:off x="10629720" y="3343320"/>
            <a:ext cx="894960" cy="9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图片 417"/>
          <p:cNvPicPr/>
          <p:nvPr/>
        </p:nvPicPr>
        <p:blipFill>
          <a:blip r:embed="rId5"/>
          <a:stretch>
            <a:fillRect/>
          </a:stretch>
        </p:blipFill>
        <p:spPr>
          <a:xfrm>
            <a:off x="647640" y="1285920"/>
            <a:ext cx="2376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图片 418"/>
          <p:cNvPicPr/>
          <p:nvPr/>
        </p:nvPicPr>
        <p:blipFill>
          <a:blip r:embed="rId6"/>
          <a:stretch>
            <a:fillRect/>
          </a:stretch>
        </p:blipFill>
        <p:spPr>
          <a:xfrm>
            <a:off x="7858080" y="3876840"/>
            <a:ext cx="27576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图片 419"/>
          <p:cNvPicPr/>
          <p:nvPr/>
        </p:nvPicPr>
        <p:blipFill>
          <a:blip r:embed="rId7"/>
          <a:stretch>
            <a:fillRect/>
          </a:stretch>
        </p:blipFill>
        <p:spPr>
          <a:xfrm>
            <a:off x="5467320" y="3876840"/>
            <a:ext cx="266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图片 420"/>
          <p:cNvPicPr/>
          <p:nvPr/>
        </p:nvPicPr>
        <p:blipFill>
          <a:blip r:embed="rId8"/>
          <a:stretch>
            <a:fillRect/>
          </a:stretch>
        </p:blipFill>
        <p:spPr>
          <a:xfrm>
            <a:off x="3057480" y="3876840"/>
            <a:ext cx="26640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图片 421"/>
          <p:cNvPicPr/>
          <p:nvPr/>
        </p:nvPicPr>
        <p:blipFill>
          <a:blip r:embed="rId9"/>
          <a:stretch>
            <a:fillRect/>
          </a:stretch>
        </p:blipFill>
        <p:spPr>
          <a:xfrm>
            <a:off x="657360" y="5105520"/>
            <a:ext cx="23760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3" name="图片 422"/>
          <p:cNvPicPr/>
          <p:nvPr/>
        </p:nvPicPr>
        <p:blipFill>
          <a:blip r:embed="rId10"/>
          <a:stretch>
            <a:fillRect/>
          </a:stretch>
        </p:blipFill>
        <p:spPr>
          <a:xfrm>
            <a:off x="657360" y="3114720"/>
            <a:ext cx="237600" cy="23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图片 423"/>
          <p:cNvPicPr/>
          <p:nvPr/>
        </p:nvPicPr>
        <p:blipFill>
          <a:blip r:embed="rId11"/>
          <a:stretch>
            <a:fillRect/>
          </a:stretch>
        </p:blipFill>
        <p:spPr>
          <a:xfrm>
            <a:off x="10258560" y="3848040"/>
            <a:ext cx="29484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文本框 424"/>
          <p:cNvSpPr txBox="1"/>
          <p:nvPr/>
        </p:nvSpPr>
        <p:spPr>
          <a:xfrm>
            <a:off x="401400" y="236880"/>
            <a:ext cx="426216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00" b="1" i="0" u="none" strike="noStrike">
                <a:solidFill>
                  <a:srgbClr val="09134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系统功能演示:智能问答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960480" y="1237680"/>
            <a:ext cx="61884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u="none" strike="noStrike">
                <a:solidFill>
                  <a:srgbClr val="0C13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⽤⼾输⼊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1166400" y="1892160"/>
            <a:ext cx="355053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91B3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我想咨询一下XX产品的功能和价格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959760" y="3065760"/>
            <a:ext cx="1498282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1" i="0" u="none" strike="noStrike">
                <a:solidFill>
                  <a:srgbClr val="0D14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智能体处理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33" name="文本框 432"/>
          <p:cNvSpPr txBox="1"/>
          <p:nvPr/>
        </p:nvSpPr>
        <p:spPr>
          <a:xfrm>
            <a:off x="1135440" y="3693240"/>
            <a:ext cx="17667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5183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意图识别Agent识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36" name="文本框 435"/>
          <p:cNvSpPr txBox="1"/>
          <p:nvPr/>
        </p:nvSpPr>
        <p:spPr>
          <a:xfrm>
            <a:off x="3538800" y="3693240"/>
            <a:ext cx="17667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61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知识检索Agent检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39" name="文本框 438"/>
          <p:cNvSpPr txBox="1"/>
          <p:nvPr/>
        </p:nvSpPr>
        <p:spPr>
          <a:xfrm rot="94200">
            <a:off x="6057720" y="3679560"/>
            <a:ext cx="1600200" cy="28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工具调用Agent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41" name="文本框 440"/>
          <p:cNvSpPr txBox="1"/>
          <p:nvPr/>
        </p:nvSpPr>
        <p:spPr>
          <a:xfrm>
            <a:off x="8433360" y="3693240"/>
            <a:ext cx="1626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6193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结果生成Agent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43" name="文本框 442"/>
          <p:cNvSpPr txBox="1"/>
          <p:nvPr/>
        </p:nvSpPr>
        <p:spPr>
          <a:xfrm>
            <a:off x="1342080" y="3968640"/>
            <a:ext cx="1449247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5183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别为咨询类型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44" name="文本框 443"/>
          <p:cNvSpPr txBox="1"/>
          <p:nvPr/>
        </p:nvSpPr>
        <p:spPr>
          <a:xfrm>
            <a:off x="3833280" y="3968640"/>
            <a:ext cx="1207706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61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索产品信息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45" name="文本框 444"/>
          <p:cNvSpPr txBox="1"/>
          <p:nvPr/>
        </p:nvSpPr>
        <p:spPr>
          <a:xfrm>
            <a:off x="6119280" y="3968640"/>
            <a:ext cx="1449247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518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查询实时价格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46" name="文本框 445"/>
          <p:cNvSpPr txBox="1"/>
          <p:nvPr/>
        </p:nvSpPr>
        <p:spPr>
          <a:xfrm>
            <a:off x="8757000" y="3968640"/>
            <a:ext cx="966165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81B3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组织答案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47" name="文本框 446"/>
          <p:cNvSpPr txBox="1"/>
          <p:nvPr/>
        </p:nvSpPr>
        <p:spPr>
          <a:xfrm>
            <a:off x="931320" y="5066640"/>
            <a:ext cx="1241653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1" i="0" u="none" strike="noStrike">
                <a:solidFill>
                  <a:srgbClr val="0E13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结果输出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48" name="文本框 447"/>
          <p:cNvSpPr txBox="1"/>
          <p:nvPr/>
        </p:nvSpPr>
        <p:spPr>
          <a:xfrm>
            <a:off x="1136160" y="5670000"/>
            <a:ext cx="7123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0" u="none" strike="noStrike">
                <a:solidFill>
                  <a:srgbClr val="1519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XX产品是我们公司的核心产品,主要功能包括XXX,当前价格为XXX元,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57" name="文本框 456"/>
          <p:cNvSpPr txBox="1"/>
          <p:nvPr/>
        </p:nvSpPr>
        <p:spPr>
          <a:xfrm>
            <a:off x="1166400" y="5968080"/>
            <a:ext cx="118713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519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享受XX优惠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图片 45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图片 460"/>
          <p:cNvPicPr/>
          <p:nvPr/>
        </p:nvPicPr>
        <p:blipFill>
          <a:blip r:embed="rId2"/>
          <a:stretch>
            <a:fillRect/>
          </a:stretch>
        </p:blipFill>
        <p:spPr>
          <a:xfrm>
            <a:off x="10401120" y="1285920"/>
            <a:ext cx="647280" cy="67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图片 461"/>
          <p:cNvPicPr/>
          <p:nvPr/>
        </p:nvPicPr>
        <p:blipFill>
          <a:blip r:embed="rId3"/>
          <a:stretch>
            <a:fillRect/>
          </a:stretch>
        </p:blipFill>
        <p:spPr>
          <a:xfrm>
            <a:off x="9381960" y="1886040"/>
            <a:ext cx="56160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3" name="图片 462"/>
          <p:cNvPicPr/>
          <p:nvPr/>
        </p:nvPicPr>
        <p:blipFill>
          <a:blip r:embed="rId4"/>
          <a:stretch>
            <a:fillRect/>
          </a:stretch>
        </p:blipFill>
        <p:spPr>
          <a:xfrm>
            <a:off x="1504800" y="1990800"/>
            <a:ext cx="5806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4" name="图片 463"/>
          <p:cNvPicPr/>
          <p:nvPr/>
        </p:nvPicPr>
        <p:blipFill>
          <a:blip r:embed="rId5"/>
          <a:stretch>
            <a:fillRect/>
          </a:stretch>
        </p:blipFill>
        <p:spPr>
          <a:xfrm>
            <a:off x="504720" y="981000"/>
            <a:ext cx="399600" cy="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图片 464"/>
          <p:cNvPicPr/>
          <p:nvPr/>
        </p:nvPicPr>
        <p:blipFill>
          <a:blip r:embed="rId6"/>
          <a:stretch>
            <a:fillRect/>
          </a:stretch>
        </p:blipFill>
        <p:spPr>
          <a:xfrm>
            <a:off x="3314520" y="3076560"/>
            <a:ext cx="2566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6" name="图片 465"/>
          <p:cNvPicPr/>
          <p:nvPr/>
        </p:nvPicPr>
        <p:blipFill>
          <a:blip r:embed="rId7"/>
          <a:stretch>
            <a:fillRect/>
          </a:stretch>
        </p:blipFill>
        <p:spPr>
          <a:xfrm>
            <a:off x="6496200" y="3076560"/>
            <a:ext cx="26640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图片 466"/>
          <p:cNvPicPr/>
          <p:nvPr/>
        </p:nvPicPr>
        <p:blipFill>
          <a:blip r:embed="rId8"/>
          <a:stretch>
            <a:fillRect/>
          </a:stretch>
        </p:blipFill>
        <p:spPr>
          <a:xfrm>
            <a:off x="8096400" y="1781280"/>
            <a:ext cx="380520" cy="3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图片 467"/>
          <p:cNvPicPr/>
          <p:nvPr/>
        </p:nvPicPr>
        <p:blipFill>
          <a:blip r:embed="rId9"/>
          <a:stretch>
            <a:fillRect/>
          </a:stretch>
        </p:blipFill>
        <p:spPr>
          <a:xfrm>
            <a:off x="9553680" y="3085920"/>
            <a:ext cx="23760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文本框 468"/>
          <p:cNvSpPr txBox="1"/>
          <p:nvPr/>
        </p:nvSpPr>
        <p:spPr>
          <a:xfrm>
            <a:off x="458640" y="408960"/>
            <a:ext cx="4259732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80" b="1" i="0" u="none" strike="noStrike">
                <a:solidFill>
                  <a:srgbClr val="09144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多智能体协作可视化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0" name="文本框 469"/>
          <p:cNvSpPr txBox="1"/>
          <p:nvPr/>
        </p:nvSpPr>
        <p:spPr>
          <a:xfrm>
            <a:off x="3832560" y="1361520"/>
            <a:ext cx="1128776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意图识别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1" name="文本框 470"/>
          <p:cNvSpPr txBox="1"/>
          <p:nvPr/>
        </p:nvSpPr>
        <p:spPr>
          <a:xfrm>
            <a:off x="3685320" y="1702800"/>
            <a:ext cx="1342858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i="0" u="none" strike="noStrike">
                <a:solidFill>
                  <a:srgbClr val="18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Agent执行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3" name="文本框 472"/>
          <p:cNvSpPr txBox="1"/>
          <p:nvPr/>
        </p:nvSpPr>
        <p:spPr>
          <a:xfrm>
            <a:off x="3951720" y="2009880"/>
            <a:ext cx="88011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81B3D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准确率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4" name="文本框 473"/>
          <p:cNvSpPr txBox="1"/>
          <p:nvPr/>
        </p:nvSpPr>
        <p:spPr>
          <a:xfrm>
            <a:off x="1576800" y="2708640"/>
            <a:ext cx="330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70" b="0" i="0" u="none" strike="noStrike">
                <a:solidFill>
                  <a:srgbClr val="0E12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TO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5" name="文本框 474"/>
          <p:cNvSpPr txBox="1"/>
          <p:nvPr/>
        </p:nvSpPr>
        <p:spPr>
          <a:xfrm>
            <a:off x="3247200" y="2700000"/>
            <a:ext cx="2971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0D103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T1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6" name="文本框 475"/>
          <p:cNvSpPr txBox="1"/>
          <p:nvPr/>
        </p:nvSpPr>
        <p:spPr>
          <a:xfrm>
            <a:off x="4858920" y="2700000"/>
            <a:ext cx="2971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0D103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T3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7" name="文本框 476"/>
          <p:cNvSpPr txBox="1"/>
          <p:nvPr/>
        </p:nvSpPr>
        <p:spPr>
          <a:xfrm>
            <a:off x="6412320" y="2700000"/>
            <a:ext cx="2971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0E11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8" name="文本框 477"/>
          <p:cNvSpPr txBox="1"/>
          <p:nvPr/>
        </p:nvSpPr>
        <p:spPr>
          <a:xfrm>
            <a:off x="7907040" y="2700000"/>
            <a:ext cx="2971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0D11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T5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9460440" y="2700000"/>
            <a:ext cx="2971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0B0E3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T6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0" name="文本框 479"/>
          <p:cNvSpPr txBox="1"/>
          <p:nvPr/>
        </p:nvSpPr>
        <p:spPr>
          <a:xfrm>
            <a:off x="3040560" y="3847680"/>
            <a:ext cx="846581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协调者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1" name="文本框 480"/>
          <p:cNvSpPr txBox="1"/>
          <p:nvPr/>
        </p:nvSpPr>
        <p:spPr>
          <a:xfrm>
            <a:off x="7554600" y="3837960"/>
            <a:ext cx="1128776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结果生成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2" name="文本框 481"/>
          <p:cNvSpPr txBox="1"/>
          <p:nvPr/>
        </p:nvSpPr>
        <p:spPr>
          <a:xfrm>
            <a:off x="1341360" y="3866760"/>
            <a:ext cx="46440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u="none" strike="noStrike">
                <a:solidFill>
                  <a:srgbClr val="15183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⽤⼾输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3" name="文本框 482"/>
          <p:cNvSpPr txBox="1"/>
          <p:nvPr/>
        </p:nvSpPr>
        <p:spPr>
          <a:xfrm>
            <a:off x="4506840" y="3857760"/>
            <a:ext cx="117348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知识检索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4" name="文本框 483"/>
          <p:cNvSpPr txBox="1"/>
          <p:nvPr/>
        </p:nvSpPr>
        <p:spPr>
          <a:xfrm>
            <a:off x="6089400" y="3875400"/>
            <a:ext cx="10896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5" name="文本框 484"/>
          <p:cNvSpPr txBox="1"/>
          <p:nvPr/>
        </p:nvSpPr>
        <p:spPr>
          <a:xfrm>
            <a:off x="9254520" y="3837960"/>
            <a:ext cx="846581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B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返回最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1340640" y="4190400"/>
            <a:ext cx="846581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5183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入问题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7" name="文本框 486"/>
          <p:cNvSpPr txBox="1"/>
          <p:nvPr/>
        </p:nvSpPr>
        <p:spPr>
          <a:xfrm>
            <a:off x="2775960" y="4236120"/>
            <a:ext cx="1329178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Agent接收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89" name="文本框 488"/>
          <p:cNvSpPr txBox="1"/>
          <p:nvPr/>
        </p:nvSpPr>
        <p:spPr>
          <a:xfrm>
            <a:off x="4388040" y="4236120"/>
            <a:ext cx="1329178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Agent执行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91" name="文本框 490"/>
          <p:cNvSpPr txBox="1"/>
          <p:nvPr/>
        </p:nvSpPr>
        <p:spPr>
          <a:xfrm rot="21502800">
            <a:off x="5972040" y="4234680"/>
            <a:ext cx="1332058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Agent执行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93" name="文本框 492"/>
          <p:cNvSpPr txBox="1"/>
          <p:nvPr/>
        </p:nvSpPr>
        <p:spPr>
          <a:xfrm>
            <a:off x="7436160" y="4244760"/>
            <a:ext cx="152712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0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Agent执行,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96" name="文本框 495"/>
          <p:cNvSpPr txBox="1"/>
          <p:nvPr/>
        </p:nvSpPr>
        <p:spPr>
          <a:xfrm>
            <a:off x="9254520" y="4200840"/>
            <a:ext cx="88011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61B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终结果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2982240" y="4552560"/>
            <a:ext cx="78588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请求,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4418640" y="4542840"/>
            <a:ext cx="1239794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检索到5条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02" name="文本框 501"/>
          <p:cNvSpPr txBox="1"/>
          <p:nvPr/>
        </p:nvSpPr>
        <p:spPr>
          <a:xfrm>
            <a:off x="6323760" y="4534200"/>
            <a:ext cx="58674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获取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03" name="文本框 502"/>
          <p:cNvSpPr txBox="1"/>
          <p:nvPr/>
        </p:nvSpPr>
        <p:spPr>
          <a:xfrm>
            <a:off x="7554600" y="4542840"/>
            <a:ext cx="1128776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整合信息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04" name="文本框 503"/>
          <p:cNvSpPr txBox="1"/>
          <p:nvPr/>
        </p:nvSpPr>
        <p:spPr>
          <a:xfrm>
            <a:off x="2659680" y="4866120"/>
            <a:ext cx="163449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分析任务类型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05" name="文本框 504"/>
          <p:cNvSpPr txBox="1"/>
          <p:nvPr/>
        </p:nvSpPr>
        <p:spPr>
          <a:xfrm>
            <a:off x="4506840" y="4885920"/>
            <a:ext cx="1128776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相关信息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06" name="文本框 505"/>
          <p:cNvSpPr txBox="1"/>
          <p:nvPr/>
        </p:nvSpPr>
        <p:spPr>
          <a:xfrm>
            <a:off x="6059160" y="4857120"/>
            <a:ext cx="1128776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61A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实时数据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2512440" y="5927400"/>
            <a:ext cx="134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0E113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性能数据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08" name="文本框 507"/>
          <p:cNvSpPr txBox="1"/>
          <p:nvPr/>
        </p:nvSpPr>
        <p:spPr>
          <a:xfrm>
            <a:off x="4182120" y="5938200"/>
            <a:ext cx="5764875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550" b="0" i="0" u="none" strike="noStrike">
                <a:solidFill>
                  <a:srgbClr val="0F13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总耗时1.2秒,各Agent并行处理节省0.4秒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图片 51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8" name="图片 517"/>
          <p:cNvPicPr/>
          <p:nvPr/>
        </p:nvPicPr>
        <p:blipFill>
          <a:blip r:embed="rId2"/>
          <a:stretch>
            <a:fillRect/>
          </a:stretch>
        </p:blipFill>
        <p:spPr>
          <a:xfrm>
            <a:off x="4162320" y="4143240"/>
            <a:ext cx="1238040" cy="93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图片 518"/>
          <p:cNvPicPr/>
          <p:nvPr/>
        </p:nvPicPr>
        <p:blipFill>
          <a:blip r:embed="rId3"/>
          <a:stretch>
            <a:fillRect/>
          </a:stretch>
        </p:blipFill>
        <p:spPr>
          <a:xfrm>
            <a:off x="7105680" y="1514520"/>
            <a:ext cx="904680" cy="8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图片 519"/>
          <p:cNvPicPr/>
          <p:nvPr/>
        </p:nvPicPr>
        <p:blipFill>
          <a:blip r:embed="rId4"/>
          <a:stretch>
            <a:fillRect/>
          </a:stretch>
        </p:blipFill>
        <p:spPr>
          <a:xfrm>
            <a:off x="7210440" y="4181400"/>
            <a:ext cx="828360" cy="80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1" name="图片 520"/>
          <p:cNvPicPr/>
          <p:nvPr/>
        </p:nvPicPr>
        <p:blipFill>
          <a:blip r:embed="rId5"/>
          <a:stretch>
            <a:fillRect/>
          </a:stretch>
        </p:blipFill>
        <p:spPr>
          <a:xfrm>
            <a:off x="4381560" y="1476360"/>
            <a:ext cx="828360" cy="83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文本框 521"/>
          <p:cNvSpPr txBox="1"/>
          <p:nvPr/>
        </p:nvSpPr>
        <p:spPr>
          <a:xfrm>
            <a:off x="780120" y="583920"/>
            <a:ext cx="3711130" cy="50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50" b="1" i="0" u="none" strike="noStrike">
                <a:solidFill>
                  <a:srgbClr val="08134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我们的技术亮点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23" name="文本框 522"/>
          <p:cNvSpPr txBox="1"/>
          <p:nvPr/>
        </p:nvSpPr>
        <p:spPr>
          <a:xfrm>
            <a:off x="1837440" y="2396520"/>
            <a:ext cx="3319272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0C14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多智能体协作架构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24" name="文本框 523"/>
          <p:cNvSpPr txBox="1"/>
          <p:nvPr/>
        </p:nvSpPr>
        <p:spPr>
          <a:xfrm>
            <a:off x="7611120" y="2404440"/>
            <a:ext cx="3253374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0D14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RAG知识检索优化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26" name="文本框 525"/>
          <p:cNvSpPr txBox="1"/>
          <p:nvPr/>
        </p:nvSpPr>
        <p:spPr>
          <a:xfrm>
            <a:off x="1283760" y="2976840"/>
            <a:ext cx="40240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D22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使用LangGraph/CrewAI实现多智能体协作,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30" name="文本框 529"/>
          <p:cNvSpPr txBox="1"/>
          <p:nvPr/>
        </p:nvSpPr>
        <p:spPr>
          <a:xfrm>
            <a:off x="7027200" y="2986200"/>
            <a:ext cx="41745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F254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使用多路召回+重排策略,检索准确率提升XX%,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36" name="文本框 535"/>
          <p:cNvSpPr txBox="1"/>
          <p:nvPr/>
        </p:nvSpPr>
        <p:spPr>
          <a:xfrm>
            <a:off x="1107720" y="3224160"/>
            <a:ext cx="434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D22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任务分解、并行处理、专业化分工,效率提升XX%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40" name="文本框 539"/>
          <p:cNvSpPr txBox="1"/>
          <p:nvPr/>
        </p:nvSpPr>
        <p:spPr>
          <a:xfrm>
            <a:off x="8171640" y="3233880"/>
            <a:ext cx="1710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F254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从XX%提升至XX%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44" name="文本框 543"/>
          <p:cNvSpPr txBox="1"/>
          <p:nvPr/>
        </p:nvSpPr>
        <p:spPr>
          <a:xfrm>
            <a:off x="1983960" y="4939560"/>
            <a:ext cx="2489454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0C14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工作流自动化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8226720" y="4939560"/>
            <a:ext cx="2489454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0C14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动态任务调度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46" name="文本框 545"/>
          <p:cNvSpPr txBox="1"/>
          <p:nvPr/>
        </p:nvSpPr>
        <p:spPr>
          <a:xfrm>
            <a:off x="1488600" y="5491440"/>
            <a:ext cx="362759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3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集成N8n实现端到端自动化,减少人工干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51" name="文本框 550"/>
          <p:cNvSpPr txBox="1"/>
          <p:nvPr/>
        </p:nvSpPr>
        <p:spPr>
          <a:xfrm>
            <a:off x="7056360" y="5529240"/>
            <a:ext cx="41432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3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基于任务优先级和Agent负载的动态调度算法,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55" name="文本框 554"/>
          <p:cNvSpPr txBox="1"/>
          <p:nvPr/>
        </p:nvSpPr>
        <p:spPr>
          <a:xfrm>
            <a:off x="1899720" y="5768280"/>
            <a:ext cx="2793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E23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预,降低错误率,自动化率XX%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61" name="文本框 560"/>
          <p:cNvSpPr txBox="1"/>
          <p:nvPr/>
        </p:nvSpPr>
        <p:spPr>
          <a:xfrm>
            <a:off x="8083800" y="5776200"/>
            <a:ext cx="18277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D22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资源利用率提升XX%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图片 56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4" name="图片 563"/>
          <p:cNvPicPr/>
          <p:nvPr/>
        </p:nvPicPr>
        <p:blipFill>
          <a:blip r:embed="rId2"/>
          <a:stretch>
            <a:fillRect/>
          </a:stretch>
        </p:blipFill>
        <p:spPr>
          <a:xfrm>
            <a:off x="6029280" y="4886280"/>
            <a:ext cx="133308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5" name="图片 564"/>
          <p:cNvPicPr/>
          <p:nvPr/>
        </p:nvPicPr>
        <p:blipFill>
          <a:blip r:embed="rId3"/>
          <a:stretch>
            <a:fillRect/>
          </a:stretch>
        </p:blipFill>
        <p:spPr>
          <a:xfrm>
            <a:off x="1895400" y="4714920"/>
            <a:ext cx="1256760" cy="12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6" name="图片 565"/>
          <p:cNvPicPr/>
          <p:nvPr/>
        </p:nvPicPr>
        <p:blipFill>
          <a:blip r:embed="rId4"/>
          <a:stretch>
            <a:fillRect/>
          </a:stretch>
        </p:blipFill>
        <p:spPr>
          <a:xfrm>
            <a:off x="9572760" y="4791240"/>
            <a:ext cx="1390320" cy="111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文本框 566"/>
          <p:cNvSpPr txBox="1"/>
          <p:nvPr/>
        </p:nvSpPr>
        <p:spPr>
          <a:xfrm>
            <a:off x="575640" y="466200"/>
            <a:ext cx="2839821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80" b="1" i="0" u="none" strike="noStrike">
                <a:solidFill>
                  <a:srgbClr val="081446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68" name="文本框 567"/>
          <p:cNvSpPr txBox="1"/>
          <p:nvPr/>
        </p:nvSpPr>
        <p:spPr>
          <a:xfrm>
            <a:off x="781920" y="1560960"/>
            <a:ext cx="1844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00" b="1" i="0" u="none" strike="noStrike">
                <a:solidFill>
                  <a:srgbClr val="0913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功能成果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69" name="文本框 568"/>
          <p:cNvSpPr txBox="1"/>
          <p:nvPr/>
        </p:nvSpPr>
        <p:spPr>
          <a:xfrm>
            <a:off x="4591800" y="1560960"/>
            <a:ext cx="1844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00" b="1" i="0" u="none" strike="noStrike">
                <a:solidFill>
                  <a:srgbClr val="0912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技术成果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70" name="文本框 569"/>
          <p:cNvSpPr txBox="1"/>
          <p:nvPr/>
        </p:nvSpPr>
        <p:spPr>
          <a:xfrm>
            <a:off x="8372520" y="1569960"/>
            <a:ext cx="1801012" cy="43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930" b="1" i="0" u="none" strike="noStrike">
                <a:solidFill>
                  <a:srgbClr val="0913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业务成果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71" name="文本框 570"/>
          <p:cNvSpPr txBox="1"/>
          <p:nvPr/>
        </p:nvSpPr>
        <p:spPr>
          <a:xfrm>
            <a:off x="785520" y="2225520"/>
            <a:ext cx="902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317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已完成: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73" name="文本框 572"/>
          <p:cNvSpPr txBox="1"/>
          <p:nvPr/>
        </p:nvSpPr>
        <p:spPr>
          <a:xfrm>
            <a:off x="4595400" y="2225520"/>
            <a:ext cx="1342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51A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技术栈掌握: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75" name="文本框 574"/>
          <p:cNvSpPr txBox="1"/>
          <p:nvPr/>
        </p:nvSpPr>
        <p:spPr>
          <a:xfrm>
            <a:off x="8346600" y="2234520"/>
            <a:ext cx="1387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61A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效率提升XX%,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77" name="文本框 576"/>
          <p:cNvSpPr txBox="1"/>
          <p:nvPr/>
        </p:nvSpPr>
        <p:spPr>
          <a:xfrm>
            <a:off x="785520" y="2576520"/>
            <a:ext cx="331089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D21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智能问答、知识检索、工作流自动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78" name="文本框 577"/>
          <p:cNvSpPr txBox="1"/>
          <p:nvPr/>
        </p:nvSpPr>
        <p:spPr>
          <a:xfrm>
            <a:off x="8346600" y="2576520"/>
            <a:ext cx="1359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61A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成本降低XX%,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80" name="文本框 579"/>
          <p:cNvSpPr txBox="1"/>
          <p:nvPr/>
        </p:nvSpPr>
        <p:spPr>
          <a:xfrm>
            <a:off x="4594680" y="2582280"/>
            <a:ext cx="2826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A1C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LangChain 1.x、LangGraph、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84" name="文本框 583"/>
          <p:cNvSpPr txBox="1"/>
          <p:nvPr/>
        </p:nvSpPr>
        <p:spPr>
          <a:xfrm>
            <a:off x="785520" y="2919600"/>
            <a:ext cx="154508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D21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化、结果可视化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85" name="文本框 584"/>
          <p:cNvSpPr txBox="1"/>
          <p:nvPr/>
        </p:nvSpPr>
        <p:spPr>
          <a:xfrm>
            <a:off x="4595400" y="2915640"/>
            <a:ext cx="1974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A1C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RAG、CrewAI、N8n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0" name="文本框 589"/>
          <p:cNvSpPr txBox="1"/>
          <p:nvPr/>
        </p:nvSpPr>
        <p:spPr>
          <a:xfrm>
            <a:off x="8346600" y="2910600"/>
            <a:ext cx="104775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u="none" strike="noStrike">
                <a:solidFill>
                  <a:srgbClr val="161A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用户满意度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1" name="文本框 590"/>
          <p:cNvSpPr txBox="1"/>
          <p:nvPr/>
        </p:nvSpPr>
        <p:spPr>
          <a:xfrm>
            <a:off x="9429480" y="2915640"/>
            <a:ext cx="279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61A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2" name="文本框 591"/>
          <p:cNvSpPr txBox="1"/>
          <p:nvPr/>
        </p:nvSpPr>
        <p:spPr>
          <a:xfrm>
            <a:off x="9716040" y="2910600"/>
            <a:ext cx="23050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61A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3" name="文本框 592"/>
          <p:cNvSpPr txBox="1"/>
          <p:nvPr/>
        </p:nvSpPr>
        <p:spPr>
          <a:xfrm>
            <a:off x="9932400" y="2915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61A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4" name="文本框 593"/>
          <p:cNvSpPr txBox="1"/>
          <p:nvPr/>
        </p:nvSpPr>
        <p:spPr>
          <a:xfrm>
            <a:off x="9997920" y="2910600"/>
            <a:ext cx="1114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61A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准确率XX%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6" name="文本框 595"/>
          <p:cNvSpPr txBox="1"/>
          <p:nvPr/>
        </p:nvSpPr>
        <p:spPr>
          <a:xfrm>
            <a:off x="786240" y="3653640"/>
            <a:ext cx="8823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1" i="0" u="none" strike="noStrike">
                <a:solidFill>
                  <a:srgbClr val="1417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待优化: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598" name="文本框 597"/>
          <p:cNvSpPr txBox="1"/>
          <p:nvPr/>
        </p:nvSpPr>
        <p:spPr>
          <a:xfrm>
            <a:off x="4596120" y="3662640"/>
            <a:ext cx="11106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1" i="0" u="none" strike="noStrike">
                <a:solidFill>
                  <a:srgbClr val="1519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代码质量: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00" name="文本框 599"/>
          <p:cNvSpPr txBox="1"/>
          <p:nvPr/>
        </p:nvSpPr>
        <p:spPr>
          <a:xfrm>
            <a:off x="8346600" y="3644280"/>
            <a:ext cx="69151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519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准确率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01" name="文本框 600"/>
          <p:cNvSpPr txBox="1"/>
          <p:nvPr/>
        </p:nvSpPr>
        <p:spPr>
          <a:xfrm>
            <a:off x="9006120" y="3648960"/>
            <a:ext cx="4647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519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02" name="文本框 601"/>
          <p:cNvSpPr txBox="1"/>
          <p:nvPr/>
        </p:nvSpPr>
        <p:spPr>
          <a:xfrm>
            <a:off x="786240" y="4005360"/>
            <a:ext cx="331089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B1E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多轮对话、个性化推荐、实时监控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03" name="文本框 602"/>
          <p:cNvSpPr txBox="1"/>
          <p:nvPr/>
        </p:nvSpPr>
        <p:spPr>
          <a:xfrm>
            <a:off x="4596120" y="3996360"/>
            <a:ext cx="31154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代码行数XXX行,代码复用率XX%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09" name="文本框 608"/>
          <p:cNvSpPr txBox="1"/>
          <p:nvPr/>
        </p:nvSpPr>
        <p:spPr>
          <a:xfrm>
            <a:off x="4625280" y="4338720"/>
            <a:ext cx="1886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B1D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单元测试覆盖率XX%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图片 61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2" name="图片 611"/>
          <p:cNvPicPr/>
          <p:nvPr/>
        </p:nvPicPr>
        <p:blipFill>
          <a:blip r:embed="rId2"/>
          <a:stretch>
            <a:fillRect/>
          </a:stretch>
        </p:blipFill>
        <p:spPr>
          <a:xfrm>
            <a:off x="1666800" y="3905280"/>
            <a:ext cx="1552320" cy="18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图片 612"/>
          <p:cNvPicPr/>
          <p:nvPr/>
        </p:nvPicPr>
        <p:blipFill>
          <a:blip r:embed="rId3"/>
          <a:stretch>
            <a:fillRect/>
          </a:stretch>
        </p:blipFill>
        <p:spPr>
          <a:xfrm>
            <a:off x="9172440" y="1409760"/>
            <a:ext cx="2047680" cy="141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4" name="图片 613"/>
          <p:cNvPicPr/>
          <p:nvPr/>
        </p:nvPicPr>
        <p:blipFill>
          <a:blip r:embed="rId4"/>
          <a:stretch>
            <a:fillRect/>
          </a:stretch>
        </p:blipFill>
        <p:spPr>
          <a:xfrm>
            <a:off x="9477360" y="5038560"/>
            <a:ext cx="53316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5" name="文本框 614"/>
          <p:cNvSpPr txBox="1"/>
          <p:nvPr/>
        </p:nvSpPr>
        <p:spPr>
          <a:xfrm>
            <a:off x="633600" y="496800"/>
            <a:ext cx="3549777" cy="48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300" b="1" i="0" u="none" strike="noStrike">
                <a:solidFill>
                  <a:srgbClr val="071245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我的收获与成长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16" name="文本框 615"/>
          <p:cNvSpPr txBox="1"/>
          <p:nvPr/>
        </p:nvSpPr>
        <p:spPr>
          <a:xfrm>
            <a:off x="1076400" y="1612080"/>
            <a:ext cx="1426057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1" i="0" u="none" strike="noStrike">
                <a:solidFill>
                  <a:srgbClr val="0A10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技术能力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17" name="文本框 616"/>
          <p:cNvSpPr txBox="1"/>
          <p:nvPr/>
        </p:nvSpPr>
        <p:spPr>
          <a:xfrm>
            <a:off x="1047960" y="2119320"/>
            <a:ext cx="4554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1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掌握多智能体协作技术,深入理解LangGraph框架;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23" name="文本框 622"/>
          <p:cNvSpPr txBox="1"/>
          <p:nvPr/>
        </p:nvSpPr>
        <p:spPr>
          <a:xfrm>
            <a:off x="1049040" y="2462400"/>
            <a:ext cx="46686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1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学会RAG知识库构建,熟练使用CrewAl/AutoGen;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29" name="文本框 628"/>
          <p:cNvSpPr txBox="1"/>
          <p:nvPr/>
        </p:nvSpPr>
        <p:spPr>
          <a:xfrm>
            <a:off x="6527520" y="2650680"/>
            <a:ext cx="1475232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1" i="0" u="none" strike="noStrike">
                <a:solidFill>
                  <a:srgbClr val="0B11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项目经验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30" name="文本框 629"/>
          <p:cNvSpPr txBox="1"/>
          <p:nvPr/>
        </p:nvSpPr>
        <p:spPr>
          <a:xfrm>
            <a:off x="1079280" y="3148200"/>
            <a:ext cx="359001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13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掌握Nn工作流编排,熟悉大模型API调用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37" name="文本框 636"/>
          <p:cNvSpPr txBox="1"/>
          <p:nvPr/>
        </p:nvSpPr>
        <p:spPr>
          <a:xfrm>
            <a:off x="6530400" y="3148200"/>
            <a:ext cx="3905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F21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独立完成端到端项目,掌握项目开发全流程;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41" name="文本框 640"/>
          <p:cNvSpPr txBox="1"/>
          <p:nvPr/>
        </p:nvSpPr>
        <p:spPr>
          <a:xfrm>
            <a:off x="6529680" y="3499920"/>
            <a:ext cx="39375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F213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学会技术选型与架构设计,提升问题解决能力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44" name="文本框 643"/>
          <p:cNvSpPr txBox="1"/>
          <p:nvPr/>
        </p:nvSpPr>
        <p:spPr>
          <a:xfrm>
            <a:off x="3567240" y="4574880"/>
            <a:ext cx="1475232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1" i="0" u="none" strike="noStrike">
                <a:solidFill>
                  <a:srgbClr val="0B10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未来规划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45" name="文本框 644"/>
          <p:cNvSpPr txBox="1"/>
          <p:nvPr/>
        </p:nvSpPr>
        <p:spPr>
          <a:xfrm>
            <a:off x="3570480" y="5072040"/>
            <a:ext cx="4667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F22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短期:深入学习大模型微调技术,完成更多实战项目;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51" name="文本框 650"/>
          <p:cNvSpPr txBox="1"/>
          <p:nvPr/>
        </p:nvSpPr>
        <p:spPr>
          <a:xfrm>
            <a:off x="3569760" y="5415840"/>
            <a:ext cx="39139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F22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中期:成为大模型开发专家,参与开源项目;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57" name="文本框 656"/>
          <p:cNvSpPr txBox="1"/>
          <p:nvPr/>
        </p:nvSpPr>
        <p:spPr>
          <a:xfrm>
            <a:off x="3569760" y="5767560"/>
            <a:ext cx="4250528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F223C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长期:成为技术专家/架构师,推动技术落地应用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图片 66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图片 664"/>
          <p:cNvPicPr/>
          <p:nvPr/>
        </p:nvPicPr>
        <p:blipFill>
          <a:blip r:embed="rId2"/>
          <a:stretch>
            <a:fillRect/>
          </a:stretch>
        </p:blipFill>
        <p:spPr>
          <a:xfrm>
            <a:off x="171360" y="1333440"/>
            <a:ext cx="3200040" cy="524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图片 665"/>
          <p:cNvPicPr/>
          <p:nvPr/>
        </p:nvPicPr>
        <p:blipFill>
          <a:blip r:embed="rId3"/>
          <a:stretch>
            <a:fillRect/>
          </a:stretch>
        </p:blipFill>
        <p:spPr>
          <a:xfrm>
            <a:off x="8724960" y="2695680"/>
            <a:ext cx="647280" cy="6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7" name="图片 666"/>
          <p:cNvPicPr/>
          <p:nvPr/>
        </p:nvPicPr>
        <p:blipFill>
          <a:blip r:embed="rId4"/>
          <a:stretch>
            <a:fillRect/>
          </a:stretch>
        </p:blipFill>
        <p:spPr>
          <a:xfrm>
            <a:off x="8734320" y="4657680"/>
            <a:ext cx="4474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图片 667"/>
          <p:cNvPicPr/>
          <p:nvPr/>
        </p:nvPicPr>
        <p:blipFill>
          <a:blip r:embed="rId5"/>
          <a:stretch>
            <a:fillRect/>
          </a:stretch>
        </p:blipFill>
        <p:spPr>
          <a:xfrm>
            <a:off x="11506320" y="1495440"/>
            <a:ext cx="26640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9" name="文本框 668"/>
          <p:cNvSpPr txBox="1"/>
          <p:nvPr/>
        </p:nvSpPr>
        <p:spPr>
          <a:xfrm>
            <a:off x="547200" y="390240"/>
            <a:ext cx="3688174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80" b="1" i="0" u="none" strike="noStrike">
                <a:solidFill>
                  <a:srgbClr val="091245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答辩要点:技术深度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72" name="文本框 671"/>
          <p:cNvSpPr txBox="1"/>
          <p:nvPr/>
        </p:nvSpPr>
        <p:spPr>
          <a:xfrm>
            <a:off x="5677920" y="1463040"/>
            <a:ext cx="38282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F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对比了LangGraph、CrewAI、AutoGen,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78" name="文本框 677"/>
          <p:cNvSpPr txBox="1"/>
          <p:nvPr/>
        </p:nvSpPr>
        <p:spPr>
          <a:xfrm>
            <a:off x="3451680" y="1494360"/>
            <a:ext cx="817245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1466E8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问题一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79" name="文本框 678"/>
          <p:cNvSpPr txBox="1"/>
          <p:nvPr/>
        </p:nvSpPr>
        <p:spPr>
          <a:xfrm>
            <a:off x="5679000" y="1720080"/>
            <a:ext cx="341853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F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选择CrewAl是因为更适合项目需求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82" name="文本框 681"/>
          <p:cNvSpPr txBox="1"/>
          <p:nvPr/>
        </p:nvSpPr>
        <p:spPr>
          <a:xfrm>
            <a:off x="3450960" y="1808640"/>
            <a:ext cx="163449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1016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为什么选择多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83" name="文本框 682"/>
          <p:cNvSpPr txBox="1"/>
          <p:nvPr/>
        </p:nvSpPr>
        <p:spPr>
          <a:xfrm>
            <a:off x="5678280" y="2035080"/>
            <a:ext cx="412387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B1F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托出,优势包括任务分解明确、协作机制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86" name="文本框 685"/>
          <p:cNvSpPr txBox="1"/>
          <p:nvPr/>
        </p:nvSpPr>
        <p:spPr>
          <a:xfrm>
            <a:off x="3451680" y="2132280"/>
            <a:ext cx="15001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1016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智能体框架?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88" name="文本框 687"/>
          <p:cNvSpPr txBox="1"/>
          <p:nvPr/>
        </p:nvSpPr>
        <p:spPr>
          <a:xfrm>
            <a:off x="5708880" y="2338560"/>
            <a:ext cx="22072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B1F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灵活、易于扩展和维护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89" name="文本框 688"/>
          <p:cNvSpPr txBox="1"/>
          <p:nvPr/>
        </p:nvSpPr>
        <p:spPr>
          <a:xfrm rot="21450600">
            <a:off x="3447360" y="3377880"/>
            <a:ext cx="93124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1" i="0" u="none" strike="noStrike">
                <a:solidFill>
                  <a:srgbClr val="1466E9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问题二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90" name="文本框 689"/>
          <p:cNvSpPr txBox="1"/>
          <p:nvPr/>
        </p:nvSpPr>
        <p:spPr>
          <a:xfrm>
            <a:off x="5708160" y="3463200"/>
            <a:ext cx="387334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D22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协调者Agent负责任务分配和结果聚合,使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95" name="文本框 694"/>
          <p:cNvSpPr txBox="1"/>
          <p:nvPr/>
        </p:nvSpPr>
        <p:spPr>
          <a:xfrm>
            <a:off x="3450960" y="3732480"/>
            <a:ext cx="1906905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0F15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智能体之间如何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96" name="文本框 695"/>
          <p:cNvSpPr txBox="1"/>
          <p:nvPr/>
        </p:nvSpPr>
        <p:spPr>
          <a:xfrm>
            <a:off x="5708160" y="3739320"/>
            <a:ext cx="405037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D22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用共享状态管理信息传递,定义清晰的接口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699" name="文本框 698"/>
          <p:cNvSpPr txBox="1"/>
          <p:nvPr/>
        </p:nvSpPr>
        <p:spPr>
          <a:xfrm>
            <a:off x="3451680" y="4037400"/>
            <a:ext cx="7675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0F15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协作?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01" name="文本框 700"/>
          <p:cNvSpPr txBox="1"/>
          <p:nvPr/>
        </p:nvSpPr>
        <p:spPr>
          <a:xfrm>
            <a:off x="5679720" y="4044240"/>
            <a:ext cx="366343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D22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和数据格式,实现容错机制和重试策略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04" name="文本框 703"/>
          <p:cNvSpPr txBox="1"/>
          <p:nvPr/>
        </p:nvSpPr>
        <p:spPr>
          <a:xfrm>
            <a:off x="3480840" y="5141520"/>
            <a:ext cx="862088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1" i="0" u="none" strike="noStrike">
                <a:solidFill>
                  <a:srgbClr val="1465E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问题三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05" name="文本框 704"/>
          <p:cNvSpPr txBox="1"/>
          <p:nvPr/>
        </p:nvSpPr>
        <p:spPr>
          <a:xfrm>
            <a:off x="5474520" y="5321160"/>
            <a:ext cx="3821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C21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采用多路召回策略(BM25+向量检索)、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10" name="文本框 709"/>
          <p:cNvSpPr txBox="1"/>
          <p:nvPr/>
        </p:nvSpPr>
        <p:spPr>
          <a:xfrm rot="70200">
            <a:off x="3447720" y="5474520"/>
            <a:ext cx="1542600" cy="29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0E15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如何保证RAG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12" name="文本框 711"/>
          <p:cNvSpPr txBox="1"/>
          <p:nvPr/>
        </p:nvSpPr>
        <p:spPr>
          <a:xfrm>
            <a:off x="5473800" y="5615280"/>
            <a:ext cx="2277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u="none" strike="noStrike">
                <a:solidFill>
                  <a:srgbClr val="1C21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排优化、⾼质量知识库构建、根据⽤⼾反馈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13" name="文本框 712"/>
          <p:cNvSpPr txBox="1"/>
          <p:nvPr/>
        </p:nvSpPr>
        <p:spPr>
          <a:xfrm>
            <a:off x="3451680" y="5780520"/>
            <a:ext cx="14864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i="0" u="none" strike="noStrike">
                <a:solidFill>
                  <a:srgbClr val="0E15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检索准确性?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15" name="文本框 714"/>
          <p:cNvSpPr txBox="1"/>
          <p:nvPr/>
        </p:nvSpPr>
        <p:spPr>
          <a:xfrm rot="108600">
            <a:off x="5467320" y="5884920"/>
            <a:ext cx="115252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C21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持持续优化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图片 71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7" name="图片 716"/>
          <p:cNvPicPr/>
          <p:nvPr/>
        </p:nvPicPr>
        <p:blipFill>
          <a:blip r:embed="rId2"/>
          <a:stretch>
            <a:fillRect/>
          </a:stretch>
        </p:blipFill>
        <p:spPr>
          <a:xfrm>
            <a:off x="7200720" y="2828880"/>
            <a:ext cx="1914120" cy="139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8" name="图片 717"/>
          <p:cNvPicPr/>
          <p:nvPr/>
        </p:nvPicPr>
        <p:blipFill>
          <a:blip r:embed="rId3"/>
          <a:stretch>
            <a:fillRect/>
          </a:stretch>
        </p:blipFill>
        <p:spPr>
          <a:xfrm>
            <a:off x="9306000" y="1114560"/>
            <a:ext cx="2152440" cy="19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9" name="图片 718"/>
          <p:cNvPicPr/>
          <p:nvPr/>
        </p:nvPicPr>
        <p:blipFill>
          <a:blip r:embed="rId4"/>
          <a:stretch>
            <a:fillRect/>
          </a:stretch>
        </p:blipFill>
        <p:spPr>
          <a:xfrm>
            <a:off x="10191600" y="4276800"/>
            <a:ext cx="1761840" cy="197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0" name="图片 719"/>
          <p:cNvPicPr/>
          <p:nvPr/>
        </p:nvPicPr>
        <p:blipFill>
          <a:blip r:embed="rId5"/>
          <a:stretch>
            <a:fillRect/>
          </a:stretch>
        </p:blipFill>
        <p:spPr>
          <a:xfrm>
            <a:off x="8391600" y="723960"/>
            <a:ext cx="799560" cy="9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1" name="图片 720"/>
          <p:cNvPicPr/>
          <p:nvPr/>
        </p:nvPicPr>
        <p:blipFill>
          <a:blip r:embed="rId6"/>
          <a:stretch>
            <a:fillRect/>
          </a:stretch>
        </p:blipFill>
        <p:spPr>
          <a:xfrm>
            <a:off x="1066680" y="2657520"/>
            <a:ext cx="8114760" cy="6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文本框 721"/>
          <p:cNvSpPr txBox="1"/>
          <p:nvPr/>
        </p:nvSpPr>
        <p:spPr>
          <a:xfrm>
            <a:off x="693720" y="599760"/>
            <a:ext cx="4112158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80" b="1" i="0" u="none" strike="noStrike">
                <a:solidFill>
                  <a:srgbClr val="081045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答辩要点:创新与价值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25" name="文本框 724"/>
          <p:cNvSpPr txBox="1"/>
          <p:nvPr/>
        </p:nvSpPr>
        <p:spPr>
          <a:xfrm>
            <a:off x="696600" y="1482480"/>
            <a:ext cx="353758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1" i="0" u="none" strike="noStrike">
                <a:solidFill>
                  <a:srgbClr val="10144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问题一：项目的核心创新点是什么?</a:t>
            </a:r>
            <a:endParaRPr lang="en-US" b="1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29" name="文本框 728"/>
          <p:cNvSpPr txBox="1"/>
          <p:nvPr/>
        </p:nvSpPr>
        <p:spPr>
          <a:xfrm>
            <a:off x="696600" y="1928160"/>
            <a:ext cx="58675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1E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答案:提出多智能体协作模型解决复杂业务问题、首创XX协作机制、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34" name="文本框 733"/>
          <p:cNvSpPr txBox="1"/>
          <p:nvPr/>
        </p:nvSpPr>
        <p:spPr>
          <a:xfrm>
            <a:off x="697320" y="2185560"/>
            <a:ext cx="271791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1B1E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结合MCP协议实现跨平台通信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37" name="文本框 736"/>
          <p:cNvSpPr txBox="1"/>
          <p:nvPr/>
        </p:nvSpPr>
        <p:spPr>
          <a:xfrm>
            <a:off x="697320" y="2958840"/>
            <a:ext cx="376618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1" i="0" u="none" strike="noStrike">
                <a:solidFill>
                  <a:srgbClr val="1014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问题二：项目的实际业务价值有多大?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41" name="文本框 740"/>
          <p:cNvSpPr txBox="1"/>
          <p:nvPr/>
        </p:nvSpPr>
        <p:spPr>
          <a:xfrm>
            <a:off x="697320" y="3396600"/>
            <a:ext cx="4201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答案:效率从XX小时缩短至XX分钟,提升XX%;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1" name="文本框 750"/>
          <p:cNvSpPr txBox="1"/>
          <p:nvPr/>
        </p:nvSpPr>
        <p:spPr>
          <a:xfrm>
            <a:off x="695880" y="3672720"/>
            <a:ext cx="115252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年节约成本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2" name="文本框 751"/>
          <p:cNvSpPr txBox="1"/>
          <p:nvPr/>
        </p:nvSpPr>
        <p:spPr>
          <a:xfrm>
            <a:off x="1755720" y="3677400"/>
            <a:ext cx="279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3" name="文本框 752"/>
          <p:cNvSpPr txBox="1"/>
          <p:nvPr/>
        </p:nvSpPr>
        <p:spPr>
          <a:xfrm>
            <a:off x="2037600" y="3672720"/>
            <a:ext cx="46101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4" name="文本框 753"/>
          <p:cNvSpPr txBox="1"/>
          <p:nvPr/>
        </p:nvSpPr>
        <p:spPr>
          <a:xfrm>
            <a:off x="2461680" y="36774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5" name="文本框 754"/>
          <p:cNvSpPr txBox="1"/>
          <p:nvPr/>
        </p:nvSpPr>
        <p:spPr>
          <a:xfrm>
            <a:off x="2522160" y="3672720"/>
            <a:ext cx="90043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准确率从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6" name="文本框 755"/>
          <p:cNvSpPr txBox="1"/>
          <p:nvPr/>
        </p:nvSpPr>
        <p:spPr>
          <a:xfrm>
            <a:off x="3370320" y="3677400"/>
            <a:ext cx="4647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7" name="文本框 756"/>
          <p:cNvSpPr txBox="1"/>
          <p:nvPr/>
        </p:nvSpPr>
        <p:spPr>
          <a:xfrm>
            <a:off x="3838680" y="3672720"/>
            <a:ext cx="69151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提升至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58" name="文本框 757"/>
          <p:cNvSpPr txBox="1"/>
          <p:nvPr/>
        </p:nvSpPr>
        <p:spPr>
          <a:xfrm>
            <a:off x="4474440" y="3677400"/>
            <a:ext cx="522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5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XX%;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60" name="文本框 759"/>
          <p:cNvSpPr txBox="1"/>
          <p:nvPr/>
        </p:nvSpPr>
        <p:spPr>
          <a:xfrm>
            <a:off x="698040" y="4009795"/>
            <a:ext cx="275844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00" b="0" i="0" u="none" strike="noStrike">
                <a:solidFill>
                  <a:srgbClr val="1B1D4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用户满意度从XX分提升至XX分</a:t>
            </a:r>
            <a:endParaRPr lang="zh-CN" sz="1600" b="0" i="0" u="none" strike="noStrike">
              <a:solidFill>
                <a:srgbClr val="1B1D4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5" name="文本框 764"/>
          <p:cNvSpPr txBox="1"/>
          <p:nvPr/>
        </p:nvSpPr>
        <p:spPr>
          <a:xfrm>
            <a:off x="697320" y="4702680"/>
            <a:ext cx="285178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1" i="0" u="none" strike="noStrike">
                <a:solidFill>
                  <a:srgbClr val="10133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问题三：项目能否实际部署?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69" name="文本框 768"/>
          <p:cNvSpPr txBox="1"/>
          <p:nvPr/>
        </p:nvSpPr>
        <p:spPr>
          <a:xfrm>
            <a:off x="696600" y="5158080"/>
            <a:ext cx="717575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C1E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答案:技术成熟度稳定,需要XX台服务器和XX存储,依赖服务包括API密钥和向量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82" name="文本框 781"/>
          <p:cNvSpPr txBox="1"/>
          <p:nvPr/>
        </p:nvSpPr>
        <p:spPr>
          <a:xfrm>
            <a:off x="697320" y="5415840"/>
            <a:ext cx="3887445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50" b="0" i="0" u="none" strike="noStrike">
                <a:solidFill>
                  <a:srgbClr val="1C1E4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数据库,落地难度中等,需要XX天完成部署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图片 78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0" name="文本框 789"/>
          <p:cNvSpPr txBox="1"/>
          <p:nvPr/>
        </p:nvSpPr>
        <p:spPr>
          <a:xfrm>
            <a:off x="1793520" y="2674440"/>
            <a:ext cx="9380268" cy="1198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8100" b="1" i="0" u="none" strike="noStrike">
                <a:solidFill>
                  <a:srgbClr val="041B4B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感谢聆听,欢迎提问</a:t>
            </a:r>
            <a:endParaRPr lang="en-US" sz="810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  <p:sp>
        <p:nvSpPr>
          <p:cNvPr id="793" name="文本框 792"/>
          <p:cNvSpPr txBox="1"/>
          <p:nvPr/>
        </p:nvSpPr>
        <p:spPr>
          <a:xfrm>
            <a:off x="3215160" y="5589360"/>
            <a:ext cx="6015990" cy="450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930" b="0" i="0" u="none" strike="noStrike">
                <a:solidFill>
                  <a:srgbClr val="111B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答辩人：[你的名字]</a:t>
            </a:r>
            <a:r>
              <a:rPr lang="en-US" altLang="zh-CN" sz="2930" b="0" i="0" u="none" strike="noStrike">
                <a:solidFill>
                  <a:srgbClr val="111B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930" b="0" i="0" u="none" strike="noStrike">
                <a:solidFill>
                  <a:srgbClr val="111B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en-US" altLang="zh-CN" sz="2930" b="0" i="0" u="none" strike="noStrike">
                <a:solidFill>
                  <a:srgbClr val="111B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930" b="0" i="0" u="none" strike="noStrike">
                <a:solidFill>
                  <a:srgbClr val="111B3E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2026年X月X日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2741</Words>
  <Application>WPS 演示</Application>
  <PresentationFormat/>
  <Paragraphs>518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Arial</vt:lpstr>
      <vt:lpstr>Symbol</vt:lpstr>
      <vt:lpstr>Noto Sans SC</vt:lpstr>
      <vt:lpstr>Times New Roman</vt:lpstr>
      <vt:lpstr>NotoSansCJKsc</vt:lpstr>
      <vt:lpstr>Segoe Print</vt:lpstr>
      <vt:lpstr>微软雅黑</vt:lpstr>
      <vt:lpstr>Arial Unicode MS</vt:lpstr>
      <vt:lpstr>Calibri</vt:lpstr>
      <vt:lpstr>DejaVu Sans</vt:lpstr>
      <vt:lpstr>NotoSansCJKsc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Jace</cp:lastModifiedBy>
  <cp:revision>6</cp:revision>
  <dcterms:created xsi:type="dcterms:W3CDTF">2026-02-04T05:56:50Z</dcterms:created>
  <dcterms:modified xsi:type="dcterms:W3CDTF">2026-02-04T06:09:56Z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7F9AD335906E407CB3CAACAAED7730AD_12</vt:lpwstr>
  </property>
</Properties>
</file>