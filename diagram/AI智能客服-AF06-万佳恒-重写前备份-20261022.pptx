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81" r:id="rId3"/>
    <p:sldId id="256" r:id="rId4"/>
    <p:sldId id="279" r:id="rId6"/>
    <p:sldId id="269" r:id="rId7"/>
    <p:sldId id="270" r:id="rId8"/>
    <p:sldId id="273" r:id="rId9"/>
    <p:sldId id="274" r:id="rId10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无标题节" id="{63884eed-f083-484a-939b-af55a248f992}">
          <p14:sldIdLst>
            <p14:sldId id="281"/>
            <p14:sldId id="256"/>
            <p14:sldId id="279"/>
            <p14:sldId id="269"/>
            <p14:sldId id="270"/>
            <p14:sldId id="273"/>
            <p14:sldId id="27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我先从整体架构说明项目。用户通过 Vue 页面提问，FastAPI 校验身份并建立 SSE 连接。会话服务负责同一会话的执行顺序、消息幂等和结果保存。LangGraph 决定本轮走政策、排查、官方入口，还是一般引导。知识端口访问 Milvus 和 Redis，MiniMax 只在最后一层辅助理解。PostgreSQL 保存会话、消息、审计和图状态。理解这条主链后，后面的流程就容易串起来。</a:t>
            </a:r>
          </a:p>
          <a:p/>
          <a:p>
            <a:r>
              <a:t>源码依据：agent_service/app/graph.py、knowledge_base.py、service.py、config.py、frontend/index.html。</a:t>
            </a:r>
          </a:p>
          <a:p>
            <a:r>
              <a:t>模型参数依据：https://platform.minimax.cn/docs/api-reference/text-openai-api</a:t>
            </a:r>
          </a:p>
          <a:p>
            <a:r>
              <a:t>当前 PostgreSQL 已保存会话记录和图状态。左上黄色虚线区域是拟增加的用户级长期记忆：在同一个 PostgreSQL 中增加 user_memories，按可信用户身份保存经过确认的偏好或咨询摘要。此部分尚未接入运行链路，后面的两页说明实施方案。当前模型配置为 MiniMax-M3，与参数页保持一致。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PostgreSQL 有两个存储职责。会话 Store 保存完整用户和助手消息、引用、入口、请求指纹和最终结果。图 checkpoint 保存 LangGraph 的运行状态，消息 reducer 仅保留最近二十条。两者分别配置，都已进入当前运行链路。会话锁使用 advisory lock，避免同一会话并发冲突。服务重启后的历史恢复依赖数据库记录，而不是进程里的临时对象。</a:t>
            </a:r>
          </a:p>
          <a:p/>
          <a:p>
            <a:r>
              <a:t>源码依据：agent_service/app/graph.py、knowledge_base.py、service.py、config.py、frontend/index.html。</a:t>
            </a:r>
          </a:p>
          <a:p>
            <a:r>
              <a:t>模型参数依据：https://platform.minimax.cn/docs/api-reference/text-openai-api</a:t>
            </a:r>
          </a:p>
          <a:p>
            <a:r>
              <a:t>这里的状态恢复以 conversation_id 为范围，新建会话不会自动读取用户偏好。最近二十条消息属于 checkpoint 上下文，完整聊天记录保存在消息表中；长期保存记录与跨会话主动使用记忆是两个不同能力。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这页讲长期记忆的拟定实施方案，目前尚未接入。当前会话状态使用 conversation_id，新增的长期记忆使用可信 JWT 中的 tenant_id 和 customer_id，因此同一个用户新建会话后仍能读取自己的记录。首版保存用户明确要求记住的常用咨询条件，以及用户确认保留、带有效期的咨询摘要。新会话读取有效记忆，在后续轮次复核更新和删除状态，使用本轮明确输入、当前会话已确认条件、记忆默认值的优先级合并。用户说这次问空调，就覆盖默认电脑，但不会自动修改长期偏好。明确确认的记忆经过品类和渠道白名单校验后，与本轮处理结果在同一事务保存。页面需要加载并显示已保存默认值，避免固定手机商城覆盖记忆。政策答案继续走现有知识检索，不把个人记忆当作政策依据。依据：本轮已讨论的 PG 长期记忆方案，以及 auth.py 的可信身份、service.py 的会话入口、postgres_store.py 的事务边界。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这些参数解释了系统如何工作。模型温度零点一用于分类，输出限制五百一十二 token。Embedding 为 BGE-M3 的一千零二十四维 dense 向量。Milvus 每次取十个候选，按身份聚合。意图与 FAQ 使用不同最低分和分差门槛。图最多十二步，输入预算四千零九十六是字符粗估，不是精确费用账本。参数是运行起点，需要随语料变化评估，不能把某个阈值解释为通用最优值。</a:t>
            </a:r>
          </a:p>
          <a:p/>
          <a:p>
            <a:r>
              <a:t>源码依据：agent_service/app/graph.py、knowledge_base.py、service.py、config.py、frontend/index.html。</a:t>
            </a:r>
          </a:p>
          <a:p>
            <a:r>
              <a:t>模型参数依据：https://platform.minimax.cn/docs/api-reference/text-openai-api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当前知识由 FAQ YAML 和政策 Markdown 构建，再写入 Milvus 和 Redis。后续运营需要把版本作为一个整体管理。先构建不可变发布快照，包含意图、问题、答案、条款及模型配置，再生成索引。每轮请求固定发布版本，所有读取使用同一版本。新版本准备齐全后切统一指针，旧版保留用于恢复。PG 知识管理域和运营后台属于后续配套，当前没有把它们画成已交付能力。</a:t>
            </a:r>
          </a:p>
          <a:p/>
          <a:p>
            <a:r>
              <a:t>源码依据：agent_service/app/graph.py、knowledge_base.py、service.py、config.py、frontend/index.html。</a:t>
            </a:r>
          </a:p>
          <a:p>
            <a:r>
              <a:t>模型参数依据：https://platform.minimax.cn/docs/api-reference/text-openai-api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cover-kicker"/>
          <p:cNvSpPr>
            <a:spLocks noGrp="1"/>
          </p:cNvSpPr>
          <p:nvPr/>
        </p:nvSpPr>
        <p:spPr>
          <a:xfrm>
            <a:off x="952500" y="112395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20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20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0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项目答辩</a:t>
            </a:r>
            <a:endParaRPr sz="2025" b="0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cover-title"/>
          <p:cNvSpPr>
            <a:spLocks noGrp="1"/>
          </p:cNvSpPr>
          <p:nvPr/>
        </p:nvSpPr>
        <p:spPr>
          <a:xfrm>
            <a:off x="914400" y="1638300"/>
            <a:ext cx="10287000" cy="1000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57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57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570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AI智能客服</a:t>
            </a:r>
            <a:endParaRPr sz="570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presenter"/>
          <p:cNvSpPr>
            <a:spLocks noGrp="1"/>
          </p:cNvSpPr>
          <p:nvPr/>
        </p:nvSpPr>
        <p:spPr>
          <a:xfrm>
            <a:off x="952500" y="2886075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24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24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400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答辩人：万佳恒</a:t>
            </a:r>
            <a:endParaRPr sz="2400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technical-document-label"/>
          <p:cNvSpPr>
            <a:spLocks noGrp="1"/>
          </p:cNvSpPr>
          <p:nvPr/>
        </p:nvSpPr>
        <p:spPr>
          <a:xfrm>
            <a:off x="952500" y="4257675"/>
            <a:ext cx="102870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endParaRPr sz="172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code-label"/>
          <p:cNvSpPr>
            <a:spLocks noGrp="1"/>
          </p:cNvSpPr>
          <p:nvPr/>
        </p:nvSpPr>
        <p:spPr>
          <a:xfrm>
            <a:off x="952500" y="5286375"/>
            <a:ext cx="102870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endParaRPr sz="172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41" name="直接箭头连接符 40"/>
          <p:cNvCxnSpPr>
            <a:stCxn id="24" idx="3"/>
            <a:endCxn id="30" idx="1"/>
          </p:cNvCxnSpPr>
          <p:nvPr/>
        </p:nvCxnSpPr>
        <p:spPr>
          <a:xfrm>
            <a:off x="9620250" y="4905375"/>
            <a:ext cx="428625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40" name="直接箭头连接符 39"/>
          <p:cNvCxnSpPr>
            <a:stCxn id="24" idx="1"/>
            <a:endCxn id="27" idx="3"/>
          </p:cNvCxnSpPr>
          <p:nvPr/>
        </p:nvCxnSpPr>
        <p:spPr>
          <a:xfrm flipH="1">
            <a:off x="6905625" y="4905375"/>
            <a:ext cx="428625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9" name="直接箭头连接符 38"/>
          <p:cNvCxnSpPr>
            <a:stCxn id="12" idx="2"/>
            <a:endCxn id="24" idx="0"/>
          </p:cNvCxnSpPr>
          <p:nvPr/>
        </p:nvCxnSpPr>
        <p:spPr>
          <a:xfrm>
            <a:off x="8477250" y="3771900"/>
            <a:ext cx="0" cy="657225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12" idx="0"/>
            <a:endCxn id="21" idx="2"/>
          </p:cNvCxnSpPr>
          <p:nvPr/>
        </p:nvCxnSpPr>
        <p:spPr>
          <a:xfrm flipV="1">
            <a:off x="8477250" y="2428875"/>
            <a:ext cx="0" cy="428625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9" idx="0"/>
            <a:endCxn id="18" idx="2"/>
          </p:cNvCxnSpPr>
          <p:nvPr/>
        </p:nvCxnSpPr>
        <p:spPr>
          <a:xfrm flipV="1">
            <a:off x="6000750" y="2428875"/>
            <a:ext cx="0" cy="428625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6" name="直接箭头连接符 35"/>
          <p:cNvCxnSpPr>
            <a:stCxn id="12" idx="3"/>
            <a:endCxn id="15" idx="1"/>
          </p:cNvCxnSpPr>
          <p:nvPr/>
        </p:nvCxnSpPr>
        <p:spPr>
          <a:xfrm>
            <a:off x="9382125" y="3314700"/>
            <a:ext cx="666750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5" name="直接箭头连接符 34"/>
          <p:cNvCxnSpPr>
            <a:stCxn id="9" idx="3"/>
            <a:endCxn id="12" idx="1"/>
          </p:cNvCxnSpPr>
          <p:nvPr/>
        </p:nvCxnSpPr>
        <p:spPr>
          <a:xfrm>
            <a:off x="6905625" y="3314700"/>
            <a:ext cx="666750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4" name="直接箭头连接符 33"/>
          <p:cNvCxnSpPr>
            <a:stCxn id="6" idx="3"/>
            <a:endCxn id="9" idx="1"/>
          </p:cNvCxnSpPr>
          <p:nvPr/>
        </p:nvCxnSpPr>
        <p:spPr>
          <a:xfrm>
            <a:off x="4429125" y="3314700"/>
            <a:ext cx="666750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33" name="直接箭头连接符 32"/>
          <p:cNvCxnSpPr>
            <a:stCxn id="3" idx="3"/>
            <a:endCxn id="6" idx="1"/>
          </p:cNvCxnSpPr>
          <p:nvPr/>
        </p:nvCxnSpPr>
        <p:spPr>
          <a:xfrm>
            <a:off x="2143125" y="3314700"/>
            <a:ext cx="666750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sp>
        <p:nvSpPr>
          <p:cNvPr id="43" name="title"/>
          <p:cNvSpPr>
            <a:spLocks noGrp="1"/>
          </p:cNvSpPr>
          <p:nvPr/>
        </p:nvSpPr>
        <p:spPr>
          <a:xfrm>
            <a:off x="609600" y="533400"/>
            <a:ext cx="107442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AI </a:t>
            </a: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智能客服</a:t>
            </a: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架构</a:t>
            </a:r>
            <a:endParaRPr sz="33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39500" y="2762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01</a:t>
            </a:r>
            <a:endParaRPr sz="1350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节点 Vue 3"/>
          <p:cNvSpPr>
            <a:spLocks noGrp="1"/>
          </p:cNvSpPr>
          <p:nvPr/>
        </p:nvSpPr>
        <p:spPr>
          <a:xfrm>
            <a:off x="523875" y="2857500"/>
            <a:ext cx="1619250" cy="914400"/>
          </a:xfrm>
          <a:prstGeom prst="roundRect">
            <a:avLst>
              <a:gd name="adj" fmla="val 10417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4" name="节点标题"/>
          <p:cNvSpPr>
            <a:spLocks noGrp="1"/>
          </p:cNvSpPr>
          <p:nvPr/>
        </p:nvSpPr>
        <p:spPr>
          <a:xfrm>
            <a:off x="638175" y="3028950"/>
            <a:ext cx="1390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Vue 3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节点说明"/>
          <p:cNvSpPr>
            <a:spLocks noGrp="1"/>
          </p:cNvSpPr>
          <p:nvPr/>
        </p:nvSpPr>
        <p:spPr>
          <a:xfrm>
            <a:off x="638175" y="3419475"/>
            <a:ext cx="1390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自然语言提问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节点 FastAPI"/>
          <p:cNvSpPr>
            <a:spLocks noGrp="1"/>
          </p:cNvSpPr>
          <p:nvPr/>
        </p:nvSpPr>
        <p:spPr>
          <a:xfrm>
            <a:off x="2809875" y="2857500"/>
            <a:ext cx="1619250" cy="914400"/>
          </a:xfrm>
          <a:prstGeom prst="roundRect">
            <a:avLst>
              <a:gd name="adj" fmla="val 10417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7" name="节点标题"/>
          <p:cNvSpPr>
            <a:spLocks noGrp="1"/>
          </p:cNvSpPr>
          <p:nvPr/>
        </p:nvSpPr>
        <p:spPr>
          <a:xfrm>
            <a:off x="2924175" y="3028950"/>
            <a:ext cx="1390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FastAPI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节点说明"/>
          <p:cNvSpPr>
            <a:spLocks noGrp="1"/>
          </p:cNvSpPr>
          <p:nvPr/>
        </p:nvSpPr>
        <p:spPr>
          <a:xfrm>
            <a:off x="2924175" y="3419475"/>
            <a:ext cx="1390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JWT / SSE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9" name="节点 会话服务"/>
          <p:cNvSpPr>
            <a:spLocks noGrp="1"/>
          </p:cNvSpPr>
          <p:nvPr/>
        </p:nvSpPr>
        <p:spPr>
          <a:xfrm>
            <a:off x="5095875" y="2857500"/>
            <a:ext cx="1809750" cy="914400"/>
          </a:xfrm>
          <a:prstGeom prst="roundRect">
            <a:avLst>
              <a:gd name="adj" fmla="val 10417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10" name="节点标题"/>
          <p:cNvSpPr>
            <a:spLocks noGrp="1"/>
          </p:cNvSpPr>
          <p:nvPr/>
        </p:nvSpPr>
        <p:spPr>
          <a:xfrm>
            <a:off x="5210175" y="3028950"/>
            <a:ext cx="1581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会话服务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节点说明"/>
          <p:cNvSpPr>
            <a:spLocks noGrp="1"/>
          </p:cNvSpPr>
          <p:nvPr/>
        </p:nvSpPr>
        <p:spPr>
          <a:xfrm>
            <a:off x="5210175" y="3419475"/>
            <a:ext cx="1581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会话锁与幂等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节点 LangGraph"/>
          <p:cNvSpPr>
            <a:spLocks noGrp="1"/>
          </p:cNvSpPr>
          <p:nvPr/>
        </p:nvSpPr>
        <p:spPr>
          <a:xfrm>
            <a:off x="7572375" y="2857500"/>
            <a:ext cx="1809750" cy="914400"/>
          </a:xfrm>
          <a:prstGeom prst="roundRect">
            <a:avLst>
              <a:gd name="adj" fmla="val 10417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13" name="节点标题"/>
          <p:cNvSpPr>
            <a:spLocks noGrp="1"/>
          </p:cNvSpPr>
          <p:nvPr/>
        </p:nvSpPr>
        <p:spPr>
          <a:xfrm>
            <a:off x="7686675" y="3028950"/>
            <a:ext cx="1581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LangGraph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节点说明"/>
          <p:cNvSpPr>
            <a:spLocks noGrp="1"/>
          </p:cNvSpPr>
          <p:nvPr/>
        </p:nvSpPr>
        <p:spPr>
          <a:xfrm>
            <a:off x="7686675" y="3419475"/>
            <a:ext cx="15811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路由与流程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节点 官方页面"/>
          <p:cNvSpPr>
            <a:spLocks noGrp="1"/>
          </p:cNvSpPr>
          <p:nvPr/>
        </p:nvSpPr>
        <p:spPr>
          <a:xfrm>
            <a:off x="10048875" y="2857500"/>
            <a:ext cx="1619250" cy="914400"/>
          </a:xfrm>
          <a:prstGeom prst="roundRect">
            <a:avLst>
              <a:gd name="adj" fmla="val 10417"/>
            </a:avLst>
          </a:prstGeom>
          <a:solidFill>
            <a:srgbClr val="F5E9D1"/>
          </a:solidFill>
          <a:ln w="11430">
            <a:solidFill>
              <a:srgbClr val="7B98A8"/>
            </a:solidFill>
          </a:ln>
        </p:spPr>
      </p:sp>
      <p:sp>
        <p:nvSpPr>
          <p:cNvPr id="16" name="节点标题"/>
          <p:cNvSpPr>
            <a:spLocks noGrp="1"/>
          </p:cNvSpPr>
          <p:nvPr/>
        </p:nvSpPr>
        <p:spPr>
          <a:xfrm>
            <a:off x="10163175" y="3028950"/>
            <a:ext cx="1390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官方页面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节点说明"/>
          <p:cNvSpPr>
            <a:spLocks noGrp="1"/>
          </p:cNvSpPr>
          <p:nvPr/>
        </p:nvSpPr>
        <p:spPr>
          <a:xfrm>
            <a:off x="10163175" y="3419475"/>
            <a:ext cx="1390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用户继续办理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节点 PostgreSQL"/>
          <p:cNvSpPr>
            <a:spLocks noGrp="1"/>
          </p:cNvSpPr>
          <p:nvPr/>
        </p:nvSpPr>
        <p:spPr>
          <a:xfrm>
            <a:off x="5095875" y="1571625"/>
            <a:ext cx="1809750" cy="857250"/>
          </a:xfrm>
          <a:prstGeom prst="roundRect">
            <a:avLst>
              <a:gd name="adj" fmla="val 11111"/>
            </a:avLst>
          </a:prstGeom>
          <a:solidFill>
            <a:srgbClr val="E4EAF7"/>
          </a:solidFill>
          <a:ln w="11430">
            <a:solidFill>
              <a:srgbClr val="7B98A8"/>
            </a:solidFill>
          </a:ln>
        </p:spPr>
      </p:sp>
      <p:sp>
        <p:nvSpPr>
          <p:cNvPr id="19" name="节点标题"/>
          <p:cNvSpPr>
            <a:spLocks noGrp="1"/>
          </p:cNvSpPr>
          <p:nvPr/>
        </p:nvSpPr>
        <p:spPr>
          <a:xfrm>
            <a:off x="5210175" y="1743075"/>
            <a:ext cx="1581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PostgreSQL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0" name="节点说明"/>
          <p:cNvSpPr>
            <a:spLocks noGrp="1"/>
          </p:cNvSpPr>
          <p:nvPr/>
        </p:nvSpPr>
        <p:spPr>
          <a:xfrm>
            <a:off x="5210175" y="2133600"/>
            <a:ext cx="1581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会话与图状态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1" name="节点 MiniMax-M3"/>
          <p:cNvSpPr>
            <a:spLocks noGrp="1"/>
          </p:cNvSpPr>
          <p:nvPr/>
        </p:nvSpPr>
        <p:spPr>
          <a:xfrm>
            <a:off x="7572375" y="1571625"/>
            <a:ext cx="1809750" cy="857250"/>
          </a:xfrm>
          <a:prstGeom prst="roundRect">
            <a:avLst>
              <a:gd name="adj" fmla="val 11111"/>
            </a:avLst>
          </a:prstGeom>
          <a:solidFill>
            <a:srgbClr val="F5E9D1"/>
          </a:solidFill>
          <a:ln w="11430">
            <a:solidFill>
              <a:srgbClr val="7B98A8"/>
            </a:solidFill>
          </a:ln>
        </p:spPr>
      </p:sp>
      <p:sp>
        <p:nvSpPr>
          <p:cNvPr id="22" name="节点标题"/>
          <p:cNvSpPr>
            <a:spLocks noGrp="1"/>
          </p:cNvSpPr>
          <p:nvPr/>
        </p:nvSpPr>
        <p:spPr>
          <a:xfrm>
            <a:off x="7686675" y="1743075"/>
            <a:ext cx="1581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MiniMax-M3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3" name="节点说明"/>
          <p:cNvSpPr>
            <a:spLocks noGrp="1"/>
          </p:cNvSpPr>
          <p:nvPr/>
        </p:nvSpPr>
        <p:spPr>
          <a:xfrm>
            <a:off x="7686675" y="2133600"/>
            <a:ext cx="1581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4" name="节点 KnowledgeStore"/>
          <p:cNvSpPr>
            <a:spLocks noGrp="1"/>
          </p:cNvSpPr>
          <p:nvPr/>
        </p:nvSpPr>
        <p:spPr>
          <a:xfrm>
            <a:off x="7334250" y="4429125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25" name="节点标题"/>
          <p:cNvSpPr>
            <a:spLocks noGrp="1"/>
          </p:cNvSpPr>
          <p:nvPr/>
        </p:nvSpPr>
        <p:spPr>
          <a:xfrm>
            <a:off x="7448550" y="4600575"/>
            <a:ext cx="2057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KnowledgeStore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6" name="节点说明"/>
          <p:cNvSpPr>
            <a:spLocks noGrp="1"/>
          </p:cNvSpPr>
          <p:nvPr/>
        </p:nvSpPr>
        <p:spPr>
          <a:xfrm>
            <a:off x="7448550" y="4991100"/>
            <a:ext cx="2057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FAQ 与答案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7" name="节点 Milvus"/>
          <p:cNvSpPr>
            <a:spLocks noGrp="1"/>
          </p:cNvSpPr>
          <p:nvPr/>
        </p:nvSpPr>
        <p:spPr>
          <a:xfrm>
            <a:off x="5095875" y="4429125"/>
            <a:ext cx="1809750" cy="952500"/>
          </a:xfrm>
          <a:prstGeom prst="roundRect">
            <a:avLst>
              <a:gd name="adj" fmla="val 10000"/>
            </a:avLst>
          </a:prstGeom>
          <a:solidFill>
            <a:srgbClr val="E4EAF7"/>
          </a:solidFill>
          <a:ln w="11430">
            <a:solidFill>
              <a:srgbClr val="7B98A8"/>
            </a:solidFill>
          </a:ln>
        </p:spPr>
      </p:sp>
      <p:sp>
        <p:nvSpPr>
          <p:cNvPr id="28" name="节点标题"/>
          <p:cNvSpPr>
            <a:spLocks noGrp="1"/>
          </p:cNvSpPr>
          <p:nvPr/>
        </p:nvSpPr>
        <p:spPr>
          <a:xfrm>
            <a:off x="5210175" y="4600575"/>
            <a:ext cx="1581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Milvus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9" name="节点说明"/>
          <p:cNvSpPr>
            <a:spLocks noGrp="1"/>
          </p:cNvSpPr>
          <p:nvPr/>
        </p:nvSpPr>
        <p:spPr>
          <a:xfrm>
            <a:off x="5210175" y="4991100"/>
            <a:ext cx="15811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BGE-M3 1024 维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0" name="节点 Redis"/>
          <p:cNvSpPr>
            <a:spLocks noGrp="1"/>
          </p:cNvSpPr>
          <p:nvPr/>
        </p:nvSpPr>
        <p:spPr>
          <a:xfrm>
            <a:off x="10048875" y="4429125"/>
            <a:ext cx="1619250" cy="952500"/>
          </a:xfrm>
          <a:prstGeom prst="roundRect">
            <a:avLst>
              <a:gd name="adj" fmla="val 10000"/>
            </a:avLst>
          </a:prstGeom>
          <a:solidFill>
            <a:srgbClr val="E4EAF7"/>
          </a:solidFill>
          <a:ln w="11430">
            <a:solidFill>
              <a:srgbClr val="7B98A8"/>
            </a:solidFill>
          </a:ln>
        </p:spPr>
      </p:sp>
      <p:sp>
        <p:nvSpPr>
          <p:cNvPr id="31" name="节点标题"/>
          <p:cNvSpPr>
            <a:spLocks noGrp="1"/>
          </p:cNvSpPr>
          <p:nvPr/>
        </p:nvSpPr>
        <p:spPr>
          <a:xfrm>
            <a:off x="10163175" y="4600575"/>
            <a:ext cx="1390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Redis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2" name="节点说明"/>
          <p:cNvSpPr>
            <a:spLocks noGrp="1"/>
          </p:cNvSpPr>
          <p:nvPr/>
        </p:nvSpPr>
        <p:spPr>
          <a:xfrm>
            <a:off x="10163175" y="4991100"/>
            <a:ext cx="1390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索引与答案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2" name="takeaway"/>
          <p:cNvSpPr>
            <a:spLocks noGrp="1"/>
          </p:cNvSpPr>
          <p:nvPr/>
        </p:nvSpPr>
        <p:spPr>
          <a:xfrm>
            <a:off x="609600" y="61626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网页承接问题，LangGraph 分流，知识与会话各有归属</a:t>
            </a:r>
            <a:endParaRPr sz="20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4" name="planned-user-memory"/>
          <p:cNvSpPr>
            <a:spLocks noGrp="1"/>
          </p:cNvSpPr>
          <p:nvPr/>
        </p:nvSpPr>
        <p:spPr>
          <a:xfrm>
            <a:off x="609600" y="1571625"/>
            <a:ext cx="3810000" cy="857250"/>
          </a:xfrm>
          <a:prstGeom prst="roundRect">
            <a:avLst>
              <a:gd name="adj" fmla="val 11111"/>
            </a:avLst>
          </a:prstGeom>
          <a:solidFill>
            <a:srgbClr val="F5E9D1"/>
          </a:solidFill>
          <a:ln w="12383">
            <a:solidFill>
              <a:srgbClr val="7B98A8"/>
            </a:solidFill>
          </a:ln>
        </p:spPr>
      </p:sp>
      <p:sp>
        <p:nvSpPr>
          <p:cNvPr id="45" name="planned-user-memory-title"/>
          <p:cNvSpPr>
            <a:spLocks noGrp="1"/>
          </p:cNvSpPr>
          <p:nvPr/>
        </p:nvSpPr>
        <p:spPr>
          <a:xfrm>
            <a:off x="742950" y="1666875"/>
            <a:ext cx="3543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规划：用户长期记忆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6" name="planned-user-memory-detail"/>
          <p:cNvSpPr>
            <a:spLocks noGrp="1"/>
          </p:cNvSpPr>
          <p:nvPr/>
        </p:nvSpPr>
        <p:spPr>
          <a:xfrm>
            <a:off x="742950" y="2047875"/>
            <a:ext cx="3543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偏好 / 摘要 · 按用户隔离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7" name="planned-memory-postgres"/>
          <p:cNvSpPr>
            <a:spLocks noGrp="1"/>
          </p:cNvSpPr>
          <p:nvPr/>
        </p:nvSpPr>
        <p:spPr>
          <a:xfrm>
            <a:off x="4419600" y="2000250"/>
            <a:ext cx="676275" cy="9525"/>
          </a:xfrm>
          <a:custGeom>
            <a:avLst/>
            <a:gdLst/>
            <a:ahLst/>
            <a:cxnLst/>
            <a:pathLst>
              <a:path w="676275" h="9525">
                <a:moveTo>
                  <a:pt x="0" y="0"/>
                </a:moveTo>
                <a:lnTo>
                  <a:pt x="676275" y="0"/>
                </a:lnTo>
              </a:path>
            </a:pathLst>
          </a:custGeom>
          <a:noFill/>
          <a:ln w="19050">
            <a:solidFill>
              <a:srgbClr val="087F8C"/>
            </a:solidFill>
            <a:prstDash val="dash"/>
          </a:ln>
        </p:spPr>
      </p:sp>
      <p:cxnSp>
        <p:nvCxnSpPr>
          <p:cNvPr id="48" name="planned-memory-postgres-arrow"/>
          <p:cNvCxnSpPr/>
          <p:nvPr/>
        </p:nvCxnSpPr>
        <p:spPr>
          <a:xfrm>
            <a:off x="4981575" y="2000250"/>
            <a:ext cx="114300" cy="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44220" y="-2044065"/>
            <a:ext cx="12557760" cy="9852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845" y="0"/>
            <a:ext cx="90843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3" name="肘形连接符 12"/>
          <p:cNvCxnSpPr>
            <a:stCxn id="6" idx="3"/>
            <a:endCxn id="9" idx="1"/>
          </p:cNvCxnSpPr>
          <p:nvPr/>
        </p:nvCxnSpPr>
        <p:spPr>
          <a:xfrm flipV="1">
            <a:off x="4143375" y="3643313"/>
            <a:ext cx="3190875" cy="1047750"/>
          </a:xfrm>
          <a:prstGeom prst="bentConnector3">
            <a:avLst>
              <a:gd name="adj1" fmla="val 50000"/>
            </a:avLst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12" name="肘形连接符 11"/>
          <p:cNvCxnSpPr>
            <a:stCxn id="3" idx="3"/>
            <a:endCxn id="9" idx="1"/>
          </p:cNvCxnSpPr>
          <p:nvPr/>
        </p:nvCxnSpPr>
        <p:spPr>
          <a:xfrm>
            <a:off x="4143375" y="2500313"/>
            <a:ext cx="3190875" cy="1143000"/>
          </a:xfrm>
          <a:prstGeom prst="bentConnector3">
            <a:avLst>
              <a:gd name="adj1" fmla="val 50000"/>
            </a:avLst>
          </a:prstGeom>
          <a:ln w="20955">
            <a:solidFill>
              <a:srgbClr val="087F8C"/>
            </a:solidFill>
            <a:tailEnd type="triangle" w="sm" len="sm"/>
          </a:ln>
        </p:spPr>
      </p:cxnSp>
      <p:sp>
        <p:nvSpPr>
          <p:cNvPr id="16" name="title"/>
          <p:cNvSpPr>
            <a:spLocks noGrp="1"/>
          </p:cNvSpPr>
          <p:nvPr/>
        </p:nvSpPr>
        <p:spPr>
          <a:xfrm>
            <a:off x="609600" y="533400"/>
            <a:ext cx="107442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PostgreSQL 会话与图状态</a:t>
            </a:r>
            <a:endParaRPr sz="33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39500" y="2762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14</a:t>
            </a:r>
            <a:endParaRPr sz="1350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节点 会话 Store"/>
          <p:cNvSpPr>
            <a:spLocks noGrp="1"/>
          </p:cNvSpPr>
          <p:nvPr/>
        </p:nvSpPr>
        <p:spPr>
          <a:xfrm>
            <a:off x="714375" y="1952625"/>
            <a:ext cx="3429000" cy="1095375"/>
          </a:xfrm>
          <a:prstGeom prst="roundRect">
            <a:avLst>
              <a:gd name="adj" fmla="val 8696"/>
            </a:avLst>
          </a:prstGeom>
          <a:solidFill>
            <a:srgbClr val="E4EAF7"/>
          </a:solidFill>
          <a:ln w="11430">
            <a:solidFill>
              <a:srgbClr val="7B98A8"/>
            </a:solidFill>
          </a:ln>
        </p:spPr>
      </p:sp>
      <p:sp>
        <p:nvSpPr>
          <p:cNvPr id="4" name="节点标题"/>
          <p:cNvSpPr>
            <a:spLocks noGrp="1"/>
          </p:cNvSpPr>
          <p:nvPr/>
        </p:nvSpPr>
        <p:spPr>
          <a:xfrm>
            <a:off x="828675" y="2124075"/>
            <a:ext cx="320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会话 Store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5" name="节点说明"/>
          <p:cNvSpPr>
            <a:spLocks noGrp="1"/>
          </p:cNvSpPr>
          <p:nvPr/>
        </p:nvSpPr>
        <p:spPr>
          <a:xfrm>
            <a:off x="828675" y="251460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完整消息与最终结果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节点 图 checkpoint"/>
          <p:cNvSpPr>
            <a:spLocks noGrp="1"/>
          </p:cNvSpPr>
          <p:nvPr/>
        </p:nvSpPr>
        <p:spPr>
          <a:xfrm>
            <a:off x="714375" y="4143375"/>
            <a:ext cx="3429000" cy="1095375"/>
          </a:xfrm>
          <a:prstGeom prst="roundRect">
            <a:avLst>
              <a:gd name="adj" fmla="val 8696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7" name="节点标题"/>
          <p:cNvSpPr>
            <a:spLocks noGrp="1"/>
          </p:cNvSpPr>
          <p:nvPr/>
        </p:nvSpPr>
        <p:spPr>
          <a:xfrm>
            <a:off x="828675" y="4314825"/>
            <a:ext cx="32004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图 checkpoint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节点说明"/>
          <p:cNvSpPr>
            <a:spLocks noGrp="1"/>
          </p:cNvSpPr>
          <p:nvPr/>
        </p:nvSpPr>
        <p:spPr>
          <a:xfrm>
            <a:off x="828675" y="47053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最近 20 条状态消息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9" name="节点 PostgreSQL"/>
          <p:cNvSpPr>
            <a:spLocks noGrp="1"/>
          </p:cNvSpPr>
          <p:nvPr/>
        </p:nvSpPr>
        <p:spPr>
          <a:xfrm>
            <a:off x="7334250" y="2952750"/>
            <a:ext cx="4048125" cy="1381125"/>
          </a:xfrm>
          <a:prstGeom prst="roundRect">
            <a:avLst>
              <a:gd name="adj" fmla="val 6897"/>
            </a:avLst>
          </a:prstGeom>
          <a:solidFill>
            <a:srgbClr val="E4EAF7"/>
          </a:solidFill>
          <a:ln w="11430">
            <a:solidFill>
              <a:srgbClr val="7B98A8"/>
            </a:solidFill>
          </a:ln>
        </p:spPr>
      </p:sp>
      <p:sp>
        <p:nvSpPr>
          <p:cNvPr id="10" name="节点标题"/>
          <p:cNvSpPr>
            <a:spLocks noGrp="1"/>
          </p:cNvSpPr>
          <p:nvPr/>
        </p:nvSpPr>
        <p:spPr>
          <a:xfrm>
            <a:off x="7448550" y="3124200"/>
            <a:ext cx="3819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PostgreSQL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1" name="节点说明"/>
          <p:cNvSpPr>
            <a:spLocks noGrp="1"/>
          </p:cNvSpPr>
          <p:nvPr/>
        </p:nvSpPr>
        <p:spPr>
          <a:xfrm>
            <a:off x="7448550" y="3514725"/>
            <a:ext cx="38195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分别保存两类记录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4" name="body"/>
          <p:cNvSpPr>
            <a:spLocks noGrp="1"/>
          </p:cNvSpPr>
          <p:nvPr/>
        </p:nvSpPr>
        <p:spPr>
          <a:xfrm>
            <a:off x="4429125" y="5286375"/>
            <a:ext cx="7239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advisory lock 控制同会话顺序</a:t>
            </a:r>
            <a:endParaRPr sz="21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takeaway"/>
          <p:cNvSpPr>
            <a:spLocks noGrp="1"/>
          </p:cNvSpPr>
          <p:nvPr/>
        </p:nvSpPr>
        <p:spPr>
          <a:xfrm>
            <a:off x="609600" y="61626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当前按会话恢复；跨会话用户记忆按后续方案扩展</a:t>
            </a:r>
            <a:endParaRPr sz="20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title"/>
          <p:cNvSpPr>
            <a:spLocks noGrp="1"/>
          </p:cNvSpPr>
          <p:nvPr/>
        </p:nvSpPr>
        <p:spPr>
          <a:xfrm>
            <a:off x="609600" y="514350"/>
            <a:ext cx="1081087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PostgreSQL 长期记忆方案</a:t>
            </a:r>
            <a:endParaRPr sz="33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39500" y="26670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15</a:t>
            </a:r>
            <a:endParaRPr sz="1350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plan-status"/>
          <p:cNvSpPr>
            <a:spLocks noGrp="1"/>
          </p:cNvSpPr>
          <p:nvPr/>
        </p:nvSpPr>
        <p:spPr>
          <a:xfrm>
            <a:off x="609600" y="11811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00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00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00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规划：跨会话复用用户已确认的信息</a:t>
            </a:r>
            <a:endParaRPr sz="1800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trusted-identity"/>
          <p:cNvSpPr>
            <a:spLocks noGrp="1"/>
          </p:cNvSpPr>
          <p:nvPr/>
        </p:nvSpPr>
        <p:spPr>
          <a:xfrm>
            <a:off x="609600" y="186690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E3EBF6"/>
          </a:solidFill>
          <a:ln w="12383">
            <a:solidFill>
              <a:srgbClr val="7B98A8"/>
            </a:solidFill>
          </a:ln>
        </p:spPr>
      </p:sp>
      <p:sp>
        <p:nvSpPr>
          <p:cNvPr id="5" name="trusted-identity-title"/>
          <p:cNvSpPr>
            <a:spLocks noGrp="1"/>
          </p:cNvSpPr>
          <p:nvPr/>
        </p:nvSpPr>
        <p:spPr>
          <a:xfrm>
            <a:off x="742950" y="196215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可信用户身份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trusted-identity-detail"/>
          <p:cNvSpPr>
            <a:spLocks noGrp="1"/>
          </p:cNvSpPr>
          <p:nvPr/>
        </p:nvSpPr>
        <p:spPr>
          <a:xfrm>
            <a:off x="742950" y="234315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JWT 租户与用户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7" name="load-memory"/>
          <p:cNvSpPr>
            <a:spLocks noGrp="1"/>
          </p:cNvSpPr>
          <p:nvPr/>
        </p:nvSpPr>
        <p:spPr>
          <a:xfrm>
            <a:off x="3352800" y="186690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E0F0EF"/>
          </a:solidFill>
          <a:ln w="12383">
            <a:solidFill>
              <a:srgbClr val="7B98A8"/>
            </a:solidFill>
          </a:ln>
        </p:spPr>
      </p:sp>
      <p:sp>
        <p:nvSpPr>
          <p:cNvPr id="8" name="load-memory-title"/>
          <p:cNvSpPr>
            <a:spLocks noGrp="1"/>
          </p:cNvSpPr>
          <p:nvPr/>
        </p:nvSpPr>
        <p:spPr>
          <a:xfrm>
            <a:off x="3486150" y="196215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读取有效记忆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9" name="load-memory-detail"/>
          <p:cNvSpPr>
            <a:spLocks noGrp="1"/>
          </p:cNvSpPr>
          <p:nvPr/>
        </p:nvSpPr>
        <p:spPr>
          <a:xfrm>
            <a:off x="3486150" y="234315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当前用户 · 未过期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merge-context"/>
          <p:cNvSpPr>
            <a:spLocks noGrp="1"/>
          </p:cNvSpPr>
          <p:nvPr/>
        </p:nvSpPr>
        <p:spPr>
          <a:xfrm>
            <a:off x="6096000" y="1866900"/>
            <a:ext cx="2286000" cy="952500"/>
          </a:xfrm>
          <a:prstGeom prst="roundRect">
            <a:avLst>
              <a:gd name="adj" fmla="val 10000"/>
            </a:avLst>
          </a:prstGeom>
          <a:solidFill>
            <a:srgbClr val="E0F0EF"/>
          </a:solidFill>
          <a:ln w="12383">
            <a:solidFill>
              <a:srgbClr val="7B98A8"/>
            </a:solidFill>
          </a:ln>
        </p:spPr>
      </p:sp>
      <p:sp>
        <p:nvSpPr>
          <p:cNvPr id="11" name="merge-context-title"/>
          <p:cNvSpPr>
            <a:spLocks noGrp="1"/>
          </p:cNvSpPr>
          <p:nvPr/>
        </p:nvSpPr>
        <p:spPr>
          <a:xfrm>
            <a:off x="6229350" y="1962150"/>
            <a:ext cx="2019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合并本轮上下文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2" name="merge-context-detail"/>
          <p:cNvSpPr>
            <a:spLocks noGrp="1"/>
          </p:cNvSpPr>
          <p:nvPr/>
        </p:nvSpPr>
        <p:spPr>
          <a:xfrm>
            <a:off x="6229350" y="2343150"/>
            <a:ext cx="20193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明确输入优先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3" name="business-graph"/>
          <p:cNvSpPr>
            <a:spLocks noGrp="1"/>
          </p:cNvSpPr>
          <p:nvPr/>
        </p:nvSpPr>
        <p:spPr>
          <a:xfrm>
            <a:off x="8839200" y="1866900"/>
            <a:ext cx="2743200" cy="952500"/>
          </a:xfrm>
          <a:prstGeom prst="roundRect">
            <a:avLst>
              <a:gd name="adj" fmla="val 10000"/>
            </a:avLst>
          </a:prstGeom>
          <a:solidFill>
            <a:srgbClr val="E0F0EF"/>
          </a:solidFill>
          <a:ln w="12383">
            <a:solidFill>
              <a:srgbClr val="7B98A8"/>
            </a:solidFill>
          </a:ln>
        </p:spPr>
      </p:sp>
      <p:sp>
        <p:nvSpPr>
          <p:cNvPr id="14" name="business-graph-title"/>
          <p:cNvSpPr>
            <a:spLocks noGrp="1"/>
          </p:cNvSpPr>
          <p:nvPr/>
        </p:nvSpPr>
        <p:spPr>
          <a:xfrm>
            <a:off x="8972550" y="19621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执行业务图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business-graph-detail"/>
          <p:cNvSpPr>
            <a:spLocks noGrp="1"/>
          </p:cNvSpPr>
          <p:nvPr/>
        </p:nvSpPr>
        <p:spPr>
          <a:xfrm>
            <a:off x="8972550" y="2343150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检索、复核与回复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identity-read"/>
          <p:cNvSpPr>
            <a:spLocks noGrp="1"/>
          </p:cNvSpPr>
          <p:nvPr/>
        </p:nvSpPr>
        <p:spPr>
          <a:xfrm>
            <a:off x="2895600" y="23431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087F8C"/>
            </a:solidFill>
            <a:prstDash val="solid"/>
          </a:ln>
        </p:spPr>
      </p:sp>
      <p:cxnSp>
        <p:nvCxnSpPr>
          <p:cNvPr id="17" name="identity-read-arrow"/>
          <p:cNvCxnSpPr/>
          <p:nvPr/>
        </p:nvCxnSpPr>
        <p:spPr>
          <a:xfrm>
            <a:off x="3238500" y="2343150"/>
            <a:ext cx="114300" cy="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sp>
        <p:nvSpPr>
          <p:cNvPr id="18" name="read-merge"/>
          <p:cNvSpPr>
            <a:spLocks noGrp="1"/>
          </p:cNvSpPr>
          <p:nvPr/>
        </p:nvSpPr>
        <p:spPr>
          <a:xfrm>
            <a:off x="5638800" y="23431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087F8C"/>
            </a:solidFill>
            <a:prstDash val="solid"/>
          </a:ln>
        </p:spPr>
      </p:sp>
      <p:cxnSp>
        <p:nvCxnSpPr>
          <p:cNvPr id="19" name="read-merge-arrow"/>
          <p:cNvCxnSpPr/>
          <p:nvPr/>
        </p:nvCxnSpPr>
        <p:spPr>
          <a:xfrm>
            <a:off x="5981700" y="2343150"/>
            <a:ext cx="114300" cy="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sp>
        <p:nvSpPr>
          <p:cNvPr id="20" name="merge-graph"/>
          <p:cNvSpPr>
            <a:spLocks noGrp="1"/>
          </p:cNvSpPr>
          <p:nvPr/>
        </p:nvSpPr>
        <p:spPr>
          <a:xfrm>
            <a:off x="8382000" y="2343150"/>
            <a:ext cx="457200" cy="9525"/>
          </a:xfrm>
          <a:custGeom>
            <a:avLst/>
            <a:gdLst/>
            <a:ahLst/>
            <a:cxnLst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087F8C"/>
            </a:solidFill>
            <a:prstDash val="solid"/>
          </a:ln>
        </p:spPr>
      </p:sp>
      <p:cxnSp>
        <p:nvCxnSpPr>
          <p:cNvPr id="21" name="merge-graph-arrow"/>
          <p:cNvCxnSpPr/>
          <p:nvPr/>
        </p:nvCxnSpPr>
        <p:spPr>
          <a:xfrm>
            <a:off x="8724900" y="2343150"/>
            <a:ext cx="114300" cy="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sp>
        <p:nvSpPr>
          <p:cNvPr id="22" name="pg-user-memories"/>
          <p:cNvSpPr>
            <a:spLocks noGrp="1"/>
          </p:cNvSpPr>
          <p:nvPr/>
        </p:nvSpPr>
        <p:spPr>
          <a:xfrm>
            <a:off x="3352800" y="3905250"/>
            <a:ext cx="3429000" cy="1000125"/>
          </a:xfrm>
          <a:prstGeom prst="roundRect">
            <a:avLst>
              <a:gd name="adj" fmla="val 9524"/>
            </a:avLst>
          </a:prstGeom>
          <a:solidFill>
            <a:srgbClr val="E3EBF6"/>
          </a:solidFill>
          <a:ln w="12383">
            <a:solidFill>
              <a:srgbClr val="7B98A8"/>
            </a:solidFill>
          </a:ln>
        </p:spPr>
      </p:sp>
      <p:sp>
        <p:nvSpPr>
          <p:cNvPr id="23" name="pg-user-memories-title"/>
          <p:cNvSpPr>
            <a:spLocks noGrp="1"/>
          </p:cNvSpPr>
          <p:nvPr/>
        </p:nvSpPr>
        <p:spPr>
          <a:xfrm>
            <a:off x="3486150" y="4000500"/>
            <a:ext cx="31623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PG · user_memories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4" name="pg-user-memories-detail"/>
          <p:cNvSpPr>
            <a:spLocks noGrp="1"/>
          </p:cNvSpPr>
          <p:nvPr/>
        </p:nvSpPr>
        <p:spPr>
          <a:xfrm>
            <a:off x="3486150" y="4381500"/>
            <a:ext cx="31623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默认条件 / 已确认咨询摘要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5" name="confirmed-write"/>
          <p:cNvSpPr>
            <a:spLocks noGrp="1"/>
          </p:cNvSpPr>
          <p:nvPr/>
        </p:nvSpPr>
        <p:spPr>
          <a:xfrm>
            <a:off x="8305800" y="3905250"/>
            <a:ext cx="3276600" cy="1000125"/>
          </a:xfrm>
          <a:prstGeom prst="roundRect">
            <a:avLst>
              <a:gd name="adj" fmla="val 9524"/>
            </a:avLst>
          </a:prstGeom>
          <a:solidFill>
            <a:srgbClr val="F5E9D1"/>
          </a:solidFill>
          <a:ln w="12383">
            <a:solidFill>
              <a:srgbClr val="7B98A8"/>
            </a:solidFill>
          </a:ln>
        </p:spPr>
      </p:sp>
      <p:sp>
        <p:nvSpPr>
          <p:cNvPr id="26" name="confirmed-write-title"/>
          <p:cNvSpPr>
            <a:spLocks noGrp="1"/>
          </p:cNvSpPr>
          <p:nvPr/>
        </p:nvSpPr>
        <p:spPr>
          <a:xfrm>
            <a:off x="8439150" y="4000500"/>
            <a:ext cx="30099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用户明确确认后更新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7" name="confirmed-write-detail"/>
          <p:cNvSpPr>
            <a:spLocks noGrp="1"/>
          </p:cNvSpPr>
          <p:nvPr/>
        </p:nvSpPr>
        <p:spPr>
          <a:xfrm>
            <a:off x="8439150" y="4381500"/>
            <a:ext cx="30099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校验范围、来源与版本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8" name="memory-read"/>
          <p:cNvSpPr>
            <a:spLocks noGrp="1"/>
          </p:cNvSpPr>
          <p:nvPr/>
        </p:nvSpPr>
        <p:spPr>
          <a:xfrm>
            <a:off x="4495800" y="2819400"/>
            <a:ext cx="552450" cy="1085850"/>
          </a:xfrm>
          <a:custGeom>
            <a:avLst/>
            <a:gdLst/>
            <a:ahLst/>
            <a:cxnLst/>
            <a:pathLst>
              <a:path w="552450" h="1085850">
                <a:moveTo>
                  <a:pt x="552450" y="1085850"/>
                </a:moveTo>
                <a:lnTo>
                  <a:pt x="552450" y="352425"/>
                </a:lnTo>
                <a:lnTo>
                  <a:pt x="0" y="35242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C"/>
            </a:solidFill>
            <a:prstDash val="solid"/>
          </a:ln>
        </p:spPr>
      </p:sp>
      <p:cxnSp>
        <p:nvCxnSpPr>
          <p:cNvPr id="29" name="memory-read-arrow"/>
          <p:cNvCxnSpPr/>
          <p:nvPr/>
        </p:nvCxnSpPr>
        <p:spPr>
          <a:xfrm flipV="1">
            <a:off x="4495800" y="2819400"/>
            <a:ext cx="0" cy="11430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sp>
        <p:nvSpPr>
          <p:cNvPr id="30" name="graph-confirm"/>
          <p:cNvSpPr>
            <a:spLocks noGrp="1"/>
          </p:cNvSpPr>
          <p:nvPr/>
        </p:nvSpPr>
        <p:spPr>
          <a:xfrm>
            <a:off x="10210800" y="2819400"/>
            <a:ext cx="9525" cy="1085850"/>
          </a:xfrm>
          <a:custGeom>
            <a:avLst/>
            <a:gdLst/>
            <a:ahLst/>
            <a:cxnLst/>
            <a:pathLst>
              <a:path w="9525" h="1085850">
                <a:moveTo>
                  <a:pt x="0" y="0"/>
                </a:moveTo>
                <a:lnTo>
                  <a:pt x="0" y="1085850"/>
                </a:lnTo>
              </a:path>
            </a:pathLst>
          </a:custGeom>
          <a:noFill/>
          <a:ln w="19050">
            <a:solidFill>
              <a:srgbClr val="087F8C"/>
            </a:solidFill>
            <a:prstDash val="solid"/>
          </a:ln>
        </p:spPr>
      </p:sp>
      <p:cxnSp>
        <p:nvCxnSpPr>
          <p:cNvPr id="31" name="graph-confirm-arrow"/>
          <p:cNvCxnSpPr/>
          <p:nvPr/>
        </p:nvCxnSpPr>
        <p:spPr>
          <a:xfrm>
            <a:off x="10210800" y="3790950"/>
            <a:ext cx="0" cy="11430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sp>
        <p:nvSpPr>
          <p:cNvPr id="32" name="write-memory"/>
          <p:cNvSpPr>
            <a:spLocks noGrp="1"/>
          </p:cNvSpPr>
          <p:nvPr/>
        </p:nvSpPr>
        <p:spPr>
          <a:xfrm>
            <a:off x="6781800" y="4400550"/>
            <a:ext cx="1524000" cy="9525"/>
          </a:xfrm>
          <a:custGeom>
            <a:avLst/>
            <a:gdLst/>
            <a:ahLst/>
            <a:cxnLst/>
            <a:pathLst>
              <a:path w="1524000" h="9525">
                <a:moveTo>
                  <a:pt x="1524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C"/>
            </a:solidFill>
            <a:prstDash val="solid"/>
          </a:ln>
        </p:spPr>
      </p:sp>
      <p:cxnSp>
        <p:nvCxnSpPr>
          <p:cNvPr id="33" name="write-memory-arrow"/>
          <p:cNvCxnSpPr/>
          <p:nvPr/>
        </p:nvCxnSpPr>
        <p:spPr>
          <a:xfrm flipH="1">
            <a:off x="6781800" y="4400550"/>
            <a:ext cx="114300" cy="0"/>
          </a:xfrm>
          <a:prstGeom prst="straightConnector1">
            <a:avLst/>
          </a:prstGeom>
          <a:ln w="19050">
            <a:solidFill>
              <a:srgbClr val="087F8C"/>
            </a:solidFill>
            <a:tailEnd type="triangle" w="sm" len="sm"/>
          </a:ln>
        </p:spPr>
      </p:cxnSp>
      <p:sp>
        <p:nvSpPr>
          <p:cNvPr id="34" name="read-scope"/>
          <p:cNvSpPr>
            <a:spLocks noGrp="1"/>
          </p:cNvSpPr>
          <p:nvPr/>
        </p:nvSpPr>
        <p:spPr>
          <a:xfrm>
            <a:off x="609600" y="3209925"/>
            <a:ext cx="30480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仅加载本人记忆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不会混入其他用户的信息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5" name="write-scope"/>
          <p:cNvSpPr>
            <a:spLocks noGrp="1"/>
          </p:cNvSpPr>
          <p:nvPr/>
        </p:nvSpPr>
        <p:spPr>
          <a:xfrm>
            <a:off x="6667500" y="32099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57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写入与处理结果同事务保存</a:t>
            </a:r>
            <a:endParaRPr sz="157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6" name="priority"/>
          <p:cNvSpPr>
            <a:spLocks noGrp="1"/>
          </p:cNvSpPr>
          <p:nvPr/>
        </p:nvSpPr>
        <p:spPr>
          <a:xfrm>
            <a:off x="609600" y="53340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9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9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条件优先级：本轮明确输入 ＞ 本会话已确认条件 ＞ 记忆默认值</a:t>
            </a:r>
            <a:endParaRPr sz="1950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7" name="example"/>
          <p:cNvSpPr>
            <a:spLocks noGrp="1"/>
          </p:cNvSpPr>
          <p:nvPr/>
        </p:nvSpPr>
        <p:spPr>
          <a:xfrm>
            <a:off x="609600" y="58102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7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例：新会话读取“电脑 / 自营店”；本轮改问空调时覆盖默认条件</a:t>
            </a:r>
            <a:endParaRPr sz="172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8" name="takeaway"/>
          <p:cNvSpPr>
            <a:spLocks noGrp="1"/>
          </p:cNvSpPr>
          <p:nvPr/>
        </p:nvSpPr>
        <p:spPr>
          <a:xfrm>
            <a:off x="609600" y="629602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>
              <a:defRPr sz="1950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defRPr sz="1950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950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记忆提供默认上下文，政策依据仍由知识库检索与复核</a:t>
            </a:r>
            <a:endParaRPr sz="1950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itle"/>
          <p:cNvSpPr>
            <a:spLocks noGrp="1"/>
          </p:cNvSpPr>
          <p:nvPr/>
        </p:nvSpPr>
        <p:spPr>
          <a:xfrm>
            <a:off x="609600" y="533400"/>
            <a:ext cx="107442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关键参数与运行配置</a:t>
            </a:r>
            <a:endParaRPr sz="33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39500" y="2762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18</a:t>
            </a:r>
            <a:endParaRPr sz="1350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09600" y="1714500"/>
          <a:ext cx="10972800" cy="4000500"/>
        </p:xfrm>
        <a:graphic>
          <a:graphicData uri="http://schemas.openxmlformats.org/drawingml/2006/table">
            <a:tbl>
              <a:tblPr/>
              <a:tblGrid>
                <a:gridCol w="2762250"/>
                <a:gridCol w="3143250"/>
                <a:gridCol w="50673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组件</a:t>
                      </a:r>
                      <a:endParaRPr sz="1800" b="1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T w="9525">
                      <a:solidFill>
                        <a:srgbClr val="CFDDE5"/>
                      </a:solidFill>
                      <a:prstDash val="solid"/>
                    </a:lnT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D7E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当前参数</a:t>
                      </a:r>
                      <a:endParaRPr sz="1800" b="1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T w="9525">
                      <a:solidFill>
                        <a:srgbClr val="CFDDE5"/>
                      </a:solidFill>
                      <a:prstDash val="solid"/>
                    </a:lnT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D7E8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作用</a:t>
                      </a:r>
                      <a:endParaRPr sz="1800" b="1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T w="9525">
                      <a:solidFill>
                        <a:srgbClr val="CFDDE5"/>
                      </a:solidFill>
                      <a:prstDash val="solid"/>
                    </a:lnT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D7E8E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US"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DeepSeek-v4.1 Flash</a:t>
                      </a:r>
                      <a:endParaRPr lang="en-US"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temperature 0.1，输出 512 token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稳定结构化分类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BGE-M3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dense 1024 维，COSINE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语义向量空间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Milvus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Top 10，AUTOINDEX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候选定位与过滤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意图门槛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最低分 0.72，分差 0.03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避免相近意图抢路由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FAQ 门槛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最低分 0.62，分差 0.02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接受答案或列候选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F4F7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LangGraph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CFDDE5"/>
                      </a:solidFill>
                      <a:prstDash val="solid"/>
                    </a:lnL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12 步，输入估算 4096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0"/>
                          </a:solidFill>
                          <a:latin typeface="Heiti TC" panose="02000000000000000000" charset="-122"/>
                          <a:ea typeface="Heiti TC" panose="02000000000000000000" charset="-122"/>
                          <a:cs typeface="Heiti TC" panose="02000000000000000000" charset="-122"/>
                        </a:rPr>
                        <a:t>限制单轮执行范围</a:t>
                      </a:r>
                      <a:endParaRPr sz="1800" b="0">
                        <a:solidFill>
                          <a:srgbClr val="102B40"/>
                        </a:solidFill>
                        <a:latin typeface="Heiti TC" panose="02000000000000000000" charset="-122"/>
                        <a:ea typeface="Heiti TC" panose="02000000000000000000" charset="-122"/>
                        <a:cs typeface="Heiti TC" panose="02000000000000000000" charset="-122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CFDDE5"/>
                      </a:solidFill>
                      <a:prstDash val="solid"/>
                    </a:lnR>
                    <a:lnB w="9525">
                      <a:solidFill>
                        <a:srgbClr val="CFDDE5"/>
                      </a:solidFill>
                      <a:prstDash val="solid"/>
                    </a:lnB>
                    <a:solidFill>
                      <a:srgbClr val="EAF0F4"/>
                    </a:solidFill>
                  </a:tcPr>
                </a:tc>
              </a:tr>
            </a:tbl>
          </a:graphicData>
        </a:graphic>
      </p:graphicFrame>
      <p:sp>
        <p:nvSpPr>
          <p:cNvPr id="4" name="takeaway"/>
          <p:cNvSpPr>
            <a:spLocks noGrp="1"/>
          </p:cNvSpPr>
          <p:nvPr/>
        </p:nvSpPr>
        <p:spPr>
          <a:xfrm>
            <a:off x="609600" y="61626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门槛是当前配置，效果需要结合业务语料持续校准</a:t>
            </a:r>
            <a:endParaRPr sz="20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14" name="直接箭头连接符 13"/>
          <p:cNvCxnSpPr>
            <a:stCxn id="8" idx="3"/>
            <a:endCxn id="10" idx="1"/>
          </p:cNvCxnSpPr>
          <p:nvPr/>
        </p:nvCxnSpPr>
        <p:spPr>
          <a:xfrm>
            <a:off x="8658225" y="2976563"/>
            <a:ext cx="447675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13" name="直接箭头连接符 12"/>
          <p:cNvCxnSpPr>
            <a:stCxn id="6" idx="3"/>
            <a:endCxn id="8" idx="1"/>
          </p:cNvCxnSpPr>
          <p:nvPr/>
        </p:nvCxnSpPr>
        <p:spPr>
          <a:xfrm>
            <a:off x="5829300" y="2976563"/>
            <a:ext cx="447675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cxnSp>
        <p:nvCxnSpPr>
          <p:cNvPr id="12" name="直接箭头连接符 11"/>
          <p:cNvCxnSpPr>
            <a:stCxn id="4" idx="3"/>
            <a:endCxn id="6" idx="1"/>
          </p:cNvCxnSpPr>
          <p:nvPr/>
        </p:nvCxnSpPr>
        <p:spPr>
          <a:xfrm>
            <a:off x="3000375" y="2976563"/>
            <a:ext cx="447675" cy="0"/>
          </a:xfrm>
          <a:prstGeom prst="straightConnector1">
            <a:avLst/>
          </a:prstGeom>
          <a:ln w="20955">
            <a:solidFill>
              <a:srgbClr val="087F8C"/>
            </a:solidFill>
            <a:tailEnd type="triangle" w="sm" len="sm"/>
          </a:ln>
        </p:spPr>
      </p:cxnSp>
      <p:sp>
        <p:nvSpPr>
          <p:cNvPr id="20" name="title"/>
          <p:cNvSpPr>
            <a:spLocks noGrp="1"/>
          </p:cNvSpPr>
          <p:nvPr/>
        </p:nvSpPr>
        <p:spPr>
          <a:xfrm>
            <a:off x="609600" y="533400"/>
            <a:ext cx="107442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33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知识发布与后续运营</a:t>
            </a:r>
            <a:endParaRPr sz="33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39500" y="2762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350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19</a:t>
            </a:r>
            <a:endParaRPr sz="1350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285875"/>
            <a:ext cx="10953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0">
                <a:solidFill>
                  <a:srgbClr val="465D6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后续规划：在现有目录构建之外补充版本运营</a:t>
            </a:r>
            <a:endParaRPr sz="2025" b="0">
              <a:solidFill>
                <a:srgbClr val="465D6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4" name="节点 不可变发布快照"/>
          <p:cNvSpPr>
            <a:spLocks noGrp="1"/>
          </p:cNvSpPr>
          <p:nvPr/>
        </p:nvSpPr>
        <p:spPr>
          <a:xfrm>
            <a:off x="619125" y="2476500"/>
            <a:ext cx="2381250" cy="1000125"/>
          </a:xfrm>
          <a:prstGeom prst="roundRect">
            <a:avLst>
              <a:gd name="adj" fmla="val 9524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5" name="节点标题"/>
          <p:cNvSpPr>
            <a:spLocks noGrp="1"/>
          </p:cNvSpPr>
          <p:nvPr/>
        </p:nvSpPr>
        <p:spPr>
          <a:xfrm>
            <a:off x="733425" y="2647950"/>
            <a:ext cx="2152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不可变发布快照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6" name="节点 构建两类索引"/>
          <p:cNvSpPr>
            <a:spLocks noGrp="1"/>
          </p:cNvSpPr>
          <p:nvPr/>
        </p:nvSpPr>
        <p:spPr>
          <a:xfrm>
            <a:off x="3448050" y="2476500"/>
            <a:ext cx="2381250" cy="1000125"/>
          </a:xfrm>
          <a:prstGeom prst="roundRect">
            <a:avLst>
              <a:gd name="adj" fmla="val 9524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7" name="节点标题"/>
          <p:cNvSpPr>
            <a:spLocks noGrp="1"/>
          </p:cNvSpPr>
          <p:nvPr/>
        </p:nvSpPr>
        <p:spPr>
          <a:xfrm>
            <a:off x="3562350" y="2647950"/>
            <a:ext cx="2152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构建两类索引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8" name="节点 复核完整数据"/>
          <p:cNvSpPr>
            <a:spLocks noGrp="1"/>
          </p:cNvSpPr>
          <p:nvPr/>
        </p:nvSpPr>
        <p:spPr>
          <a:xfrm>
            <a:off x="6276975" y="2476500"/>
            <a:ext cx="2381250" cy="1000125"/>
          </a:xfrm>
          <a:prstGeom prst="roundRect">
            <a:avLst>
              <a:gd name="adj" fmla="val 9524"/>
            </a:avLst>
          </a:prstGeom>
          <a:solidFill>
            <a:srgbClr val="E0F0EF"/>
          </a:solidFill>
          <a:ln w="11430">
            <a:solidFill>
              <a:srgbClr val="7B98A8"/>
            </a:solidFill>
          </a:ln>
        </p:spPr>
      </p:sp>
      <p:sp>
        <p:nvSpPr>
          <p:cNvPr id="9" name="节点标题"/>
          <p:cNvSpPr>
            <a:spLocks noGrp="1"/>
          </p:cNvSpPr>
          <p:nvPr/>
        </p:nvSpPr>
        <p:spPr>
          <a:xfrm>
            <a:off x="6391275" y="2647950"/>
            <a:ext cx="2152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复核完整数据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0" name="节点 切统一版本指针"/>
          <p:cNvSpPr>
            <a:spLocks noGrp="1"/>
          </p:cNvSpPr>
          <p:nvPr/>
        </p:nvSpPr>
        <p:spPr>
          <a:xfrm>
            <a:off x="9105900" y="2476500"/>
            <a:ext cx="2381250" cy="1000125"/>
          </a:xfrm>
          <a:prstGeom prst="roundRect">
            <a:avLst>
              <a:gd name="adj" fmla="val 9524"/>
            </a:avLst>
          </a:prstGeom>
          <a:solidFill>
            <a:srgbClr val="F5E9D1"/>
          </a:solidFill>
          <a:ln w="11430">
            <a:solidFill>
              <a:srgbClr val="7B98A8"/>
            </a:solidFill>
          </a:ln>
        </p:spPr>
      </p:sp>
      <p:sp>
        <p:nvSpPr>
          <p:cNvPr id="11" name="节点标题"/>
          <p:cNvSpPr>
            <a:spLocks noGrp="1"/>
          </p:cNvSpPr>
          <p:nvPr/>
        </p:nvSpPr>
        <p:spPr>
          <a:xfrm>
            <a:off x="9220200" y="2647950"/>
            <a:ext cx="21526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1875" b="1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切统一版本指针</a:t>
            </a:r>
            <a:endParaRPr sz="1875" b="1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5" name="body"/>
          <p:cNvSpPr>
            <a:spLocks noGrp="1"/>
          </p:cNvSpPr>
          <p:nvPr/>
        </p:nvSpPr>
        <p:spPr>
          <a:xfrm>
            <a:off x="666750" y="4381500"/>
            <a:ext cx="2571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请求一致性</a:t>
            </a:r>
            <a:endParaRPr sz="21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6" name="body"/>
          <p:cNvSpPr>
            <a:spLocks noGrp="1"/>
          </p:cNvSpPr>
          <p:nvPr/>
        </p:nvSpPr>
        <p:spPr>
          <a:xfrm>
            <a:off x="3476625" y="4381500"/>
            <a:ext cx="7905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每轮固定 catalog_version，所有查询使用该版本</a:t>
            </a:r>
            <a:endParaRPr sz="20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7" name="body"/>
          <p:cNvSpPr>
            <a:spLocks noGrp="1"/>
          </p:cNvSpPr>
          <p:nvPr/>
        </p:nvSpPr>
        <p:spPr>
          <a:xfrm>
            <a:off x="666750" y="5181600"/>
            <a:ext cx="2571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17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恢复能力</a:t>
            </a:r>
            <a:endParaRPr sz="217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8" name="body"/>
          <p:cNvSpPr>
            <a:spLocks noGrp="1"/>
          </p:cNvSpPr>
          <p:nvPr/>
        </p:nvSpPr>
        <p:spPr>
          <a:xfrm>
            <a:off x="3476625" y="5181600"/>
            <a:ext cx="7905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0">
                <a:solidFill>
                  <a:srgbClr val="102B40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保留旧快照及其索引，避免新旧知识混用</a:t>
            </a:r>
            <a:endParaRPr sz="2025" b="0">
              <a:solidFill>
                <a:srgbClr val="102B40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  <p:sp>
        <p:nvSpPr>
          <p:cNvPr id="19" name="takeaway"/>
          <p:cNvSpPr>
            <a:spLocks noGrp="1"/>
          </p:cNvSpPr>
          <p:nvPr/>
        </p:nvSpPr>
        <p:spPr>
          <a:xfrm>
            <a:off x="609600" y="61626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defPPr>
          </a:lstStyle>
          <a:p>
            <a:pPr>
              <a:buNone/>
              <a:def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defRPr>
            </a:pPr>
            <a:r>
              <a:rPr sz="2025" b="1">
                <a:solidFill>
                  <a:srgbClr val="087F8C"/>
                </a:solidFill>
                <a:latin typeface="Heiti TC" panose="02000000000000000000" charset="-122"/>
                <a:ea typeface="Heiti TC" panose="02000000000000000000" charset="-122"/>
                <a:cs typeface="Heiti TC" panose="02000000000000000000" charset="-122"/>
              </a:rPr>
              <a:t>当前按目录构建，后续以不可变发布版本统一读取</a:t>
            </a:r>
            <a:endParaRPr sz="2025" b="1">
              <a:solidFill>
                <a:srgbClr val="087F8C"/>
              </a:solidFill>
              <a:latin typeface="Heiti TC" panose="02000000000000000000" charset="-122"/>
              <a:ea typeface="Heiti TC" panose="02000000000000000000" charset="-122"/>
              <a:cs typeface="Heiti TC" panose="020000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WPS 演示</Application>
  <PresentationFormat>Converted Presentation</PresentationFormat>
  <Paragraphs>187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Heiti TC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.</cp:lastModifiedBy>
  <cp:revision>2</cp:revision>
  <dcterms:created xsi:type="dcterms:W3CDTF">2026-10-22T08:44:02Z</dcterms:created>
  <dcterms:modified xsi:type="dcterms:W3CDTF">2026-10-22T08:44:02Z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EDBD8FA33708340A5359D06A61E7681B_42</vt:lpwstr>
  </property>
</Properties>
</file>