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80eb39436c48e0" /><Relationship Type="http://schemas.openxmlformats.org/officeDocument/2006/relationships/extended-properties" Target="/docProps/app.xml" Id="Rdcc9f040a1604776" /><Relationship Type="http://schemas.openxmlformats.org/officeDocument/2006/relationships/officeDocument" Target="/ppt/presentation.xml" Id="R014efae256c34c5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75c2710f6ac14292"/>
  </p:sldMasterIdLst>
  <p:notesMasterIdLst>
    <p:notesMasterId xmlns:r="http://schemas.openxmlformats.org/officeDocument/2006/relationships" r:id="R7acb9d290b2d4177"/>
  </p:notesMasterIdLst>
  <p:sldIdLst>
    <p:sldId xmlns:r="http://schemas.openxmlformats.org/officeDocument/2006/relationships" id="256" r:id="R91ddd7b685e34fac"/>
    <p:sldId xmlns:r="http://schemas.openxmlformats.org/officeDocument/2006/relationships" id="257" r:id="Rca83d79b7d4441eb"/>
    <p:sldId xmlns:r="http://schemas.openxmlformats.org/officeDocument/2006/relationships" id="258" r:id="Rabfb97c2f5a24e72"/>
    <p:sldId xmlns:r="http://schemas.openxmlformats.org/officeDocument/2006/relationships" id="259" r:id="Rda1946eda7bf46c7"/>
    <p:sldId xmlns:r="http://schemas.openxmlformats.org/officeDocument/2006/relationships" id="260" r:id="R842fc622c539435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6fd356c07fb4956" /><Relationship Type="http://schemas.openxmlformats.org/officeDocument/2006/relationships/slideMaster" Target="/ppt/slideMasters/slideMaster1.xml" Id="R75c2710f6ac14292" /><Relationship Type="http://schemas.openxmlformats.org/officeDocument/2006/relationships/notesMaster" Target="/ppt/notesMasters/notesMaster1.xml" Id="R7acb9d290b2d4177" /><Relationship Type="http://schemas.openxmlformats.org/officeDocument/2006/relationships/presProps" Target="/ppt/presProps.xml" Id="R51d582dee5fc47a5" /><Relationship Type="http://schemas.openxmlformats.org/officeDocument/2006/relationships/tableStyles" Target="/ppt/tableStyles.xml" Id="R53edb45c823c4be9" /><Relationship Type="http://schemas.openxmlformats.org/officeDocument/2006/relationships/slide" Target="/ppt/slides/slide1.xml" Id="R91ddd7b685e34fac" /><Relationship Type="http://schemas.openxmlformats.org/officeDocument/2006/relationships/slide" Target="/ppt/slides/slide2.xml" Id="Rca83d79b7d4441eb" /><Relationship Type="http://schemas.openxmlformats.org/officeDocument/2006/relationships/slide" Target="/ppt/slides/slide3.xml" Id="Rabfb97c2f5a24e72" /><Relationship Type="http://schemas.openxmlformats.org/officeDocument/2006/relationships/slide" Target="/ppt/slides/slide4.xml" Id="Rda1946eda7bf46c7" /><Relationship Type="http://schemas.openxmlformats.org/officeDocument/2006/relationships/slide" Target="/ppt/slides/slide5.xml" Id="R842fc622c539435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5ee14bcaaa342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76cc67d234e4c60" /><Relationship Type="http://schemas.openxmlformats.org/officeDocument/2006/relationships/notesMaster" Target="/ppt/notesMasters/notesMaster1.xml" Id="R4e46d7168ea443a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55fcee9e83343a7" /><Relationship Type="http://schemas.openxmlformats.org/officeDocument/2006/relationships/notesMaster" Target="/ppt/notesMasters/notesMaster1.xml" Id="R8a58362d12c541d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854f908e974db6" /><Relationship Type="http://schemas.openxmlformats.org/officeDocument/2006/relationships/notesMaster" Target="/ppt/notesMasters/notesMaster1.xml" Id="R99cff6a6c853436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7ed6fc3a3574fce" /><Relationship Type="http://schemas.openxmlformats.org/officeDocument/2006/relationships/notesMaster" Target="/ppt/notesMasters/notesMaster1.xml" Id="Rcb1840827a9042f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5e5143d529144fe" /><Relationship Type="http://schemas.openxmlformats.org/officeDocument/2006/relationships/notesMaster" Target="/ppt/notesMasters/notesMaster1.xml" Id="R154904f63214478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项目解决三个具体问题：重复查询资料、多轮对话缺少上下文、业务查询与售后动作脱节。用户先咨询参数或政策，再查询本人订单，需要实际办理时收集订单、商品、动作和原因，展示确认后落库。当前不连接外部商城，不代表真实退款或维修完成。</a:t>
            </a:r>
          </a:p>
          <a:p xmlns:a="http://schemas.openxmlformats.org/drawingml/2006/main">
            <a:r>
              <a:t>源码依据：backend/graph/nodes.py:33-170、178-231、243-316；backend/graph/after_sales.py；backend/tools/after_sales.py；backend/data/knowledge/xiaomi-cn/README.md。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一次请求由浏览器发往 FastAPI，服务通过 Cookie 解析当前账号，用用户级 thread_id 与 PostgreSQL advisory lock 串行处理同一会话。MiniMaxClient/DeepSeekClient 调用 build_workflow。咨询进入固定 RAG 子流程，订单与售后节点直接读写 PostgreSQL。Milvus 保存向量索引，Redis 保存正文和版本元数据；启用 RAG_NEO4J_URI 后，手机参数关系查询可读取 Neo4j。PostgreSQL 也保存主图检查点及 Store；登录会话本身当前仍保存在单进程内存，不是 JWT。</a:t>
            </a:r>
          </a:p>
          <a:p xmlns:a="http://schemas.openxmlformats.org/drawingml/2006/main">
            <a:r>
              <a:t>知识维护：backend/data/knowledge/xiaomi-cn/原始资料/ 为当前小米资料唯一日常入口，rebuild_knowledge.py 更新文档与 FAQ；sync_phone_graph.py 同步专用手机图谱。</a:t>
            </a:r>
          </a:p>
          <a:p xmlns:a="http://schemas.openxmlformats.org/drawingml/2006/main">
            <a:r>
              <a:t>源码依据：backend/main.py:26-77、86-160；backend/common/auth.py；backend/utils/minimax_client.py:16-65；backend/utils/deepseek_client.py；backend/rag/retriever.py:29-86；backend/scripts/rebuild_knowledge.py；backend/scripts/sync_phone_graph.py。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亮点对应当前代码行为，不将方案或离线实验写成已上线能力。当前 recognize_intent 未使用 BertIntentClassifier，intent_context_v3.csv 等文件属于保留的离线训练资料，因此不展示 BERT 准确率。固定 RAG 也没有检索规划 Agent、证据选择 Agent 或重查循环。FAQ 直接返回正文条款，文档回答依证据生成，HyDE 只用于扩展查询，不能充当证据。Neo4j 为可选扩展，在线只读并检查源文件版本。售后在提交前再次验证本人订单及商品快照，申请仅代表本地待审核记录。validate_answer 目前检查非空和部分确定性边界，不是完整的语义事实校验。</a:t>
            </a:r>
          </a:p>
          <a:p xmlns:a="http://schemas.openxmlformats.org/drawingml/2006/main">
            <a:r>
              <a:t>源码依据：backend/graph/nodes.py:23-98、243-316；backend/rag/agent.py；backend/rag/models.py:53-108；backend/rag/phone_graph.py；backend/graph/after_sales.py；backend/tools/after_sales.py。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主流程：START → prepare_context → recognize_intent。咨询、订单、售后、闲聊、投诉进入各业务节点，随后 aggregate_results → check_handoff；人工需求先执行 handoff，否则直接 generate_answer。显式转人工从识别节点直接走 handoff。needs_clarification=true 时跳过业务节点直接生成追问。query_order 如果识别到用户实际在问商品信息，会改走 retrieve_knowledge。generate_answer → validate_answer，通过结束，失败走 safe_fallback → END；不重新提交业务。</a:t>
            </a:r>
          </a:p>
          <a:p xmlns:a="http://schemas.openxmlformats.org/drawingml/2006/main">
            <a:r>
              <a:t>当前复杂子图仍保留 agent_decide → execute_tools → agent_decide 的结构，以及工具上限与结果收集节点；但 recognize_intent 固定 is_complex=False，agent_decide 也不要求工具，因此这不是已启用的自主工具 Agent。投诉只标记人工需求，handoff 返回 demo_waiting 文案，不代表真实坐席接管。</a:t>
            </a:r>
          </a:p>
          <a:p xmlns:a="http://schemas.openxmlformats.org/drawingml/2006/main">
            <a:r>
              <a:t>此页为便于答辩阅读合并了部分节点显示名；精确条件边依据 backend/graph/workflow.py:23-139，节点行为依据 backend/graph/nodes.py。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先用当前消息、上一轮完整问答与待补任务重写问题，提取品类、品牌、型号、地区和渠道。缺少咨询方面、型号等必要条件时返回澄清；海外版或不支持品牌明确说明边界。</a:t>
            </a:r>
          </a:p>
          <a:p xmlns:a="http://schemas.openxmlformats.org/drawingml/2006/main">
            <a:r>
              <a:t>全部诉求能表达为手机参数关系时可查 Neo4j。命中直接返回程序形成的表格；未配置、未覆盖、源文档版本不一致或连接异常时回到 FAQ/文档链路。普通问题直接查 FAQ。FAQ 使用 BGE-M3 dense 召回，Reranker 校验后按条目去重；型号参数问题不会套用泛品类政策 FAQ。明确命中直接输出标准条款。</a:t>
            </a:r>
          </a:p>
          <a:p xmlns:a="http://schemas.openxmlformats.org/drawingml/2006/main">
            <a:r>
              <a:t>FAQ no_match 或 ambiguous 才进入文档检索。先对原查询做 dense/sparse 混合检索，再生成 HyDE 假设文本并做第二次混合检索。代码为顺序执行，不是并行 Agent。两次检索结果都来自真实文档，HyDE 本身不能作为证据。每次 dense/sparse 默认各召回20条，权重各0.5，混合后保留10条。RRF k=60，原查询/HyDE权重1.0/0.7，按带版本的 evidence_id 去重，融合最多10条。随后独立 bge-reranker-base 精排，最多5条、8000字符，允许0条；多个型号分配证据预算。</a:t>
            </a:r>
          </a:p>
          <a:p xmlns:a="http://schemas.openxmlformats.org/drawingml/2006/main">
            <a:r>
              <a:t>rag_result 返回业务结果与证据给主图，由 generate_answer 依正文回答。无匹配说明无法核实，服务异常明确失败。FAQ/图谱直接答案同样经过主图回复出口。图中的直接返回指跳过文档生成，不指跳过主图。</a:t>
            </a:r>
          </a:p>
          <a:p xmlns:a="http://schemas.openxmlformats.org/drawingml/2006/main">
            <a:r>
              <a:t>源码依据：backend/rag/agent.py:49-373；backend/rag/retriever.py:89-220；backend/rag/models.py:18-108；backend/rag/phone_graph.py；backend/graph/nodes.py:243-316。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de53c3bf1d4b7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976bc293ade4375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a4fb217856749b3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462b1d5ce8490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907288826d437a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26b55e11f9435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64C00E6-8900-4EFD-8976-6F80888EE7C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2CE77829-3CEB-431A-9B1F-0A06525DB50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725C6E3F-85C6-465D-86D3-620EDF5EABE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F5423B1-84D0-4675-B843-A16914FFBFB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D4080482-2C9E-441C-9265-1E891309DE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31B37370-7E6C-4EF6-9EE3-5D6B9444C59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F58019B-6AB0-495A-9BF3-7EB600C5D05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A5A6DDC1-3F7B-456F-80E5-4886C47F7F5E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6C18E88-DD47-456C-8468-C719C8236C6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BD8ACDA5-8B3B-44E0-9C60-9535ECDB238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9332be005d49d8" /><Relationship Type="http://schemas.openxmlformats.org/officeDocument/2006/relationships/slideLayout" Target="/ppt/slideLayouts/slideLayout1.xml" Id="Rd851dfc48d4a48b7" /><Relationship Type="http://schemas.openxmlformats.org/officeDocument/2006/relationships/slideLayout" Target="/ppt/slideLayouts/slideLayout2.xml" Id="R079546c531ab4d89" /><Relationship Type="http://schemas.openxmlformats.org/officeDocument/2006/relationships/slideLayout" Target="/ppt/slideLayouts/slideLayout3.xml" Id="R3fe9bc6ecd1c4648" /><Relationship Type="http://schemas.openxmlformats.org/officeDocument/2006/relationships/slideLayout" Target="/ppt/slideLayouts/slideLayout4.xml" Id="Rb233210ea1cb4681" /><Relationship Type="http://schemas.openxmlformats.org/officeDocument/2006/relationships/slideLayout" Target="/ppt/slideLayouts/slideLayout5.xml" Id="R5fbf074e56974dff" /><Relationship Type="http://schemas.openxmlformats.org/officeDocument/2006/relationships/slideLayout" Target="/ppt/slideLayouts/slideLayout6.xml" Id="R93c29c9152004fac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1dfc48d4a48b7"/>
    <p:sldLayoutId xmlns:r="http://schemas.openxmlformats.org/officeDocument/2006/relationships" id="2147483650" r:id="R079546c531ab4d89"/>
    <p:sldLayoutId xmlns:r="http://schemas.openxmlformats.org/officeDocument/2006/relationships" id="2147483651" r:id="R3fe9bc6ecd1c4648"/>
    <p:sldLayoutId xmlns:r="http://schemas.openxmlformats.org/officeDocument/2006/relationships" id="2147483652" r:id="Rb233210ea1cb4681"/>
    <p:sldLayoutId xmlns:r="http://schemas.openxmlformats.org/officeDocument/2006/relationships" id="2147483653" r:id="R5fbf074e56974dff"/>
    <p:sldLayoutId xmlns:r="http://schemas.openxmlformats.org/officeDocument/2006/relationships" id="2147483654" r:id="R93c29c9152004fac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47ce9e82fb4cf4" /><Relationship Type="http://schemas.openxmlformats.org/officeDocument/2006/relationships/notesSlide" Target="/ppt/notesSlides/notesSlide1.xml" Id="Rcde029bdd51d4c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6473ec3f5de4965" /><Relationship Type="http://schemas.openxmlformats.org/officeDocument/2006/relationships/notesSlide" Target="/ppt/notesSlides/notesSlide2.xml" Id="R30103d5af7df48c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745d4d8ef0147b2" /><Relationship Type="http://schemas.openxmlformats.org/officeDocument/2006/relationships/notesSlide" Target="/ppt/notesSlides/notesSlide3.xml" Id="R3301147498904fc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a2ffaf55c50c4f46" /><Relationship Type="http://schemas.openxmlformats.org/officeDocument/2006/relationships/notesSlide" Target="/ppt/notesSlides/notesSlide4.xml" Id="Rdaa7eeb3451e4dc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ea1edecd9f242f0" /><Relationship Type="http://schemas.openxmlformats.org/officeDocument/2006/relationships/notesSlide" Target="/ppt/notesSlides/notesSlide5.xml" Id="R0e41c93a8a5544d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解决什么问题">
            <a:extLst xmlns:a="http://schemas.openxmlformats.org/drawingml/2006/main">
              <a:ext uri="{FF2B5EF4-FFF2-40B4-BE49-F238E27FC236}">
                <a16:creationId xmlns:a16="http://schemas.microsoft.com/office/drawing/2014/main" id="{F1AEBB67-DEE7-42BC-BCC4-93D40D2C4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解决什么问题</a:t>
            </a:r>
          </a:p>
        </p:txBody>
      </p:sp>
      <p:sp>
        <p:nvSpPr>
          <p:cNvPr id="2" name="面向电商售前与售后咨询，衔接知识问答、本人订单查询和售后申请">
            <a:extLst xmlns:a="http://schemas.openxmlformats.org/drawingml/2006/main">
              <a:ext uri="{FF2B5EF4-FFF2-40B4-BE49-F238E27FC236}">
                <a16:creationId xmlns:a16="http://schemas.microsoft.com/office/drawing/2014/main" id="{25036C66-1C48-47EA-9355-92DC4F76F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面向电商售前与售后咨询，衔接知识问答、本人订单查询和售后申请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0052BDB5-0AAB-4265-8C41-BBD1B5BC2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1 / 5">
            <a:extLst xmlns:a="http://schemas.openxmlformats.org/drawingml/2006/main">
              <a:ext uri="{FF2B5EF4-FFF2-40B4-BE49-F238E27FC236}">
                <a16:creationId xmlns:a16="http://schemas.microsoft.com/office/drawing/2014/main" id="{0701A06B-9442-42BA-A15C-B25CDDD54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1 / 5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3E1EAFFD-2A95-4CFE-AD96-E6BAE6BA6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16192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4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重复咨询量大">
            <a:extLst xmlns:a="http://schemas.openxmlformats.org/drawingml/2006/main">
              <a:ext uri="{FF2B5EF4-FFF2-40B4-BE49-F238E27FC236}">
                <a16:creationId xmlns:a16="http://schemas.microsoft.com/office/drawing/2014/main" id="{6CED9E3E-F15F-49EF-9A7C-081AEF8E4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619250"/>
            <a:ext cx="3286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重复咨询量大</a:t>
            </a:r>
          </a:p>
        </p:txBody>
      </p:sp>
      <p:sp>
        <p:nvSpPr>
          <p:cNvPr id="7" name="参数、保修与售后政策分散，用户反复查找">
            <a:extLst xmlns:a="http://schemas.openxmlformats.org/drawingml/2006/main">
              <a:ext uri="{FF2B5EF4-FFF2-40B4-BE49-F238E27FC236}">
                <a16:creationId xmlns:a16="http://schemas.microsoft.com/office/drawing/2014/main" id="{0A99C9AD-6697-4831-9CA3-5932C6609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1004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参数、保修与售后政策分散，用户反复查找</a:t>
            </a:r>
          </a:p>
        </p:txBody>
      </p:sp>
      <p:sp>
        <p:nvSpPr>
          <p:cNvPr id="8" name="FAQ 直接返回标准条款，复杂问法继续查文档">
            <a:extLst xmlns:a="http://schemas.openxmlformats.org/drawingml/2006/main">
              <a:ext uri="{FF2B5EF4-FFF2-40B4-BE49-F238E27FC236}">
                <a16:creationId xmlns:a16="http://schemas.microsoft.com/office/drawing/2014/main" id="{4CC632DF-113B-4145-B7E0-A82C2FE0A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192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FAQ 直接返回标准条款，复杂问法继续查文档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CD9C01-F385-4997-A115-9FEA8BA52C83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550" y="2619375"/>
            <a:ext cx="103155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09E55D79-7AFA-40FF-8FC8-A064C8472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285750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4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1" name="多轮对话容易丢条件">
            <a:extLst xmlns:a="http://schemas.openxmlformats.org/drawingml/2006/main">
              <a:ext uri="{FF2B5EF4-FFF2-40B4-BE49-F238E27FC236}">
                <a16:creationId xmlns:a16="http://schemas.microsoft.com/office/drawing/2014/main" id="{D41394EC-5D33-41D4-9232-2D62E842E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857500"/>
            <a:ext cx="3286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多轮对话容易丢条件</a:t>
            </a:r>
          </a:p>
        </p:txBody>
      </p:sp>
      <p:sp>
        <p:nvSpPr>
          <p:cNvPr id="12" name="“它的屏幕呢”“那保修多久”需要理解上下文">
            <a:extLst xmlns:a="http://schemas.openxmlformats.org/drawingml/2006/main">
              <a:ext uri="{FF2B5EF4-FFF2-40B4-BE49-F238E27FC236}">
                <a16:creationId xmlns:a16="http://schemas.microsoft.com/office/drawing/2014/main" id="{C891602D-2CCE-419A-BCB0-73FB94358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14700"/>
            <a:ext cx="1004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“它的屏幕呢”“那保修多久”需要理解上下文</a:t>
            </a:r>
          </a:p>
        </p:txBody>
      </p:sp>
      <p:sp>
        <p:nvSpPr>
          <p:cNvPr id="13" name="结合上一轮问答与待补槽位，重写完整检索问题">
            <a:extLst xmlns:a="http://schemas.openxmlformats.org/drawingml/2006/main">
              <a:ext uri="{FF2B5EF4-FFF2-40B4-BE49-F238E27FC236}">
                <a16:creationId xmlns:a16="http://schemas.microsoft.com/office/drawing/2014/main" id="{24AE935E-E0BF-4A64-A0F5-C64188D63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5750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结合上一轮问答与待补槽位，重写完整检索问题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344C07-2EDB-497F-9526-603471176E8A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550" y="3857625"/>
            <a:ext cx="103155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5C4F4A5D-9BAC-48CC-ADBA-F6C40E706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4095750"/>
            <a:ext cx="619125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4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4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回答与实际办理脱节">
            <a:extLst xmlns:a="http://schemas.openxmlformats.org/drawingml/2006/main">
              <a:ext uri="{FF2B5EF4-FFF2-40B4-BE49-F238E27FC236}">
                <a16:creationId xmlns:a16="http://schemas.microsoft.com/office/drawing/2014/main" id="{6AEECC4F-918F-4807-B67B-F86AFCE0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095750"/>
            <a:ext cx="3286125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17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回答与实际办理脱节</a:t>
            </a:r>
          </a:p>
        </p:txBody>
      </p:sp>
      <p:sp>
        <p:nvSpPr>
          <p:cNvPr id="17" name="订单归属、申请商品和操作意愿需要核实">
            <a:extLst xmlns:a="http://schemas.openxmlformats.org/drawingml/2006/main">
              <a:ext uri="{FF2B5EF4-FFF2-40B4-BE49-F238E27FC236}">
                <a16:creationId xmlns:a16="http://schemas.microsoft.com/office/drawing/2014/main" id="{DA7AF5B8-D6DF-4DE3-9EBA-06242BDE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552950"/>
            <a:ext cx="10048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8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订单归属、申请商品和操作意愿需要核实</a:t>
            </a:r>
          </a:p>
        </p:txBody>
      </p:sp>
      <p:sp>
        <p:nvSpPr>
          <p:cNvPr id="18" name="查询本人订单，确认退／换／修后生成本地申请">
            <a:extLst xmlns:a="http://schemas.openxmlformats.org/drawingml/2006/main">
              <a:ext uri="{FF2B5EF4-FFF2-40B4-BE49-F238E27FC236}">
                <a16:creationId xmlns:a16="http://schemas.microsoft.com/office/drawing/2014/main" id="{99D4A167-DC34-44D1-8AB8-A37162776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095750"/>
            <a:ext cx="52863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87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查询本人订单，确认退／换／修后生成本地申请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23E922-5F1E-45FF-860E-B2D2C5FB4587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52550" y="5095875"/>
            <a:ext cx="103155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0" name="项目边界：小米国行知识资料 + 本地演示订单／售后记录，人工转接仅展示等待文案">
            <a:extLst xmlns:a="http://schemas.openxmlformats.org/drawingml/2006/main">
              <a:ext uri="{FF2B5EF4-FFF2-40B4-BE49-F238E27FC236}">
                <a16:creationId xmlns:a16="http://schemas.microsoft.com/office/drawing/2014/main" id="{59E3B329-FB3F-4EE9-B026-4F3605DB7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5734050"/>
            <a:ext cx="111061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936421"/>
                </a:solidFill>
                <a:latin typeface="Heiti TC"/>
                <a:ea typeface="Heiti TC"/>
                <a:cs typeface="Heiti TC"/>
              </a:rPr>
              <a:t>项目边界：小米国行知识资料 + 本地演示订单／售后记录，人工转接仅展示等待文案</a:t>
            </a:r>
          </a:p>
        </p:txBody>
      </p:sp>
    </p:spTree>
    <p:extLst>
      <p:ext uri="{BB962C8B-B14F-4D97-AF65-F5344CB8AC3E}">
        <p14:creationId xmlns:p14="http://schemas.microsoft.com/office/powerpoint/2010/main" val="90290035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F305BF-A460-4456-B9DF-FC8F35F369C7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19" idx="0"/>
          </p:cNvCxnSpPr>
          <p:nvPr/>
        </p:nvCxnSpPr>
        <p:spPr>
          <a:xfrm xmlns:a="http://schemas.openxmlformats.org/drawingml/2006/main">
            <a:off x="9667875" y="4352925"/>
            <a:ext cx="142875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747C59-4872-4932-AF6D-0BBC854B847B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8" idx="0"/>
          </p:cNvCxnSpPr>
          <p:nvPr/>
        </p:nvCxnSpPr>
        <p:spPr>
          <a:xfrm xmlns:a="http://schemas.openxmlformats.org/drawingml/2006/main">
            <a:off x="5262563" y="4352925"/>
            <a:ext cx="1333500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5A1C5C7-B83C-440A-9232-09012C8C17FE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17" idx="0"/>
          </p:cNvCxnSpPr>
          <p:nvPr/>
        </p:nvCxnSpPr>
        <p:spPr>
          <a:xfrm xmlns:a="http://schemas.openxmlformats.org/drawingml/2006/main" flipH="1">
            <a:off x="4357688" y="4352925"/>
            <a:ext cx="904875" cy="8667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881575-9364-4F04-9D86-784153B4228C}"/>
              </a:ext>
            </a:extLst>
          </p:cNvPr>
          <p:cNvCxnSpPr>
            <a:stCxn xmlns:a="http://schemas.openxmlformats.org/drawingml/2006/main" id="6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1690688" y="2362200"/>
            <a:ext cx="3000375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285F98"/>
            </a:solidFill>
            <a:prstDash val="dash"/>
            <a:tailEnd type="triangle" w="sm" len="sm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68C6EA-F92D-414B-9618-7CF93ACAB6E2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>
            <a:off x="9096375" y="2362200"/>
            <a:ext cx="571500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80FA4F-A5CF-4C1A-87BF-FD35348B7B49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5262563" y="2362200"/>
            <a:ext cx="3833813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E3410EA-DC0B-4DDE-A521-262EB50C118A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000750" y="1981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BE1372E-C990-436C-907D-7C1FCF0997BB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19812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28" name="系统架构">
            <a:extLst xmlns:a="http://schemas.openxmlformats.org/drawingml/2006/main">
              <a:ext uri="{FF2B5EF4-FFF2-40B4-BE49-F238E27FC236}">
                <a16:creationId xmlns:a16="http://schemas.microsoft.com/office/drawing/2014/main" id="{0F86B964-0BAD-4501-B946-F9443F74D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系统架构</a:t>
            </a:r>
          </a:p>
        </p:txBody>
      </p:sp>
      <p:sp>
        <p:nvSpPr>
          <p:cNvPr id="2" name="Vue 3 提供对话界面，FastAPI 接入请求，LangGraph 编排业务与知识查询">
            <a:extLst xmlns:a="http://schemas.openxmlformats.org/drawingml/2006/main">
              <a:ext uri="{FF2B5EF4-FFF2-40B4-BE49-F238E27FC236}">
                <a16:creationId xmlns:a16="http://schemas.microsoft.com/office/drawing/2014/main" id="{DBA5DE55-DEBE-487B-A2B4-6AB627935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Vue 3 提供对话界面，FastAPI 接入请求，LangGraph 编排业务与知识查询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AF4A9F60-813B-4430-898F-CD79D00A13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2 / 5">
            <a:extLst xmlns:a="http://schemas.openxmlformats.org/drawingml/2006/main">
              <a:ext uri="{FF2B5EF4-FFF2-40B4-BE49-F238E27FC236}">
                <a16:creationId xmlns:a16="http://schemas.microsoft.com/office/drawing/2014/main" id="{F41408F5-E55A-416E-9CA5-21E67F602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2 / 5</a:t>
            </a:r>
          </a:p>
        </p:txBody>
      </p:sp>
      <p:sp>
        <p:nvSpPr>
          <p:cNvPr id="5" name="Vue 3 + Vite">
            <a:extLst xmlns:a="http://schemas.openxmlformats.org/drawingml/2006/main">
              <a:ext uri="{FF2B5EF4-FFF2-40B4-BE49-F238E27FC236}">
                <a16:creationId xmlns:a16="http://schemas.microsoft.com/office/drawing/2014/main" id="{90B9099F-B8AC-4DF9-A0D6-9E116EC4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600200"/>
            <a:ext cx="233362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Vue 3 + Vite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登录、对话、进度</a:t>
            </a:r>
          </a:p>
        </p:txBody>
      </p:sp>
      <p:sp>
        <p:nvSpPr>
          <p:cNvPr id="6" name="FastAPI + SSE">
            <a:extLst xmlns:a="http://schemas.openxmlformats.org/drawingml/2006/main">
              <a:ext uri="{FF2B5EF4-FFF2-40B4-BE49-F238E27FC236}">
                <a16:creationId xmlns:a16="http://schemas.microsoft.com/office/drawing/2014/main" id="{3A27C76B-46F9-4A96-88AC-613A26001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600200"/>
            <a:ext cx="2619375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FastAPI + SSE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Cookie 身份、请求排队</a:t>
            </a:r>
          </a:p>
        </p:txBody>
      </p:sp>
      <p:sp>
        <p:nvSpPr>
          <p:cNvPr id="7" name="LangGraph 客服主图">
            <a:extLst xmlns:a="http://schemas.openxmlformats.org/drawingml/2006/main">
              <a:ext uri="{FF2B5EF4-FFF2-40B4-BE49-F238E27FC236}">
                <a16:creationId xmlns:a16="http://schemas.microsoft.com/office/drawing/2014/main" id="{BF9E96F4-7163-4035-9C94-30AD79566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625" y="1600200"/>
            <a:ext cx="5143500" cy="762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LangGraph 客服主图</a:t>
            </a:r>
          </a:p>
          <a:p xmlns:a="http://schemas.openxmlformats.org/drawingml/2006/main">
            <a:pPr algn="ctr">
              <a:defRPr sz="17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规则与 LLM 路由、统一回复</a:t>
            </a:r>
          </a:p>
        </p:txBody>
      </p:sp>
      <p:sp>
        <p:nvSpPr>
          <p:cNvPr id="10" name="LLM 接入">
            <a:extLst xmlns:a="http://schemas.openxmlformats.org/drawingml/2006/main">
              <a:ext uri="{FF2B5EF4-FFF2-40B4-BE49-F238E27FC236}">
                <a16:creationId xmlns:a16="http://schemas.microsoft.com/office/drawing/2014/main" id="{725BDCF5-02C1-4D67-8F78-0590B06CC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238500"/>
            <a:ext cx="233362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LLM 接入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DeepSeek、MiniMax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分类、重写与生成</a:t>
            </a:r>
          </a:p>
        </p:txBody>
      </p:sp>
      <p:sp>
        <p:nvSpPr>
          <p:cNvPr id="11" name="固定 RAG 子流程">
            <a:extLst xmlns:a="http://schemas.openxmlformats.org/drawingml/2006/main">
              <a:ext uri="{FF2B5EF4-FFF2-40B4-BE49-F238E27FC236}">
                <a16:creationId xmlns:a16="http://schemas.microsoft.com/office/drawing/2014/main" id="{EA35CA83-AF9B-4847-9729-A7B086210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238500"/>
            <a:ext cx="3762375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固定 RAG 子流程</a:t>
            </a:r>
          </a:p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FAQ、文档混合检索、精排</a:t>
            </a:r>
          </a:p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可选手机参数关系查询</a:t>
            </a:r>
          </a:p>
        </p:txBody>
      </p:sp>
      <p:sp>
        <p:nvSpPr>
          <p:cNvPr id="12" name="业务节点">
            <a:extLst xmlns:a="http://schemas.openxmlformats.org/drawingml/2006/main">
              <a:ext uri="{FF2B5EF4-FFF2-40B4-BE49-F238E27FC236}">
                <a16:creationId xmlns:a16="http://schemas.microsoft.com/office/drawing/2014/main" id="{BF3BF1D1-910C-4E07-A201-85C34BD4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3238500"/>
            <a:ext cx="4000500" cy="1114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业务节点</a:t>
            </a:r>
          </a:p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本人订单查询</a:t>
            </a:r>
          </a:p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退货／换货／维修申请</a:t>
            </a:r>
          </a:p>
        </p:txBody>
      </p:sp>
      <p:sp>
        <p:nvSpPr>
          <p:cNvPr id="16" name="模型供 Graph 与 RAG 使用">
            <a:extLst xmlns:a="http://schemas.openxmlformats.org/drawingml/2006/main">
              <a:ext uri="{FF2B5EF4-FFF2-40B4-BE49-F238E27FC236}">
                <a16:creationId xmlns:a16="http://schemas.microsoft.com/office/drawing/2014/main" id="{639C2B83-5B0E-47E4-A906-848C3A43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5243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模型供 Graph 与 RAG 使用</a:t>
            </a:r>
          </a:p>
        </p:txBody>
      </p:sp>
      <p:sp>
        <p:nvSpPr>
          <p:cNvPr id="17" name="Milvus">
            <a:extLst xmlns:a="http://schemas.openxmlformats.org/drawingml/2006/main">
              <a:ext uri="{FF2B5EF4-FFF2-40B4-BE49-F238E27FC236}">
                <a16:creationId xmlns:a16="http://schemas.microsoft.com/office/drawing/2014/main" id="{B9CB1EC1-4A03-414A-8246-61DB476EA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19700"/>
            <a:ext cx="1952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Milvus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FAQ 与文档向量</a:t>
            </a:r>
          </a:p>
        </p:txBody>
      </p:sp>
      <p:sp>
        <p:nvSpPr>
          <p:cNvPr id="18" name="Redis">
            <a:extLst xmlns:a="http://schemas.openxmlformats.org/drawingml/2006/main">
              <a:ext uri="{FF2B5EF4-FFF2-40B4-BE49-F238E27FC236}">
                <a16:creationId xmlns:a16="http://schemas.microsoft.com/office/drawing/2014/main" id="{C24C45E2-7E9B-4DD9-8857-5DB70AEA0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219700"/>
            <a:ext cx="204787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Redis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版本化正文、目录</a:t>
            </a:r>
          </a:p>
        </p:txBody>
      </p:sp>
      <p:sp>
        <p:nvSpPr>
          <p:cNvPr id="19" name="PostgreSQL">
            <a:extLst xmlns:a="http://schemas.openxmlformats.org/drawingml/2006/main">
              <a:ext uri="{FF2B5EF4-FFF2-40B4-BE49-F238E27FC236}">
                <a16:creationId xmlns:a16="http://schemas.microsoft.com/office/drawing/2014/main" id="{BFB8F9D7-1407-4555-9C1E-E23670139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5219700"/>
            <a:ext cx="37147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PostgreSQL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会话检查点、订单、申请</a:t>
            </a:r>
          </a:p>
        </p:txBody>
      </p:sp>
      <p:sp>
        <p:nvSpPr>
          <p:cNvPr id="23" name="Neo4j（可选）">
            <a:extLst xmlns:a="http://schemas.openxmlformats.org/drawingml/2006/main">
              <a:ext uri="{FF2B5EF4-FFF2-40B4-BE49-F238E27FC236}">
                <a16:creationId xmlns:a16="http://schemas.microsoft.com/office/drawing/2014/main" id="{0672F729-44A0-4DBA-B299-48E3BD449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5219700"/>
            <a:ext cx="2333625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Neo4j（可选）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手机参数关系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8FD6A4-3092-46AF-83E6-3255255C5F9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3667125" y="4352925"/>
            <a:ext cx="0" cy="6000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4E8E90-B525-4E53-91C4-78B5ABF110E7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85925" y="4953000"/>
            <a:ext cx="19812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31A0349-6BFD-4DC2-BF6D-2318B5945BC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85925" y="4953000"/>
            <a:ext cx="0" cy="2667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27" name="原始 Markdown 统一维护知识，更新 Milvus / Redis；参数关系单独同步 Neo4j">
            <a:extLst xmlns:a="http://schemas.openxmlformats.org/drawingml/2006/main">
              <a:ext uri="{FF2B5EF4-FFF2-40B4-BE49-F238E27FC236}">
                <a16:creationId xmlns:a16="http://schemas.microsoft.com/office/drawing/2014/main" id="{74C8B11E-76BA-4882-A6C9-277B6ADE2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6038850"/>
            <a:ext cx="828675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0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原始 Markdown 统一维护知识，更新 Milvus / Redis；参数关系单独同步 Neo4j</a:t>
            </a:r>
          </a:p>
        </p:txBody>
      </p:sp>
    </p:spTree>
    <p:extLst>
      <p:ext uri="{BB962C8B-B14F-4D97-AF65-F5344CB8AC3E}">
        <p14:creationId xmlns:p14="http://schemas.microsoft.com/office/powerpoint/2010/main" val="7704200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项目亮点">
            <a:extLst xmlns:a="http://schemas.openxmlformats.org/drawingml/2006/main">
              <a:ext uri="{FF2B5EF4-FFF2-40B4-BE49-F238E27FC236}">
                <a16:creationId xmlns:a16="http://schemas.microsoft.com/office/drawing/2014/main" id="{5B134259-9113-4919-9E99-2C9223B8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项目亮点</a:t>
            </a:r>
          </a:p>
        </p:txBody>
      </p:sp>
      <p:sp>
        <p:nvSpPr>
          <p:cNvPr id="2" name="围绕实际问答与办理过程，保持流程可追踪、证据有来源、写操作有确认">
            <a:extLst xmlns:a="http://schemas.openxmlformats.org/drawingml/2006/main">
              <a:ext uri="{FF2B5EF4-FFF2-40B4-BE49-F238E27FC236}">
                <a16:creationId xmlns:a16="http://schemas.microsoft.com/office/drawing/2014/main" id="{5B15687C-A2A9-4604-A7D1-B54C1EAA2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围绕实际问答与办理过程，保持流程可追踪、证据有来源、写操作有确认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21B08C36-BEAE-4DCB-8CDC-E6276D4BB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3 / 5">
            <a:extLst xmlns:a="http://schemas.openxmlformats.org/drawingml/2006/main">
              <a:ext uri="{FF2B5EF4-FFF2-40B4-BE49-F238E27FC236}">
                <a16:creationId xmlns:a16="http://schemas.microsoft.com/office/drawing/2014/main" id="{3FBA84D9-52BF-4506-8BD4-C79D9C6A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3 / 5</a:t>
            </a:r>
          </a:p>
        </p:txBody>
      </p:sp>
      <p:sp>
        <p:nvSpPr>
          <p:cNvPr id="5" name="01">
            <a:extLst xmlns:a="http://schemas.openxmlformats.org/drawingml/2006/main">
              <a:ext uri="{FF2B5EF4-FFF2-40B4-BE49-F238E27FC236}">
                <a16:creationId xmlns:a16="http://schemas.microsoft.com/office/drawing/2014/main" id="{C09ABA9E-D9E6-4DFB-9171-4E9E28F08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5240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01</a:t>
            </a:r>
          </a:p>
        </p:txBody>
      </p:sp>
      <p:sp>
        <p:nvSpPr>
          <p:cNvPr id="6" name="可控的单意图路由">
            <a:extLst xmlns:a="http://schemas.openxmlformats.org/drawingml/2006/main">
              <a:ext uri="{FF2B5EF4-FFF2-40B4-BE49-F238E27FC236}">
                <a16:creationId xmlns:a16="http://schemas.microsoft.com/office/drawing/2014/main" id="{56240975-7E66-4090-A44A-269CA7B55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5240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可控的单意图路由</a:t>
            </a:r>
          </a:p>
        </p:txBody>
      </p:sp>
      <p:sp>
        <p:nvSpPr>
          <p:cNvPr id="7" name="明确寒暄与转人工走 Python 规则，其余由 LLM 分类">
            <a:extLst xmlns:a="http://schemas.openxmlformats.org/drawingml/2006/main">
              <a:ext uri="{FF2B5EF4-FFF2-40B4-BE49-F238E27FC236}">
                <a16:creationId xmlns:a16="http://schemas.microsoft.com/office/drawing/2014/main" id="{F89D50B7-CF95-486B-B393-D06F0A53D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19716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明确寒暄与转人工走 Python 规则，其余由 LLM 分类</a:t>
            </a:r>
          </a:p>
        </p:txBody>
      </p:sp>
      <p:sp>
        <p:nvSpPr>
          <p:cNvPr id="8" name="多轮上下文与 SSE 节点进度可追踪">
            <a:extLst xmlns:a="http://schemas.openxmlformats.org/drawingml/2006/main">
              <a:ext uri="{FF2B5EF4-FFF2-40B4-BE49-F238E27FC236}">
                <a16:creationId xmlns:a16="http://schemas.microsoft.com/office/drawing/2014/main" id="{63DD0222-20CF-4D89-A169-E0322BCDB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5240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多轮上下文与 SSE 节点进度可追踪</a:t>
            </a:r>
          </a:p>
        </p:txBody>
      </p: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8363760-5B63-4309-BBC3-2C271E80F979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24574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0" name="02">
            <a:extLst xmlns:a="http://schemas.openxmlformats.org/drawingml/2006/main">
              <a:ext uri="{FF2B5EF4-FFF2-40B4-BE49-F238E27FC236}">
                <a16:creationId xmlns:a16="http://schemas.microsoft.com/office/drawing/2014/main" id="{7F64E16C-C55B-4D16-8C40-88BE27BD4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6289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02</a:t>
            </a:r>
          </a:p>
        </p:txBody>
      </p:sp>
      <p:sp>
        <p:nvSpPr>
          <p:cNvPr id="11" name="分层检索与独立精排">
            <a:extLst xmlns:a="http://schemas.openxmlformats.org/drawingml/2006/main">
              <a:ext uri="{FF2B5EF4-FFF2-40B4-BE49-F238E27FC236}">
                <a16:creationId xmlns:a16="http://schemas.microsoft.com/office/drawing/2014/main" id="{0952BAAF-723F-4263-A117-431F4A534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26289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分层检索与独立精排</a:t>
            </a:r>
          </a:p>
        </p:txBody>
      </p:sp>
      <p:sp>
        <p:nvSpPr>
          <p:cNvPr id="12" name="FAQ 优先，未明确命中再走原查询 + HyDE 混合检索">
            <a:extLst xmlns:a="http://schemas.openxmlformats.org/drawingml/2006/main">
              <a:ext uri="{FF2B5EF4-FFF2-40B4-BE49-F238E27FC236}">
                <a16:creationId xmlns:a16="http://schemas.microsoft.com/office/drawing/2014/main" id="{92094C56-A72C-4EA7-84A4-DB6B1F523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0765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FAQ 优先，未明确命中再走原查询 + HyDE 混合检索</a:t>
            </a:r>
          </a:p>
        </p:txBody>
      </p:sp>
      <p:sp>
        <p:nvSpPr>
          <p:cNvPr id="13" name="双向量召回后，按证据相关性独立精排">
            <a:extLst xmlns:a="http://schemas.openxmlformats.org/drawingml/2006/main">
              <a:ext uri="{FF2B5EF4-FFF2-40B4-BE49-F238E27FC236}">
                <a16:creationId xmlns:a16="http://schemas.microsoft.com/office/drawing/2014/main" id="{4E13904F-9418-486B-A870-A71266822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289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双向量召回后，按证据相关性独立精排</a:t>
            </a:r>
          </a:p>
        </p:txBody>
      </p: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8FCE5F-F159-49E7-8197-1625C3D0FC5F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35623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15" name="03">
            <a:extLst xmlns:a="http://schemas.openxmlformats.org/drawingml/2006/main">
              <a:ext uri="{FF2B5EF4-FFF2-40B4-BE49-F238E27FC236}">
                <a16:creationId xmlns:a16="http://schemas.microsoft.com/office/drawing/2014/main" id="{0E3FBF65-EBD7-4D2F-A5AC-631D67DB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7338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03</a:t>
            </a:r>
          </a:p>
        </p:txBody>
      </p:sp>
      <p:sp>
        <p:nvSpPr>
          <p:cNvPr id="16" name="参数关系查询有确定结果">
            <a:extLst xmlns:a="http://schemas.openxmlformats.org/drawingml/2006/main">
              <a:ext uri="{FF2B5EF4-FFF2-40B4-BE49-F238E27FC236}">
                <a16:creationId xmlns:a16="http://schemas.microsoft.com/office/drawing/2014/main" id="{334C922F-B3B3-47C2-8CA9-7EDE1A118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7338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参数关系查询有确定结果</a:t>
            </a:r>
          </a:p>
        </p:txBody>
      </p:sp>
      <p:sp>
        <p:nvSpPr>
          <p:cNvPr id="17" name="Neo4j 支持型号比较、共同参数与多条件筛选">
            <a:extLst xmlns:a="http://schemas.openxmlformats.org/drawingml/2006/main">
              <a:ext uri="{FF2B5EF4-FFF2-40B4-BE49-F238E27FC236}">
                <a16:creationId xmlns:a16="http://schemas.microsoft.com/office/drawing/2014/main" id="{B4FD2758-ED65-4C6D-AE6E-7BA96580E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814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Neo4j 支持型号比较、共同参数与多条件筛选</a:t>
            </a:r>
          </a:p>
        </p:txBody>
      </p:sp>
      <p:sp>
        <p:nvSpPr>
          <p:cNvPr id="18" name="固定 Cypher 查询，程序计算差值与筛选结果">
            <a:extLst xmlns:a="http://schemas.openxmlformats.org/drawingml/2006/main">
              <a:ext uri="{FF2B5EF4-FFF2-40B4-BE49-F238E27FC236}">
                <a16:creationId xmlns:a16="http://schemas.microsoft.com/office/drawing/2014/main" id="{B2F75206-2AE0-49FB-9513-7D1B06A17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7338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固定 Cypher 查询，程序计算差值与筛选结果</a:t>
            </a:r>
          </a:p>
        </p:txBody>
      </p: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44AC7ED-A138-420E-928A-D9DD9F4293D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46672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0" name="04">
            <a:extLst xmlns:a="http://schemas.openxmlformats.org/drawingml/2006/main">
              <a:ext uri="{FF2B5EF4-FFF2-40B4-BE49-F238E27FC236}">
                <a16:creationId xmlns:a16="http://schemas.microsoft.com/office/drawing/2014/main" id="{8B14328C-AF39-4DFD-B9CF-E876E5377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838700"/>
            <a:ext cx="6286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325" b="1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2325" b="1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04</a:t>
            </a:r>
          </a:p>
        </p:txBody>
      </p:sp>
      <p:sp>
        <p:nvSpPr>
          <p:cNvPr id="21" name="售后确认与重复提交保护">
            <a:extLst xmlns:a="http://schemas.openxmlformats.org/drawingml/2006/main">
              <a:ext uri="{FF2B5EF4-FFF2-40B4-BE49-F238E27FC236}">
                <a16:creationId xmlns:a16="http://schemas.microsoft.com/office/drawing/2014/main" id="{84785FB6-A1B1-4B9D-824E-AAA0F4404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83870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2025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2025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售后确认与重复提交保护</a:t>
            </a:r>
          </a:p>
        </p:txBody>
      </p:sp>
      <p:sp>
        <p:nvSpPr>
          <p:cNvPr id="22" name="核对本人订单、商品和动作，明确确认后再创建申请">
            <a:extLst xmlns:a="http://schemas.openxmlformats.org/drawingml/2006/main">
              <a:ext uri="{FF2B5EF4-FFF2-40B4-BE49-F238E27FC236}">
                <a16:creationId xmlns:a16="http://schemas.microsoft.com/office/drawing/2014/main" id="{139E2A5E-BF8D-4601-AB4E-11BF2693B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286375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核对本人订单、商品和动作，明确确认后再创建申请</a:t>
            </a:r>
          </a:p>
        </p:txBody>
      </p:sp>
      <p:sp>
        <p:nvSpPr>
          <p:cNvPr id="23" name="参数改变重新确认，同一申请不重复创建">
            <a:extLst xmlns:a="http://schemas.openxmlformats.org/drawingml/2006/main">
              <a:ext uri="{FF2B5EF4-FFF2-40B4-BE49-F238E27FC236}">
                <a16:creationId xmlns:a16="http://schemas.microsoft.com/office/drawing/2014/main" id="{93F116C3-5DC1-48D4-B3C9-E5B62C0B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838700"/>
            <a:ext cx="547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参数改变重新确认，同一申请不重复创建</a:t>
            </a:r>
          </a:p>
        </p:txBody>
      </p: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8394AD-F6A9-4D7B-9179-A3F7EB41D1F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333500" y="5772150"/>
            <a:ext cx="1033462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B6C8D6"/>
            </a:solidFill>
            <a:prstDash val="solid"/>
            <a:tailEnd type="none" w="med" len="med"/>
          </a:ln>
        </p:spPr>
      </p:cxnSp>
      <p:sp>
        <p:nvSpPr>
          <p:cNvPr id="25" name="知识来自同一份 Markdown 正文，内部保留来源与版本；未找到依据时明确说明无法核实">
            <a:extLst xmlns:a="http://schemas.openxmlformats.org/drawingml/2006/main">
              <a:ext uri="{FF2B5EF4-FFF2-40B4-BE49-F238E27FC236}">
                <a16:creationId xmlns:a16="http://schemas.microsoft.com/office/drawing/2014/main" id="{88227336-959C-46B6-BD13-1512630CD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6076950"/>
            <a:ext cx="110966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6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知识来自同一份 Markdown 正文，内部保留来源与版本；未找到依据时明确说明无法核实</a:t>
            </a:r>
          </a:p>
        </p:txBody>
      </p:sp>
    </p:spTree>
    <p:extLst>
      <p:ext uri="{BB962C8B-B14F-4D97-AF65-F5344CB8AC3E}">
        <p14:creationId xmlns:p14="http://schemas.microsoft.com/office/powerpoint/2010/main" val="10306691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9B33FBC-91C6-4391-8076-160050B409B7}"/>
              </a:ext>
            </a:extLst>
          </p:cNvPr>
          <p:cNvCxnSpPr>
            <a:stCxn xmlns:a="http://schemas.openxmlformats.org/drawingml/2006/main" id="46" idx="3"/>
            <a:endCxn xmlns:a="http://schemas.openxmlformats.org/drawingml/2006/main" id="42" idx="2"/>
          </p:cNvCxnSpPr>
          <p:nvPr/>
        </p:nvCxnSpPr>
        <p:spPr>
          <a:xfrm xmlns:a="http://schemas.openxmlformats.org/drawingml/2006/main" flipV="1">
            <a:off x="9334500" y="5962650"/>
            <a:ext cx="1714500" cy="285750"/>
          </a:xfrm>
          <a:prstGeom xmlns:a="http://schemas.openxmlformats.org/drawingml/2006/main" prst="bentConnector2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A2F2B3F-98B4-4361-B5DE-C23AD5B33B00}"/>
              </a:ext>
            </a:extLst>
          </p:cNvPr>
          <p:cNvCxnSpPr>
            <a:stCxn xmlns:a="http://schemas.openxmlformats.org/drawingml/2006/main" id="41" idx="2"/>
            <a:endCxn xmlns:a="http://schemas.openxmlformats.org/drawingml/2006/main" id="46" idx="0"/>
          </p:cNvCxnSpPr>
          <p:nvPr/>
        </p:nvCxnSpPr>
        <p:spPr>
          <a:xfrm xmlns:a="http://schemas.openxmlformats.org/drawingml/2006/main">
            <a:off x="8286750" y="5962650"/>
            <a:ext cx="0" cy="14287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B4C66F-B104-48F2-8920-A33A736EFEE6}"/>
              </a:ext>
            </a:extLst>
          </p:cNvPr>
          <p:cNvCxnSpPr>
            <a:stCxn xmlns:a="http://schemas.openxmlformats.org/drawingml/2006/main" id="41" idx="3"/>
            <a:endCxn xmlns:a="http://schemas.openxmlformats.org/drawingml/2006/main" id="42" idx="1"/>
          </p:cNvCxnSpPr>
          <p:nvPr/>
        </p:nvCxnSpPr>
        <p:spPr>
          <a:xfrm xmlns:a="http://schemas.openxmlformats.org/drawingml/2006/main">
            <a:off x="9334500" y="5676900"/>
            <a:ext cx="10953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9272BA3-C808-49E2-B330-BD15E92B00CE}"/>
              </a:ext>
            </a:extLst>
          </p:cNvPr>
          <p:cNvCxnSpPr>
            <a:stCxn xmlns:a="http://schemas.openxmlformats.org/drawingml/2006/main" id="35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6334125" y="5676900"/>
            <a:ext cx="904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3EAED4C-1812-444B-BC6E-7C0398BCD4E8}"/>
              </a:ext>
            </a:extLst>
          </p:cNvPr>
          <p:cNvCxnSpPr>
            <a:stCxn xmlns:a="http://schemas.openxmlformats.org/drawingml/2006/main" id="29" idx="2"/>
            <a:endCxn xmlns:a="http://schemas.openxmlformats.org/drawingml/2006/main" id="35" idx="0"/>
          </p:cNvCxnSpPr>
          <p:nvPr/>
        </p:nvCxnSpPr>
        <p:spPr>
          <a:xfrm xmlns:a="http://schemas.openxmlformats.org/drawingml/2006/main">
            <a:off x="5286375" y="5105400"/>
            <a:ext cx="0" cy="28575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DE22A27-4109-4FA0-9257-E0CE3074562E}"/>
              </a:ext>
            </a:extLst>
          </p:cNvPr>
          <p:cNvCxnSpPr>
            <a:stCxn xmlns:a="http://schemas.openxmlformats.org/drawingml/2006/main" id="16" idx="2"/>
            <a:endCxn xmlns:a="http://schemas.openxmlformats.org/drawingml/2006/main" id="30" idx="0"/>
          </p:cNvCxnSpPr>
          <p:nvPr/>
        </p:nvCxnSpPr>
        <p:spPr>
          <a:xfrm xmlns:a="http://schemas.openxmlformats.org/drawingml/2006/main">
            <a:off x="10739438" y="3467100"/>
            <a:ext cx="0" cy="10668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7B1150-1662-4E91-B4F5-7E4720A4109F}"/>
              </a:ext>
            </a:extLst>
          </p:cNvPr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6334125" y="4819650"/>
            <a:ext cx="3476625" cy="142875"/>
          </a:xfrm>
          <a:prstGeom xmlns:a="http://schemas.openxmlformats.org/drawingml/2006/main" prst="bentConnector4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1FE0D9-9DE6-4AAD-8032-E27262C5B996}"/>
              </a:ext>
            </a:extLst>
          </p:cNvPr>
          <p:cNvCxnSpPr>
            <a:stCxn xmlns:a="http://schemas.openxmlformats.org/drawingml/2006/main" id="23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5048250" y="4286250"/>
            <a:ext cx="238125" cy="24765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E2B54D-176D-4688-81F5-7EC1272435F3}"/>
              </a:ext>
            </a:extLst>
          </p:cNvPr>
          <p:cNvCxnSpPr>
            <a:stCxn xmlns:a="http://schemas.openxmlformats.org/drawingml/2006/main" id="15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5048250" y="3467100"/>
            <a:ext cx="371475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63452B9-32CE-4B2D-ABCA-44B8AA127B5C}"/>
              </a:ext>
            </a:extLst>
          </p:cNvPr>
          <p:cNvCxnSpPr>
            <a:stCxn xmlns:a="http://schemas.openxmlformats.org/drawingml/2006/main" id="14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 flipH="1">
            <a:off x="5048250" y="3467100"/>
            <a:ext cx="185737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3C04509-FB28-4CF9-AE12-0AB56D86EAA1}"/>
              </a:ext>
            </a:extLst>
          </p:cNvPr>
          <p:cNvCxnSpPr>
            <a:stCxn xmlns:a="http://schemas.openxmlformats.org/drawingml/2006/main" id="13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5048250" y="3467100"/>
            <a:ext cx="0" cy="38100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E7F5E36-967F-4C73-A346-F7513D745104}"/>
              </a:ext>
            </a:extLst>
          </p:cNvPr>
          <p:cNvCxnSpPr>
            <a:stCxn xmlns:a="http://schemas.openxmlformats.org/drawingml/2006/main" id="12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3190875" y="3467100"/>
            <a:ext cx="1857375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E767DA-9560-47D4-815F-1868530754F1}"/>
              </a:ext>
            </a:extLst>
          </p:cNvPr>
          <p:cNvCxnSpPr>
            <a:stCxn xmlns:a="http://schemas.openxmlformats.org/drawingml/2006/main" id="11" idx="2"/>
            <a:endCxn xmlns:a="http://schemas.openxmlformats.org/drawingml/2006/main" id="23" idx="0"/>
          </p:cNvCxnSpPr>
          <p:nvPr/>
        </p:nvCxnSpPr>
        <p:spPr>
          <a:xfrm xmlns:a="http://schemas.openxmlformats.org/drawingml/2006/main">
            <a:off x="1333500" y="3467100"/>
            <a:ext cx="3714750" cy="3810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02507A-4F51-4429-B154-C486A486B32F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5762625" y="2047875"/>
            <a:ext cx="4976813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02A2E-2263-416F-965E-64B8C054840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5" idx="0"/>
          </p:cNvCxnSpPr>
          <p:nvPr/>
        </p:nvCxnSpPr>
        <p:spPr>
          <a:xfrm xmlns:a="http://schemas.openxmlformats.org/drawingml/2006/main">
            <a:off x="5762625" y="2047875"/>
            <a:ext cx="3000375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541917D-CC37-4061-8F10-406174AA9A44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4" idx="0"/>
          </p:cNvCxnSpPr>
          <p:nvPr/>
        </p:nvCxnSpPr>
        <p:spPr>
          <a:xfrm xmlns:a="http://schemas.openxmlformats.org/drawingml/2006/main">
            <a:off x="5762625" y="2047875"/>
            <a:ext cx="1143000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7275430-A5B8-44FF-809E-0480E6A2D1DD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3" idx="0"/>
          </p:cNvCxnSpPr>
          <p:nvPr/>
        </p:nvCxnSpPr>
        <p:spPr>
          <a:xfrm xmlns:a="http://schemas.openxmlformats.org/drawingml/2006/main" flipH="1">
            <a:off x="5048250" y="2047875"/>
            <a:ext cx="714375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8D6A887-7F9D-4022-BDC0-F02237EDDD56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2" idx="0"/>
          </p:cNvCxnSpPr>
          <p:nvPr/>
        </p:nvCxnSpPr>
        <p:spPr>
          <a:xfrm xmlns:a="http://schemas.openxmlformats.org/drawingml/2006/main" flipH="1">
            <a:off x="3190875" y="2047875"/>
            <a:ext cx="2571750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F24BE9-496B-48F0-9054-145598DA6FDA}"/>
              </a:ext>
            </a:extLst>
          </p:cNvPr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 flipH="1">
            <a:off x="1333500" y="2047875"/>
            <a:ext cx="4429125" cy="752475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FFB47-909F-453F-91DA-C75ADCF2DF7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4143375" y="1743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41D4E6-AEAB-4C24-91F8-36F9A226E073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1666875" y="1743075"/>
            <a:ext cx="381000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51" name="客服 Graph 主流程">
            <a:extLst xmlns:a="http://schemas.openxmlformats.org/drawingml/2006/main">
              <a:ext uri="{FF2B5EF4-FFF2-40B4-BE49-F238E27FC236}">
                <a16:creationId xmlns:a16="http://schemas.microsoft.com/office/drawing/2014/main" id="{7194A009-1F77-4646-BBF7-42FDCC040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客服 Graph 主流程</a:t>
            </a:r>
          </a:p>
        </p:txBody>
      </p:sp>
      <p:sp>
        <p:nvSpPr>
          <p:cNvPr id="2" name="单意图分流后汇总业务结果，再生成回复并校验">
            <a:extLst xmlns:a="http://schemas.openxmlformats.org/drawingml/2006/main">
              <a:ext uri="{FF2B5EF4-FFF2-40B4-BE49-F238E27FC236}">
                <a16:creationId xmlns:a16="http://schemas.microsoft.com/office/drawing/2014/main" id="{736F7597-7661-48B2-B221-F8EA76D5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单意图分流后汇总业务结果，再生成回复并校验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EB5D1346-4840-4C84-A496-38469ED8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4 / 5">
            <a:extLst xmlns:a="http://schemas.openxmlformats.org/drawingml/2006/main">
              <a:ext uri="{FF2B5EF4-FFF2-40B4-BE49-F238E27FC236}">
                <a16:creationId xmlns:a16="http://schemas.microsoft.com/office/drawing/2014/main" id="{DB15A19B-E096-4215-84DB-1CD72461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4 / 5</a:t>
            </a:r>
          </a:p>
        </p:txBody>
      </p:sp>
      <p:sp>
        <p:nvSpPr>
          <p:cNvPr id="5" name="START">
            <a:extLst xmlns:a="http://schemas.openxmlformats.org/drawingml/2006/main">
              <a:ext uri="{FF2B5EF4-FFF2-40B4-BE49-F238E27FC236}">
                <a16:creationId xmlns:a16="http://schemas.microsoft.com/office/drawing/2014/main" id="{97788ADC-1A1A-49C5-AA04-E597EA693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485900"/>
            <a:ext cx="11430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START</a:t>
            </a:r>
          </a:p>
        </p:txBody>
      </p:sp>
      <p:sp>
        <p:nvSpPr>
          <p:cNvPr id="6" name="prepare_context">
            <a:extLst xmlns:a="http://schemas.openxmlformats.org/drawingml/2006/main">
              <a:ext uri="{FF2B5EF4-FFF2-40B4-BE49-F238E27FC236}">
                <a16:creationId xmlns:a16="http://schemas.microsoft.com/office/drawing/2014/main" id="{5BBE2E71-4E9A-4087-9AFC-3F3FCB5C0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1438275"/>
            <a:ext cx="2095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prepare_context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保留有效槽位</a:t>
            </a:r>
          </a:p>
        </p:txBody>
      </p:sp>
      <p:sp>
        <p:nvSpPr>
          <p:cNvPr id="7" name="recognize_intent">
            <a:extLst xmlns:a="http://schemas.openxmlformats.org/drawingml/2006/main">
              <a:ext uri="{FF2B5EF4-FFF2-40B4-BE49-F238E27FC236}">
                <a16:creationId xmlns:a16="http://schemas.microsoft.com/office/drawing/2014/main" id="{D79F7E80-864C-4697-8344-4168B756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438275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recognize_intent</a:t>
            </a:r>
          </a:p>
          <a:p xmlns:a="http://schemas.openxmlformats.org/drawingml/2006/main">
            <a:pPr algn="ctr">
              <a:defRPr sz="16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规则 + LLM 分类</a:t>
            </a:r>
          </a:p>
        </p:txBody>
      </p:sp>
      <p:sp>
        <p:nvSpPr>
          <p:cNvPr id="10" name="复杂子图保留但当前不进入">
            <a:extLst xmlns:a="http://schemas.openxmlformats.org/drawingml/2006/main">
              <a:ext uri="{FF2B5EF4-FFF2-40B4-BE49-F238E27FC236}">
                <a16:creationId xmlns:a16="http://schemas.microsoft.com/office/drawing/2014/main" id="{8C8B7E5F-8B18-4319-B43D-8E3815CB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72375" y="1419225"/>
            <a:ext cx="40957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复杂子图保留但当前不进入</a:t>
            </a:r>
          </a:p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is_complex=False，业务工具未接入</a:t>
            </a:r>
          </a:p>
        </p:txBody>
      </p:sp>
      <p:sp>
        <p:nvSpPr>
          <p:cNvPr id="11" name="咨询">
            <a:extLst xmlns:a="http://schemas.openxmlformats.org/drawingml/2006/main">
              <a:ext uri="{FF2B5EF4-FFF2-40B4-BE49-F238E27FC236}">
                <a16:creationId xmlns:a16="http://schemas.microsoft.com/office/drawing/2014/main" id="{7049977C-DC3A-4596-9B02-83C74C51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咨询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知识检索</a:t>
            </a:r>
          </a:p>
        </p:txBody>
      </p:sp>
      <p:sp>
        <p:nvSpPr>
          <p:cNvPr id="12" name="订单查询">
            <a:extLst xmlns:a="http://schemas.openxmlformats.org/drawingml/2006/main">
              <a:ext uri="{FF2B5EF4-FFF2-40B4-BE49-F238E27FC236}">
                <a16:creationId xmlns:a16="http://schemas.microsoft.com/office/drawing/2014/main" id="{660D831B-D84C-4BD0-B156-78AE9ADFA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订单查询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本人订单</a:t>
            </a:r>
          </a:p>
        </p:txBody>
      </p:sp>
      <p:sp>
        <p:nvSpPr>
          <p:cNvPr id="13" name="售后">
            <a:extLst xmlns:a="http://schemas.openxmlformats.org/drawingml/2006/main">
              <a:ext uri="{FF2B5EF4-FFF2-40B4-BE49-F238E27FC236}">
                <a16:creationId xmlns:a16="http://schemas.microsoft.com/office/drawing/2014/main" id="{8DC6A99D-88ED-43F1-AFEB-5BEE60E9E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售后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确认后提交</a:t>
            </a:r>
          </a:p>
        </p:txBody>
      </p:sp>
      <p:sp>
        <p:nvSpPr>
          <p:cNvPr id="14" name="闲聊">
            <a:extLst xmlns:a="http://schemas.openxmlformats.org/drawingml/2006/main">
              <a:ext uri="{FF2B5EF4-FFF2-40B4-BE49-F238E27FC236}">
                <a16:creationId xmlns:a16="http://schemas.microsoft.com/office/drawing/2014/main" id="{0CEBE790-9429-43FB-9AB0-AED409854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闲聊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规则或普通回复</a:t>
            </a:r>
          </a:p>
        </p:txBody>
      </p:sp>
      <p:sp>
        <p:nvSpPr>
          <p:cNvPr id="15" name="投诉">
            <a:extLst xmlns:a="http://schemas.openxmlformats.org/drawingml/2006/main">
              <a:ext uri="{FF2B5EF4-FFF2-40B4-BE49-F238E27FC236}">
                <a16:creationId xmlns:a16="http://schemas.microsoft.com/office/drawing/2014/main" id="{CE74A46A-A1BB-4F05-8EFB-DB79075F6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800350"/>
            <a:ext cx="16192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投诉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标记需要人工</a:t>
            </a:r>
          </a:p>
        </p:txBody>
      </p:sp>
      <p:sp>
        <p:nvSpPr>
          <p:cNvPr id="16" name="转人工">
            <a:extLst xmlns:a="http://schemas.openxmlformats.org/drawingml/2006/main">
              <a:ext uri="{FF2B5EF4-FFF2-40B4-BE49-F238E27FC236}">
                <a16:creationId xmlns:a16="http://schemas.microsoft.com/office/drawing/2014/main" id="{849079DD-873E-484D-9191-BAEA33A60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800350"/>
            <a:ext cx="18573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转人工</a:t>
            </a:r>
          </a:p>
        </p:txBody>
      </p:sp>
      <p:sp>
        <p:nvSpPr>
          <p:cNvPr id="23" name="aggregate_results  汇总结果、证据与动作">
            <a:extLst xmlns:a="http://schemas.openxmlformats.org/drawingml/2006/main">
              <a:ext uri="{FF2B5EF4-FFF2-40B4-BE49-F238E27FC236}">
                <a16:creationId xmlns:a16="http://schemas.microsoft.com/office/drawing/2014/main" id="{03B7F450-A3C6-402A-B37D-A97D42CA5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48100"/>
            <a:ext cx="904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aggregate_results  汇总结果、证据与动作</a:t>
            </a:r>
          </a:p>
        </p:txBody>
      </p:sp>
      <p:sp>
        <p:nvSpPr>
          <p:cNvPr id="29" name="check_handoff">
            <a:extLst xmlns:a="http://schemas.openxmlformats.org/drawingml/2006/main">
              <a:ext uri="{FF2B5EF4-FFF2-40B4-BE49-F238E27FC236}">
                <a16:creationId xmlns:a16="http://schemas.microsoft.com/office/drawing/2014/main" id="{F4F09435-88D1-4D40-ADA4-474BA0700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453390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check_handoff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检查人工需求</a:t>
            </a:r>
          </a:p>
        </p:txBody>
      </p:sp>
      <p:sp>
        <p:nvSpPr>
          <p:cNvPr id="30" name="handoff">
            <a:extLst xmlns:a="http://schemas.openxmlformats.org/drawingml/2006/main">
              <a:ext uri="{FF2B5EF4-FFF2-40B4-BE49-F238E27FC236}">
                <a16:creationId xmlns:a16="http://schemas.microsoft.com/office/drawing/2014/main" id="{020A7052-FE2D-4D12-A434-3F7E2C905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533900"/>
            <a:ext cx="1857375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handoff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展示转接等待文案</a:t>
            </a:r>
          </a:p>
        </p:txBody>
      </p:sp>
      <p:sp>
        <p:nvSpPr>
          <p:cNvPr id="34" name="需要人工">
            <a:extLst xmlns:a="http://schemas.openxmlformats.org/drawingml/2006/main">
              <a:ext uri="{FF2B5EF4-FFF2-40B4-BE49-F238E27FC236}">
                <a16:creationId xmlns:a16="http://schemas.microsoft.com/office/drawing/2014/main" id="{9030D9B2-06B6-4B36-871F-91E544D14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543425"/>
            <a:ext cx="1428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936421"/>
                </a:solidFill>
                <a:latin typeface="Heiti TC"/>
                <a:ea typeface="Heiti TC"/>
                <a:cs typeface="Heiti TC"/>
              </a:rPr>
              <a:t>需要人工</a:t>
            </a:r>
          </a:p>
        </p:txBody>
      </p:sp>
      <p:sp>
        <p:nvSpPr>
          <p:cNvPr id="35" name="generate_answer">
            <a:extLst xmlns:a="http://schemas.openxmlformats.org/drawingml/2006/main">
              <a:ext uri="{FF2B5EF4-FFF2-40B4-BE49-F238E27FC236}">
                <a16:creationId xmlns:a16="http://schemas.microsoft.com/office/drawing/2014/main" id="{DB1B7F6B-3F2D-43BB-8381-140A83CB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53911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generate_answer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生成或直接返回回复</a:t>
            </a:r>
          </a:p>
        </p:txBody>
      </p:sp>
      <p:sp>
        <p:nvSpPr>
          <p:cNvPr id="37" name="否">
            <a:extLst xmlns:a="http://schemas.openxmlformats.org/drawingml/2006/main">
              <a:ext uri="{FF2B5EF4-FFF2-40B4-BE49-F238E27FC236}">
                <a16:creationId xmlns:a16="http://schemas.microsoft.com/office/drawing/2014/main" id="{AE245B19-BAD5-4390-B3ED-49B569AF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5133975"/>
            <a:ext cx="5334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350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否</a:t>
            </a:r>
          </a:p>
        </p:txBody>
      </p:sp>
      <p:cxnSp>
        <p:nvCxn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F2C5245-C100-4B0D-97BD-CF3314AB3400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734675" y="5105400"/>
            <a:ext cx="0" cy="1238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C4B98FB-1F18-4D8C-B05B-2B1F95284054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5905500" y="5229225"/>
            <a:ext cx="48291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B952EC4-A584-40F2-833E-0E59EDC2477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5905500" y="5229225"/>
            <a:ext cx="0" cy="16192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41" name="validate_answer">
            <a:extLst xmlns:a="http://schemas.openxmlformats.org/drawingml/2006/main">
              <a:ext uri="{FF2B5EF4-FFF2-40B4-BE49-F238E27FC236}">
                <a16:creationId xmlns:a16="http://schemas.microsoft.com/office/drawing/2014/main" id="{97F27F7B-3242-4A69-8B66-E5F04F912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91150"/>
            <a:ext cx="2095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validate_answer</a:t>
            </a:r>
          </a:p>
          <a:p xmlns:a="http://schemas.openxmlformats.org/drawingml/2006/main">
            <a:pPr algn="ctr">
              <a:defRPr sz="157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非空与边界校验</a:t>
            </a:r>
          </a:p>
        </p:txBody>
      </p:sp>
      <p:sp>
        <p:nvSpPr>
          <p:cNvPr id="42" name="END">
            <a:extLst xmlns:a="http://schemas.openxmlformats.org/drawingml/2006/main">
              <a:ext uri="{FF2B5EF4-FFF2-40B4-BE49-F238E27FC236}">
                <a16:creationId xmlns:a16="http://schemas.microsoft.com/office/drawing/2014/main" id="{B1DA210F-7BF2-4C74-858E-2503B6B65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29875" y="5391150"/>
            <a:ext cx="1238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80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80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END</a:t>
            </a:r>
          </a:p>
        </p:txBody>
      </p:sp>
      <p:sp>
        <p:nvSpPr>
          <p:cNvPr id="45" name="通过">
            <a:extLst xmlns:a="http://schemas.openxmlformats.org/drawingml/2006/main">
              <a:ext uri="{FF2B5EF4-FFF2-40B4-BE49-F238E27FC236}">
                <a16:creationId xmlns:a16="http://schemas.microsoft.com/office/drawing/2014/main" id="{8BCAA798-A836-4B71-B38C-3334BD889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53530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通过</a:t>
            </a:r>
          </a:p>
        </p:txBody>
      </p:sp>
      <p:sp>
        <p:nvSpPr>
          <p:cNvPr id="46" name="safe_fallback">
            <a:extLst xmlns:a="http://schemas.openxmlformats.org/drawingml/2006/main">
              <a:ext uri="{FF2B5EF4-FFF2-40B4-BE49-F238E27FC236}">
                <a16:creationId xmlns:a16="http://schemas.microsoft.com/office/drawing/2014/main" id="{8ED82AF8-8D79-4F83-95A1-9C1A27D9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6105525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7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4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safe_fallback</a:t>
            </a:r>
          </a:p>
        </p:txBody>
      </p:sp>
      <p:sp>
        <p:nvSpPr>
          <p:cNvPr id="49" name="失败">
            <a:extLst xmlns:a="http://schemas.openxmlformats.org/drawingml/2006/main">
              <a:ext uri="{FF2B5EF4-FFF2-40B4-BE49-F238E27FC236}">
                <a16:creationId xmlns:a16="http://schemas.microsoft.com/office/drawing/2014/main" id="{DEA6A03A-E6FA-424F-9A2F-96DCD2B4E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6086475"/>
            <a:ext cx="6477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pPr>
            <a:r>
              <a:rPr sz="1425" b="0">
                <a:solidFill>
                  <a:srgbClr val="936421"/>
                </a:solidFill>
                <a:latin typeface="Heiti TC"/>
                <a:ea typeface="Heiti TC"/>
                <a:cs typeface="Heiti TC"/>
              </a:rPr>
              <a:t>失败</a:t>
            </a:r>
          </a:p>
        </p:txBody>
      </p:sp>
      <p:sp>
        <p:nvSpPr>
          <p:cNvPr id="50" name="需澄清直接生成追问">
            <a:extLst xmlns:a="http://schemas.openxmlformats.org/drawingml/2006/main">
              <a:ext uri="{FF2B5EF4-FFF2-40B4-BE49-F238E27FC236}">
                <a16:creationId xmlns:a16="http://schemas.microsoft.com/office/drawing/2014/main" id="{4DAC50B7-356A-46B6-8C2D-1BD222A81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4752975"/>
            <a:ext cx="3333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需澄清直接生成追问</a:t>
            </a:r>
          </a:p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订单判为咨询时回到知识检索</a:t>
            </a:r>
          </a:p>
        </p:txBody>
      </p:sp>
    </p:spTree>
    <p:extLst>
      <p:ext uri="{BB962C8B-B14F-4D97-AF65-F5344CB8AC3E}">
        <p14:creationId xmlns:p14="http://schemas.microsoft.com/office/powerpoint/2010/main" val="205125832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cxnSp>
        <p:nvCxn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0526C1-F9BF-438C-89F1-D21ED42B7D65}"/>
              </a:ext>
            </a:extLst>
          </p:cNvPr>
          <p:cNvCxnSpPr>
            <a:stCxn xmlns:a="http://schemas.openxmlformats.org/drawingml/2006/main" id="30" idx="1"/>
            <a:endCxn xmlns:a="http://schemas.openxmlformats.org/drawingml/2006/main" id="31" idx="3"/>
          </p:cNvCxnSpPr>
          <p:nvPr/>
        </p:nvCxnSpPr>
        <p:spPr>
          <a:xfrm xmlns:a="http://schemas.openxmlformats.org/drawingml/2006/main" flipH="1">
            <a:off x="5572125" y="5638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B63CFD-D6DB-4A5D-9E9F-6989322EF84C}"/>
              </a:ext>
            </a:extLst>
          </p:cNvPr>
          <p:cNvCxnSpPr>
            <a:stCxn xmlns:a="http://schemas.openxmlformats.org/drawingml/2006/main" id="29" idx="1"/>
            <a:endCxn xmlns:a="http://schemas.openxmlformats.org/drawingml/2006/main" id="30" idx="3"/>
          </p:cNvCxnSpPr>
          <p:nvPr/>
        </p:nvCxnSpPr>
        <p:spPr>
          <a:xfrm xmlns:a="http://schemas.openxmlformats.org/drawingml/2006/main" flipH="1">
            <a:off x="8429625" y="5638800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70051EA-CCA7-42FA-B12F-87BCAD753FAF}"/>
              </a:ext>
            </a:extLst>
          </p:cNvPr>
          <p:cNvCxnSpPr>
            <a:stCxn xmlns:a="http://schemas.openxmlformats.org/drawingml/2006/main" id="21" idx="2"/>
            <a:endCxn xmlns:a="http://schemas.openxmlformats.org/drawingml/2006/main" id="29" idx="0"/>
          </p:cNvCxnSpPr>
          <p:nvPr/>
        </p:nvCxnSpPr>
        <p:spPr>
          <a:xfrm xmlns:a="http://schemas.openxmlformats.org/drawingml/2006/main">
            <a:off x="10310813" y="4705350"/>
            <a:ext cx="0" cy="542925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35A76F-C89A-4C3D-AFAD-CFF22A747141}"/>
              </a:ext>
            </a:extLst>
          </p:cNvPr>
          <p:cNvCxnSpPr>
            <a:stCxn xmlns:a="http://schemas.openxmlformats.org/drawingml/2006/main" id="20" idx="3"/>
            <a:endCxn xmlns:a="http://schemas.openxmlformats.org/drawingml/2006/main" id="21" idx="1"/>
          </p:cNvCxnSpPr>
          <p:nvPr/>
        </p:nvCxnSpPr>
        <p:spPr>
          <a:xfrm xmlns:a="http://schemas.openxmlformats.org/drawingml/2006/main">
            <a:off x="8429625" y="43005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190687-B2EE-4F2C-9E60-5C0AA7D9D10C}"/>
              </a:ext>
            </a:extLst>
          </p:cNvPr>
          <p:cNvCxnSpPr>
            <a:stCxn xmlns:a="http://schemas.openxmlformats.org/drawingml/2006/main" id="19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5572125" y="43005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D3471B9-5C87-47AD-BB77-078EC37BC69F}"/>
              </a:ext>
            </a:extLst>
          </p:cNvPr>
          <p:cNvCxnSpPr>
            <a:stCxn xmlns:a="http://schemas.openxmlformats.org/drawingml/2006/main" id="18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2857500" y="43005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B40B69A-DD46-4A32-9D88-56C9FBE385E0}"/>
              </a:ext>
            </a:extLst>
          </p:cNvPr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9096375" y="21669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711B78-BAB5-4AF4-B8C3-33342792CF63}"/>
              </a:ext>
            </a:extLst>
          </p:cNvPr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6238875" y="21669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cxnSp>
        <p:nvCxn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5BAE0-7FE5-4B79-A04D-EB580554BDE0}"/>
              </a:ext>
            </a:extLst>
          </p:cNvPr>
          <p:cNvCxnSpPr>
            <a:stCxn xmlns:a="http://schemas.openxmlformats.org/drawingml/2006/main" id="5" idx="3"/>
            <a:endCxn xmlns:a="http://schemas.openxmlformats.org/drawingml/2006/main" id="6" idx="1"/>
          </p:cNvCxnSpPr>
          <p:nvPr/>
        </p:nvCxnSpPr>
        <p:spPr>
          <a:xfrm xmlns:a="http://schemas.openxmlformats.org/drawingml/2006/main">
            <a:off x="2857500" y="2166938"/>
            <a:ext cx="523875" cy="0"/>
          </a:xfrm>
          <a:prstGeom xmlns:a="http://schemas.openxmlformats.org/drawingml/2006/main" prst="straightConnector1">
            <a:avLst/>
          </a:prstGeom>
          <a:ln xmlns:a="http://schemas.openxmlformats.org/drawingml/2006/main" w="17145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37" name="RAG 检索流程">
            <a:extLst xmlns:a="http://schemas.openxmlformats.org/drawingml/2006/main">
              <a:ext uri="{FF2B5EF4-FFF2-40B4-BE49-F238E27FC236}">
                <a16:creationId xmlns:a16="http://schemas.microsoft.com/office/drawing/2014/main" id="{BFB383B0-EF4E-4818-84D9-912A687AD1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33375"/>
            <a:ext cx="10763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3150" b="1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3150" b="1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RAG 检索流程</a:t>
            </a:r>
          </a:p>
        </p:txBody>
      </p:sp>
      <p:sp>
        <p:nvSpPr>
          <p:cNvPr id="2" name="固定顺序查询，返回真实证据；FAQ 与图谱命中时跳过文档生成">
            <a:extLst xmlns:a="http://schemas.openxmlformats.org/drawingml/2006/main">
              <a:ext uri="{FF2B5EF4-FFF2-40B4-BE49-F238E27FC236}">
                <a16:creationId xmlns:a16="http://schemas.microsoft.com/office/drawing/2014/main" id="{9C930BF2-938B-4E6F-86C2-9CB738726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" y="942975"/>
            <a:ext cx="10953750" cy="352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固定顺序查询，返回真实证据；FAQ 与图谱命中时跳过文档生成</a:t>
            </a:r>
          </a:p>
        </p:txBody>
      </p:sp>
      <p:sp>
        <p:nvSpPr>
          <p:cNvPr id="3" name="AI智能客服  /  万佳恒">
            <a:extLst xmlns:a="http://schemas.openxmlformats.org/drawingml/2006/main">
              <a:ext uri="{FF2B5EF4-FFF2-40B4-BE49-F238E27FC236}">
                <a16:creationId xmlns:a16="http://schemas.microsoft.com/office/drawing/2014/main" id="{BD481B18-A1A6-403C-BCB1-54A7BFCDB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496050"/>
            <a:ext cx="7143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2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AI智能客服  /  万佳恒</a:t>
            </a:r>
          </a:p>
        </p:txBody>
      </p:sp>
      <p:sp>
        <p:nvSpPr>
          <p:cNvPr id="4" name="5 / 5">
            <a:extLst xmlns:a="http://schemas.openxmlformats.org/drawingml/2006/main">
              <a:ext uri="{FF2B5EF4-FFF2-40B4-BE49-F238E27FC236}">
                <a16:creationId xmlns:a16="http://schemas.microsoft.com/office/drawing/2014/main" id="{388047B9-8542-46B2-AA60-B5C8FE391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96050"/>
            <a:ext cx="9048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r">
              <a:defRPr sz="12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2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5 / 5</a:t>
            </a:r>
          </a:p>
        </p:txBody>
      </p:sp>
      <p:sp>
        <p:nvSpPr>
          <p:cNvPr id="5" name="问题重写">
            <a:extLst xmlns:a="http://schemas.openxmlformats.org/drawingml/2006/main">
              <a:ext uri="{FF2B5EF4-FFF2-40B4-BE49-F238E27FC236}">
                <a16:creationId xmlns:a16="http://schemas.microsoft.com/office/drawing/2014/main" id="{219E8076-81C1-4FC2-9100-567BD9132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1762125"/>
            <a:ext cx="2333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问题重写</a:t>
            </a:r>
          </a:p>
          <a:p xmlns:a="http://schemas.openxmlformats.org/drawingml/2006/main">
            <a:pPr algn="ctr">
              <a:defRPr sz="1725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补全上下文与条件</a:t>
            </a:r>
          </a:p>
        </p:txBody>
      </p:sp>
      <p:sp>
        <p:nvSpPr>
          <p:cNvPr id="6" name="参数关系查询（可选）">
            <a:extLst xmlns:a="http://schemas.openxmlformats.org/drawingml/2006/main">
              <a:ext uri="{FF2B5EF4-FFF2-40B4-BE49-F238E27FC236}">
                <a16:creationId xmlns:a16="http://schemas.microsoft.com/office/drawing/2014/main" id="{915574AE-5B3D-473B-A167-2596BEDA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1762125"/>
            <a:ext cx="285750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参数关系查询（可选）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Neo4j 固定 Cypher</a:t>
            </a:r>
          </a:p>
        </p:txBody>
      </p:sp>
      <p:sp>
        <p:nvSpPr>
          <p:cNvPr id="7" name="FAQ 问法召回">
            <a:extLst xmlns:a="http://schemas.openxmlformats.org/drawingml/2006/main">
              <a:ext uri="{FF2B5EF4-FFF2-40B4-BE49-F238E27FC236}">
                <a16:creationId xmlns:a16="http://schemas.microsoft.com/office/drawing/2014/main" id="{CEC62F1C-1FB3-4C26-838C-A15947C78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1762125"/>
            <a:ext cx="2333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FAQ 问法召回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相关性校验与去重</a:t>
            </a:r>
          </a:p>
        </p:txBody>
      </p:sp>
      <p:sp>
        <p:nvSpPr>
          <p:cNvPr id="8" name="直接返回">
            <a:extLst xmlns:a="http://schemas.openxmlformats.org/drawingml/2006/main">
              <a:ext uri="{FF2B5EF4-FFF2-40B4-BE49-F238E27FC236}">
                <a16:creationId xmlns:a16="http://schemas.microsoft.com/office/drawing/2014/main" id="{063592B1-BE1C-4058-B32E-EFD4B8B3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1762125"/>
            <a:ext cx="204787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直接返回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图谱表格／FAQ</a:t>
            </a:r>
          </a:p>
        </p:txBody>
      </p:sp>
      <p:sp>
        <p:nvSpPr>
          <p:cNvPr id="12" name="普通问题直接查 FAQ；关系查询未覆盖、版本过期或连接异常时继续查 FAQ">
            <a:extLst xmlns:a="http://schemas.openxmlformats.org/drawingml/2006/main">
              <a:ext uri="{FF2B5EF4-FFF2-40B4-BE49-F238E27FC236}">
                <a16:creationId xmlns:a16="http://schemas.microsoft.com/office/drawing/2014/main" id="{96BA035D-4B1C-4656-B6EE-FA6D07B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838450"/>
            <a:ext cx="111442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72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普通问题直接查 FAQ；关系查询未覆盖、版本过期或连接异常时继续查 FAQ</a:t>
            </a:r>
          </a:p>
        </p:txBody>
      </p:sp>
      <p:cxnSp>
        <p:nvCxn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944EE88-BB3B-4D96-92CF-C16D703224FA}"/>
              </a:ext>
            </a:extLst>
          </p:cNvPr>
          <p:cNvCxnSpPr/>
          <p:nvPr/>
        </p:nvCxnSpPr>
        <p:spPr>
          <a:xfrm xmlns:a="http://schemas.openxmlformats.org/drawingml/2006/main" flipH="0" flipV="1">
            <a:off x="4810125" y="145732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77DD79-D43A-409D-91C6-99A6164D2806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4810125" y="1457325"/>
            <a:ext cx="58293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F751A7-AAC6-4C13-8A90-58DFF8E37618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0639425" y="1457325"/>
            <a:ext cx="0" cy="3048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16" name="图谱命中">
            <a:extLst xmlns:a="http://schemas.openxmlformats.org/drawingml/2006/main">
              <a:ext uri="{FF2B5EF4-FFF2-40B4-BE49-F238E27FC236}">
                <a16:creationId xmlns:a16="http://schemas.microsoft.com/office/drawing/2014/main" id="{5E50C9C2-5C7D-436B-B15D-6286E3BB3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24675" y="1123950"/>
            <a:ext cx="19050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图谱命中</a:t>
            </a:r>
          </a:p>
        </p:txBody>
      </p:sp>
      <p:sp>
        <p:nvSpPr>
          <p:cNvPr id="17" name="明确命中">
            <a:extLst xmlns:a="http://schemas.openxmlformats.org/drawingml/2006/main">
              <a:ext uri="{FF2B5EF4-FFF2-40B4-BE49-F238E27FC236}">
                <a16:creationId xmlns:a16="http://schemas.microsoft.com/office/drawing/2014/main" id="{F3FE29E7-B4D4-4764-9F16-214D094D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38425"/>
            <a:ext cx="2190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00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500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明确命中</a:t>
            </a:r>
          </a:p>
        </p:txBody>
      </p:sp>
      <p:sp>
        <p:nvSpPr>
          <p:cNvPr id="18" name="原查询混合检索">
            <a:extLst xmlns:a="http://schemas.openxmlformats.org/drawingml/2006/main">
              <a:ext uri="{FF2B5EF4-FFF2-40B4-BE49-F238E27FC236}">
                <a16:creationId xmlns:a16="http://schemas.microsoft.com/office/drawing/2014/main" id="{047E55F2-A620-4EDC-9324-8A1D313E2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3895725"/>
            <a:ext cx="2333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原查询混合检索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BGE-M3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Dense + Sparse</a:t>
            </a:r>
          </a:p>
        </p:txBody>
      </p:sp>
      <p:sp>
        <p:nvSpPr>
          <p:cNvPr id="19" name="HyDE 生成">
            <a:extLst xmlns:a="http://schemas.openxmlformats.org/drawingml/2006/main">
              <a:ext uri="{FF2B5EF4-FFF2-40B4-BE49-F238E27FC236}">
                <a16:creationId xmlns:a16="http://schemas.microsoft.com/office/drawing/2014/main" id="{9774C439-B081-4B60-812C-C775627E1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895725"/>
            <a:ext cx="2190750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HyDE 生成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假设文本仅用于检索</a:t>
            </a:r>
          </a:p>
        </p:txBody>
      </p:sp>
      <p:sp>
        <p:nvSpPr>
          <p:cNvPr id="20" name="HyDE 混合检索">
            <a:extLst xmlns:a="http://schemas.openxmlformats.org/drawingml/2006/main">
              <a:ext uri="{FF2B5EF4-FFF2-40B4-BE49-F238E27FC236}">
                <a16:creationId xmlns:a16="http://schemas.microsoft.com/office/drawing/2014/main" id="{5DA11DEC-8752-4A96-A45D-FFF4AB4C5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895725"/>
            <a:ext cx="2333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HyDE 混合检索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BGE-M3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Dense + Sparse</a:t>
            </a:r>
          </a:p>
        </p:txBody>
      </p:sp>
      <p:sp>
        <p:nvSpPr>
          <p:cNvPr id="21" name="RRF 融合去重">
            <a:extLst xmlns:a="http://schemas.openxmlformats.org/drawingml/2006/main">
              <a:ext uri="{FF2B5EF4-FFF2-40B4-BE49-F238E27FC236}">
                <a16:creationId xmlns:a16="http://schemas.microsoft.com/office/drawing/2014/main" id="{285A80C1-E3A9-4E70-9E28-3EC24467C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895725"/>
            <a:ext cx="2714625" cy="809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RRF 融合去重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合并两次真实文档召回</a:t>
            </a:r>
          </a:p>
        </p:txBody>
      </p:sp>
      <p:cxnSp>
        <p:nvCxn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460C25-7F9C-447B-B215-1A9E64CD784C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7924800" y="2571750"/>
            <a:ext cx="0" cy="866775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D3794A-F9D0-406F-9E98-9F3B73B0FFC0}"/>
              </a:ext>
            </a:extLst>
          </p:cNvPr>
          <p:cNvCxnSpPr/>
          <p:nvPr/>
        </p:nvCxnSpPr>
        <p:spPr>
          <a:xfrm xmlns:a="http://schemas.openxmlformats.org/drawingml/2006/main" flipH="1" flipV="0">
            <a:off x="1685925" y="3438525"/>
            <a:ext cx="6238875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none" w="med" len="med"/>
          </a:ln>
        </p:spPr>
      </p:cxnSp>
      <p:cxnSp>
        <p:nvCxn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8E3DF95-3B75-478A-AF21-D434064F090E}"/>
              </a:ext>
            </a:extLst>
          </p:cNvPr>
          <p:cNvCxnSpPr/>
          <p:nvPr/>
        </p:nvCxnSpPr>
        <p:spPr>
          <a:xfrm xmlns:a="http://schemas.openxmlformats.org/drawingml/2006/main" flipH="0" flipV="0">
            <a:off x="1685925" y="34385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087F8C"/>
            </a:solidFill>
            <a:prstDash val="solid"/>
            <a:tailEnd type="triangle" w="sm" len="sm"/>
          </a:ln>
        </p:spPr>
      </p:cxnSp>
      <p:sp>
        <p:nvSpPr>
          <p:cNvPr id="28" name="FAQ 未明确命中">
            <a:extLst xmlns:a="http://schemas.openxmlformats.org/drawingml/2006/main">
              <a:ext uri="{FF2B5EF4-FFF2-40B4-BE49-F238E27FC236}">
                <a16:creationId xmlns:a16="http://schemas.microsoft.com/office/drawing/2014/main" id="{216ACECA-A1DF-407F-95E9-56FDE0DBC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209925"/>
            <a:ext cx="2857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575" b="0">
                <a:solidFill>
                  <a:srgbClr val="087F8C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087F8C"/>
                </a:solidFill>
                <a:latin typeface="Heiti TC"/>
                <a:ea typeface="Heiti TC"/>
                <a:cs typeface="Heiti TC"/>
              </a:rPr>
              <a:t>FAQ 未明确命中</a:t>
            </a:r>
          </a:p>
        </p:txBody>
      </p:sp>
      <p:sp>
        <p:nvSpPr>
          <p:cNvPr id="29" name="独立 Reranker 精排">
            <a:extLst xmlns:a="http://schemas.openxmlformats.org/drawingml/2006/main">
              <a:ext uri="{FF2B5EF4-FFF2-40B4-BE49-F238E27FC236}">
                <a16:creationId xmlns:a16="http://schemas.microsoft.com/office/drawing/2014/main" id="{6E2428AE-57CB-4B28-AA20-2CBE8870B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48275"/>
            <a:ext cx="2714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FA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独立 Reranker 精排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最多 5 条、正文 8000 字符</a:t>
            </a:r>
          </a:p>
        </p:txBody>
      </p:sp>
      <p:sp>
        <p:nvSpPr>
          <p:cNvPr id="30" name="整理真实证据">
            <a:extLst xmlns:a="http://schemas.openxmlformats.org/drawingml/2006/main">
              <a:ext uri="{FF2B5EF4-FFF2-40B4-BE49-F238E27FC236}">
                <a16:creationId xmlns:a16="http://schemas.microsoft.com/office/drawing/2014/main" id="{20337A4F-AB12-4E7B-BE77-F52CC1A82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48275"/>
            <a:ext cx="2333625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整理真实证据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保留来源与版本</a:t>
            </a:r>
          </a:p>
        </p:txBody>
      </p:sp>
      <p:sp>
        <p:nvSpPr>
          <p:cNvPr id="31" name="主图统一回复">
            <a:extLst xmlns:a="http://schemas.openxmlformats.org/drawingml/2006/main">
              <a:ext uri="{FF2B5EF4-FFF2-40B4-BE49-F238E27FC236}">
                <a16:creationId xmlns:a16="http://schemas.microsoft.com/office/drawing/2014/main" id="{C07AA35B-EEB3-4BE0-8B35-69A25C266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5248275"/>
            <a:ext cx="219075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3F5"/>
          </a:solidFill>
          <a:ln xmlns:a="http://schemas.openxmlformats.org/drawingml/2006/main" w="11430">
            <a:solidFill>
              <a:srgbClr val="B6C8D6"/>
            </a:solidFill>
            <a:prstDash val="solid"/>
          </a:ln>
        </p:spPr>
        <p:txBody>
          <a:bodyPr xmlns:a="http://schemas.openxmlformats.org/drawingml/2006/main" wrap="square" lIns="76200" tIns="76200" rIns="76200" bIns="76200" anchor="ctr">
            <a:noAutofit/>
          </a:bodyPr>
          <a:lstStyle xmlns:a="http://schemas.openxmlformats.org/drawingml/2006/main">
            <a:def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defPPr>
            <a:lvl1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1pPr>
            <a:lvl2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2pPr>
            <a:lvl3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3pPr>
            <a:lvl4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4pPr>
            <a:lvl5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5pPr>
            <a:lvl6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6pPr>
            <a:lvl7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7pPr>
            <a:lvl8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8pPr>
            <a:lvl9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主图统一回复</a:t>
            </a:r>
          </a:p>
          <a:p xmlns:a="http://schemas.openxmlformats.org/drawingml/2006/main">
            <a:pPr algn="ctr">
              <a:defRPr sz="1650" b="0">
                <a:solidFill>
                  <a:srgbClr val="102B40"/>
                </a:solidFill>
                <a:latin typeface="Heiti TC"/>
                <a:ea typeface="Heiti TC"/>
                <a:cs typeface="Heiti TC"/>
              </a:defRPr>
            </a:pPr>
            <a:r>
              <a:rPr sz="1650" b="0">
                <a:solidFill>
                  <a:srgbClr val="102B40"/>
                </a:solidFill>
                <a:latin typeface="Heiti TC"/>
                <a:ea typeface="Heiti TC"/>
                <a:cs typeface="Heiti TC"/>
              </a:rPr>
              <a:t>依据真实证据生成</a:t>
            </a:r>
          </a:p>
        </p:txBody>
      </p:sp>
      <p:sp>
        <p:nvSpPr>
          <p:cNvPr id="35" name="原查询 / HyDE 权重 1.0 / 0.7，RRF k=60">
            <a:extLst xmlns:a="http://schemas.openxmlformats.org/drawingml/2006/main">
              <a:ext uri="{FF2B5EF4-FFF2-40B4-BE49-F238E27FC236}">
                <a16:creationId xmlns:a16="http://schemas.microsoft.com/office/drawing/2014/main" id="{E0B03392-E977-4F55-8425-6A015DB7CD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6143625"/>
            <a:ext cx="70008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536A79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536A79"/>
                </a:solidFill>
                <a:latin typeface="Heiti TC"/>
                <a:ea typeface="Heiti TC"/>
                <a:cs typeface="Heiti TC"/>
              </a:rPr>
              <a:t>原查询 / HyDE 权重 1.0 / 0.7，RRF k=60</a:t>
            </a:r>
          </a:p>
        </p:txBody>
      </p:sp>
      <p:sp>
        <p:nvSpPr>
          <p:cNvPr id="36" name="缺条件先澄清，缺证据说明无法核实">
            <a:extLst xmlns:a="http://schemas.openxmlformats.org/drawingml/2006/main">
              <a:ext uri="{FF2B5EF4-FFF2-40B4-BE49-F238E27FC236}">
                <a16:creationId xmlns:a16="http://schemas.microsoft.com/office/drawing/2014/main" id="{2AFE33A2-7F76-4B6C-BC5D-03AE56423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6143625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>
            <a:def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defPPr>
            <a:lvl1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1pPr>
            <a:lvl2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2pPr>
            <a:lvl3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3pPr>
            <a:lvl4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4pPr>
            <a:lvl5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5pPr>
            <a:lvl6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6pPr>
            <a:lvl7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7pPr>
            <a:lvl8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8pPr>
            <a:lvl9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lvl9pPr>
          </a:lstStyle>
          <a:p xmlns:a="http://schemas.openxmlformats.org/drawingml/2006/main">
            <a:pPr algn="l">
              <a:defRPr sz="1575" b="0">
                <a:solidFill>
                  <a:srgbClr val="936421"/>
                </a:solidFill>
                <a:latin typeface="Heiti TC"/>
                <a:ea typeface="Heiti TC"/>
                <a:cs typeface="Heiti TC"/>
              </a:defRPr>
            </a:pPr>
            <a:r>
              <a:rPr sz="1575" b="0">
                <a:solidFill>
                  <a:srgbClr val="936421"/>
                </a:solidFill>
                <a:latin typeface="Heiti TC"/>
                <a:ea typeface="Heiti TC"/>
                <a:cs typeface="Heiti TC"/>
              </a:rPr>
              <a:t>缺条件先澄清，缺证据说明无法核实</a:t>
            </a:r>
          </a:p>
        </p:txBody>
      </p:sp>
    </p:spTree>
    <p:extLst>
      <p:ext uri="{BB962C8B-B14F-4D97-AF65-F5344CB8AC3E}">
        <p14:creationId xmlns:p14="http://schemas.microsoft.com/office/powerpoint/2010/main" val="146895593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Heiti TC"/>
        <a:ea typeface=""/>
        <a:cs typeface=""/>
      </a:majorFont>
      <a:minorFont>
        <a:latin typeface="Heiti T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2026-10-22T08:46:11.3990000Z</dcterms:created>
  <dcterms:modified xsi:type="dcterms:W3CDTF">2026-10-22T08:46:11.3990000Z</dcterms:modified>
</coreProperties>
</file>