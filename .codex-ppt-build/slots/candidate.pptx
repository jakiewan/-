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1005ff4c844090" /><Relationship Type="http://schemas.openxmlformats.org/officeDocument/2006/relationships/extended-properties" Target="/docProps/app.xml" Id="R1fa7fc7fae854c3b" /><Relationship Type="http://schemas.openxmlformats.org/officeDocument/2006/relationships/officeDocument" Target="/ppt/presentation.xml" Id="R2297dd580ef145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348577ac9b45b2"/>
  </p:sldMasterIdLst>
  <p:notesMasterIdLst>
    <p:notesMasterId xmlns:r="http://schemas.openxmlformats.org/officeDocument/2006/relationships" r:id="Ra2e3ab29cb3042a8"/>
  </p:notesMasterIdLst>
  <p:sldIdLst>
    <p:sldId xmlns:r="http://schemas.openxmlformats.org/officeDocument/2006/relationships" id="256" r:id="R2a17ebf6e45a422c"/>
    <p:sldId xmlns:r="http://schemas.openxmlformats.org/officeDocument/2006/relationships" id="257" r:id="Rfdcc4a8e289345cf"/>
    <p:sldId xmlns:r="http://schemas.openxmlformats.org/officeDocument/2006/relationships" id="258" r:id="R3e9077ece65d4a66"/>
    <p:sldId xmlns:r="http://schemas.openxmlformats.org/officeDocument/2006/relationships" id="259" r:id="Rb1e46912e4cf477b"/>
    <p:sldId xmlns:ns1="http://schemas.openxmlformats.org/officeDocument/2006/relationships" id="262" ns1:id="RSlotFilling"/>
    <p:sldId xmlns:ns1="http://schemas.openxmlformats.org/officeDocument/2006/relationships" id="261" ns1:id="RParentChildIngestion"/>
    <p:sldId xmlns:r="http://schemas.openxmlformats.org/officeDocument/2006/relationships" id="260" r:id="R4b7e67e6407e46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79d9760845a2440e"/><Relationship Type="http://schemas.openxmlformats.org/officeDocument/2006/relationships/slideMaster" Target="/ppt/slideMasters/slideMaster1.xml" Id="R21348577ac9b45b2"/><Relationship Type="http://schemas.openxmlformats.org/officeDocument/2006/relationships/notesMaster" Target="/ppt/notesMasters/notesMaster1.xml" Id="Ra2e3ab29cb3042a8"/><Relationship Type="http://schemas.openxmlformats.org/officeDocument/2006/relationships/presProps" Target="/ppt/presProps.xml" Id="R98f7423c25794d24"/><Relationship Type="http://schemas.openxmlformats.org/officeDocument/2006/relationships/tableStyles" Target="/ppt/tableStyles.xml" Id="Rd3080407d20442e9"/><Relationship Type="http://schemas.openxmlformats.org/officeDocument/2006/relationships/slide" Target="/ppt/slides/slide1.xml" Id="R2a17ebf6e45a422c"/><Relationship Type="http://schemas.openxmlformats.org/officeDocument/2006/relationships/slide" Target="/ppt/slides/slide2.xml" Id="Rfdcc4a8e289345cf"/><Relationship Type="http://schemas.openxmlformats.org/officeDocument/2006/relationships/slide" Target="/ppt/slides/slide3.xml" Id="R3e9077ece65d4a66"/><Relationship Type="http://schemas.openxmlformats.org/officeDocument/2006/relationships/slide" Target="/ppt/slides/slide4.xml" Id="Rb1e46912e4cf477b"/><Relationship Type="http://schemas.openxmlformats.org/officeDocument/2006/relationships/slide" Target="/ppt/slides/slide5.xml" Id="R4b7e67e6407e4640"/><Relationship Id="RParentChildIngestion" Type="http://schemas.openxmlformats.org/officeDocument/2006/relationships/slide" Target="/ppt/slides/slide6.xml"/><Relationship Id="RSlotFilling" Type="http://schemas.openxmlformats.org/officeDocument/2006/relationships/slide" Target="slides/slide7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0ddb538eae4d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988598784d4e00" /><Relationship Type="http://schemas.openxmlformats.org/officeDocument/2006/relationships/notesMaster" Target="/ppt/notesMasters/notesMaster1.xml" Id="R65da1082a3a644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7273d0258e48c6" /><Relationship Type="http://schemas.openxmlformats.org/officeDocument/2006/relationships/notesMaster" Target="/ppt/notesMasters/notesMaster1.xml" Id="Rad7c870699cc49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263602788b40c8" /><Relationship Type="http://schemas.openxmlformats.org/officeDocument/2006/relationships/notesMaster" Target="/ppt/notesMasters/notesMaster1.xml" Id="R15a52ae3457948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3ce9c5d05a4be1" /><Relationship Type="http://schemas.openxmlformats.org/officeDocument/2006/relationships/notesMaster" Target="/ppt/notesMasters/notesMaster1.xml" Id="R1fca66d952c34a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ee8b52e2204001" /><Relationship Type="http://schemas.openxmlformats.org/officeDocument/2006/relationships/notesMaster" Target="/ppt/notesMasters/notesMaster1.xml" Id="R8184c710aeba4948" /></Relationships>
</file>

<file path=ppt/notesSlides/_rels/notesSlide7.xml.rels><?xml version='1.0' encoding='UTF-8'?>
<Relationships xmlns="http://schemas.openxmlformats.org/package/2006/relationships"><Relationship Type="http://schemas.openxmlformats.org/officeDocument/2006/relationships/slide" Target="../slides/slide7.xml" Id="Re6263602788b40c8"/><Relationship Type="http://schemas.openxmlformats.org/officeDocument/2006/relationships/notesMaster" Target="/ppt/notesMasters/notesMaster1.xml" Id="R15a52ae345794878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项目解决三个具体问题：重复查询资料、多轮对话缺少上下文、业务查询与售后动作脱节。用户先咨询参数或政策，再查询本人订单，需要实际办理时收集订单、商品、动作和原因，展示确认后落库。当前不连接外部商城，不代表真实退款或维修完成。</a:t>
            </a:r>
          </a:p>
          <a:p xmlns:a="http://schemas.openxmlformats.org/drawingml/2006/main">
            <a:r>
              <a:t>源码依据：backend/graph/nodes.py:33-170、178-231、243-316；backend/graph/after_sales.py；backend/tools/after_sales.py；backend/data/knowledge/xiaomi-cn/README.md。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一次请求由浏览器发往 FastAPI，服务通过 Cookie 解析当前账号，用用户级 thread_id 与 PostgreSQL advisory lock 串行处理同一会话。MiniMaxClient/DeepSeekClient 调用 build_workflow。咨询进入固定 RAG 子流程，订单与售后节点直接读写 PostgreSQL。Milvus 保存向量索引，Redis 保存正文和版本元数据；启用 RAG_NEO4J_URI 后，手机参数关系查询可读取 Neo4j。PostgreSQL 也保存主图检查点及 Store；登录会话本身当前仍保存在单进程内存，不是 JWT。</a:t>
            </a:r>
          </a:p>
          <a:p xmlns:a="http://schemas.openxmlformats.org/drawingml/2006/main">
            <a:r>
              <a:t>知识维护：backend/data/knowledge/xiaomi-cn/原始资料/ 为当前小米资料唯一日常入口，rebuild_knowledge.py 更新文档与 FAQ；sync_phone_graph.py 同步专用手机图谱。</a:t>
            </a:r>
          </a:p>
          <a:p xmlns:a="http://schemas.openxmlformats.org/drawingml/2006/main">
            <a:r>
              <a:t>源码依据：backend/main.py:26-77、86-160；backend/common/auth.py；backend/utils/minimax_client.py:16-65；backend/utils/deepseek_client.py；backend/rag/retriever.py:29-86；backend/scripts/rebuild_knowledge.py；backend/scripts/sync_phone_graph.py。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亮点对应当前代码行为，不将方案或离线实验写成已上线能力。当前 recognize_intent 未使用 BertIntentClassifier，intent_context_v3.csv 等文件属于保留的离线训练资料，因此不展示 BERT 准确率。固定 RAG 也没有检索规划 Agent、证据选择 Agent 或重查循环。FAQ 直接返回正文条款，文档回答依证据生成，HyDE 只用于扩展查询，不能充当证据。Neo4j 为可选扩展，在线只读并检查源文件版本。售后在提交前再次验证本人订单及商品快照，申请仅代表本地待审核记录。validate_answer 目前检查非空和部分确定性边界，不是完整的语义事实校验。</a:t>
            </a:r>
          </a:p>
          <a:p xmlns:a="http://schemas.openxmlformats.org/drawingml/2006/main">
            <a:r>
              <a:t>源码依据：backend/graph/nodes.py:23-98、243-316；backend/rag/agent.py；backend/rag/models.py:53-108；backend/rag/phone_graph.py；backend/graph/after_sales.py；backend/tools/after_sales.py。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主流程：START → prepare_context → recognize_intent。咨询、订单、售后、闲聊、投诉进入各业务节点，随后 aggregate_results → check_handoff；人工需求先执行 handoff，否则直接 generate_answer。显式转人工从识别节点直接走 handoff。needs_clarification=true 时跳过业务节点直接生成追问。query_order 如果识别到用户实际在问商品信息，会改走 retrieve_knowledge。generate_answer → validate_answer，通过结束，失败走 safe_fallback → END；不重新提交业务。</a:t>
            </a:r>
          </a:p>
          <a:p xmlns:a="http://schemas.openxmlformats.org/drawingml/2006/main">
            <a:r>
              <a:t>当前复杂子图仍保留 agent_decide → execute_tools → agent_decide 的结构，以及工具上限与结果收集节点；但 recognize_intent 固定 is_complex=False，agent_decide 也不要求工具，因此这不是已启用的自主工具 Agent。投诉只标记人工需求，handoff 返回 demo_waiting 文案，不代表真实坐席接管。</a:t>
            </a:r>
          </a:p>
          <a:p xmlns:a="http://schemas.openxmlformats.org/drawingml/2006/main">
            <a:r>
              <a:t>此页为便于答辩阅读合并了部分节点显示名；精确条件边依据 backend/graph/workflow.py:23-139，节点行为依据 backend/graph/nodes.py。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先用当前消息、上一轮完整问答与待补任务重写问题，提取品类、品牌、型号、地区和渠道。缺少咨询方面、型号等必要条件时返回澄清；海外版或不支持品牌明确说明边界。</a:t>
            </a:r>
          </a:p>
          <a:p xmlns:a="http://schemas.openxmlformats.org/drawingml/2006/main">
            <a:r>
              <a:t>全部诉求能表达为手机参数关系时可查 Neo4j。命中直接返回程序形成的表格；未配置、未覆盖、源文档版本不一致或连接异常时回到 FAQ/文档链路。普通问题直接查 FAQ。FAQ 使用 BGE-M3 dense 召回，Reranker 校验后按条目去重；型号参数问题不会套用泛品类政策 FAQ。明确命中直接输出标准条款。</a:t>
            </a:r>
          </a:p>
          <a:p xmlns:a="http://schemas.openxmlformats.org/drawingml/2006/main">
            <a:r>
              <a:t>FAQ no_match 或 ambiguous 才进入文档检索。先对原查询做 dense/sparse 混合检索，再生成 HyDE 假设文本并做第二次混合检索。代码为顺序执行，不是并行 Agent。两次检索结果都来自真实文档，HyDE 本身不能作为证据。每次 dense/sparse 默认各召回20条，权重各0.5，混合后保留10条。RRF k=60，原查询/HyDE权重1.0/0.7，按带版本的 evidence_id 去重，融合最多10条。随后独立 bge-reranker-base 精排，最多5条、8000字符，允许0条；多个型号分配证据预算。</a:t>
            </a:r>
          </a:p>
          <a:p xmlns:a="http://schemas.openxmlformats.org/drawingml/2006/main">
            <a:r>
              <a:t>rag_result 返回业务结果与证据给主图，由 generate_answer 依正文回答。无匹配说明无法核实，服务异常明确失败。FAQ/图谱直接答案同样经过主图回复出口。图中的直接返回指跳过文档生成，不指跳过主图。</a:t>
            </a:r>
          </a:p>
          <a:p xmlns:a="http://schemas.openxmlformats.org/drawingml/2006/main">
            <a:r>
              <a:t>源码依据：backend/rag/agent.py:49-373；backend/rag/retriever.py:89-220；backend/rag/models.py:18-108；backend/rag/phone_graph.py；backend/graph/nodes.py:243-316。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抽槽是从用户消息中提取业务参数，填槽是合并已知参数并追问缺失条件。咨询在 rag_rewrite 中结合本轮消息、上一轮问答与待补任务提取条件，continues_task 为 true 时继承品类、型号、渠道和品牌。售后仅抽取新增字段，Python 合并非空值，参数变化后重新确认。订单查询只提取本轮条件。Pydantic 校验结构，不代表语义正确；数据库核实本人订单，售后还需明确确认。例子为代码流程说明，不代表本次接口实测。源码：backend/rag/agent.py:20,53,109,238,324；backend/graph/after_sales.py:23,125,197；backend/graph/nodes.py:162。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581ab8a1fd49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d3363437248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78644fe31a4b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0eafad73c049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93bc80766490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8ec4d14fee4d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04AF6C-9107-416B-8C4D-0BE2ECAD7D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F6A0F8-AA37-4745-A99F-48E261D3D5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F6BEEA6-7C4A-4992-BC4B-09AAF0A466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96E777-6BBE-4441-B530-80F1A2AACB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5683492-D1D5-4F6E-826C-A75D5D90DC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5E9A1F-1EE2-44B5-9E51-E6AA773ECB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564A7C-5D04-4FAB-BF2E-3175AF174D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71B01CA-8F05-48C2-95DD-B830287BF4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143625-BEE8-4468-AF26-6F9FEBA5FE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1DB6BC-72EA-42A0-8EB1-A57E6B537A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5c0696747244d1" /><Relationship Type="http://schemas.openxmlformats.org/officeDocument/2006/relationships/slideLayout" Target="/ppt/slideLayouts/slideLayout1.xml" Id="R32477fc42fb14260" /><Relationship Type="http://schemas.openxmlformats.org/officeDocument/2006/relationships/slideLayout" Target="/ppt/slideLayouts/slideLayout2.xml" Id="R8f6956717b7a46ba" /><Relationship Type="http://schemas.openxmlformats.org/officeDocument/2006/relationships/slideLayout" Target="/ppt/slideLayouts/slideLayout3.xml" Id="R8ea014cf99b042bf" /><Relationship Type="http://schemas.openxmlformats.org/officeDocument/2006/relationships/slideLayout" Target="/ppt/slideLayouts/slideLayout4.xml" Id="Ra5df4213eed24f8b" /><Relationship Type="http://schemas.openxmlformats.org/officeDocument/2006/relationships/slideLayout" Target="/ppt/slideLayouts/slideLayout5.xml" Id="Re3d0c1876c374d64" /><Relationship Type="http://schemas.openxmlformats.org/officeDocument/2006/relationships/slideLayout" Target="/ppt/slideLayouts/slideLayout6.xml" Id="Rb6280d1a69db4f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477fc42fb14260"/>
    <p:sldLayoutId xmlns:r="http://schemas.openxmlformats.org/officeDocument/2006/relationships" id="2147483650" r:id="R8f6956717b7a46ba"/>
    <p:sldLayoutId xmlns:r="http://schemas.openxmlformats.org/officeDocument/2006/relationships" id="2147483651" r:id="R8ea014cf99b042bf"/>
    <p:sldLayoutId xmlns:r="http://schemas.openxmlformats.org/officeDocument/2006/relationships" id="2147483652" r:id="Ra5df4213eed24f8b"/>
    <p:sldLayoutId xmlns:r="http://schemas.openxmlformats.org/officeDocument/2006/relationships" id="2147483653" r:id="Re3d0c1876c374d64"/>
    <p:sldLayoutId xmlns:r="http://schemas.openxmlformats.org/officeDocument/2006/relationships" id="2147483654" r:id="Rb6280d1a69db4f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c0abc4bee5413f" /><Relationship Type="http://schemas.openxmlformats.org/officeDocument/2006/relationships/notesSlide" Target="/ppt/notesSlides/notesSlide1.xml" Id="R43e73e72335e40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23dad6cef347be" /><Relationship Type="http://schemas.openxmlformats.org/officeDocument/2006/relationships/notesSlide" Target="/ppt/notesSlides/notesSlide2.xml" Id="R2e9575debb0444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399f549eeb41d2" /><Relationship Type="http://schemas.openxmlformats.org/officeDocument/2006/relationships/notesSlide" Target="/ppt/notesSlides/notesSlide3.xml" Id="R9ec564e0e82f42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1adf3372a84c8d" /><Relationship Type="http://schemas.openxmlformats.org/officeDocument/2006/relationships/notesSlide" Target="/ppt/notesSlides/notesSlide4.xml" Id="Rf55728cdec3e46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463e722c0f445d" /><Relationship Type="http://schemas.openxmlformats.org/officeDocument/2006/relationships/notesSlide" Target="/ppt/notesSlides/notesSlide5.xml" Id="R41dd6b6dd6324fd3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6399f549eeb41d2"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6399f549eeb41d2"/><Relationship Type="http://schemas.openxmlformats.org/officeDocument/2006/relationships/notesSlide" Target="../notesSlides/notesSlide7.xml" Id="R9ec564e0e82f42ab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解决什么问题">
            <a:extLst xmlns:a="http://schemas.openxmlformats.org/drawingml/2006/main">
              <a:ext uri="{FF2B5EF4-FFF2-40B4-BE49-F238E27FC236}">
                <a16:creationId xmlns:a16="http://schemas.microsoft.com/office/drawing/2014/main" id="{237E405A-13B2-410A-8082-D9F3ED3A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3150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解决什么问题</a:t>
            </a:r>
          </a:p>
        </p:txBody>
      </p:sp>
      <p:sp>
        <p:nvSpPr>
          <p:cNvPr id="2" name="面向电商售前与售后咨询，衔接知识问答、本人订单查询和售后申请">
            <a:extLst xmlns:a="http://schemas.openxmlformats.org/drawingml/2006/main">
              <a:ext uri="{FF2B5EF4-FFF2-40B4-BE49-F238E27FC236}">
                <a16:creationId xmlns:a16="http://schemas.microsoft.com/office/drawing/2014/main" id="{3F6A3339-BEE8-4E94-81A9-053BC920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94297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面向电商售前与售后咨询，衔接知识问答、本人订单查询和售后申请</a:t>
            </a:r>
          </a:p>
        </p:txBody>
      </p:sp>
      <p:sp>
        <p:nvSpPr>
          <p:cNvPr id="3" name="AI智能客服  /  万佳恒">
            <a:extLst xmlns:a="http://schemas.openxmlformats.org/drawingml/2006/main">
              <a:ext uri="{FF2B5EF4-FFF2-40B4-BE49-F238E27FC236}">
                <a16:creationId xmlns:a16="http://schemas.microsoft.com/office/drawing/2014/main" id="{A03B34C4-5A7B-4784-A636-283B31E8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AI智能客服  /  万佳恒</a:t>
            </a:r>
          </a:p>
        </p:txBody>
      </p:sp>
      <p:sp>
        <p:nvSpPr>
          <p:cNvPr id="4" name="1 / 6">
            <a:extLst xmlns:a="http://schemas.openxmlformats.org/drawingml/2006/main">
              <a:ext uri="{FF2B5EF4-FFF2-40B4-BE49-F238E27FC236}">
                <a16:creationId xmlns:a16="http://schemas.microsoft.com/office/drawing/2014/main" id="{F913592F-7DFC-4DFE-AF09-E5199429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1 / 7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14D90C63-A847-4FC4-A15C-CFF999C2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192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47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6" name="重复咨询量大">
            <a:extLst xmlns:a="http://schemas.openxmlformats.org/drawingml/2006/main">
              <a:ext uri="{FF2B5EF4-FFF2-40B4-BE49-F238E27FC236}">
                <a16:creationId xmlns:a16="http://schemas.microsoft.com/office/drawing/2014/main" id="{11BDD543-E1AB-4313-93B9-B0A30F61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19250"/>
            <a:ext cx="3286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重复咨询量大</a:t>
            </a:r>
          </a:p>
        </p:txBody>
      </p:sp>
      <p:sp>
        <p:nvSpPr>
          <p:cNvPr id="7" name="参数、保修与售后政策分散，用户反复查找">
            <a:extLst xmlns:a="http://schemas.openxmlformats.org/drawingml/2006/main">
              <a:ext uri="{FF2B5EF4-FFF2-40B4-BE49-F238E27FC236}">
                <a16:creationId xmlns:a16="http://schemas.microsoft.com/office/drawing/2014/main" id="{5A5A50DC-0FB1-475D-BEE4-9C2B0DD4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76450"/>
            <a:ext cx="1004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参数、保修与售后政策分散，用户反复查找</a:t>
            </a:r>
          </a:p>
        </p:txBody>
      </p:sp>
      <p:sp>
        <p:nvSpPr>
          <p:cNvPr id="8" name="FAQ 直接返回标准条款，复杂问法继续查文档">
            <a:extLst xmlns:a="http://schemas.openxmlformats.org/drawingml/2006/main">
              <a:ext uri="{FF2B5EF4-FFF2-40B4-BE49-F238E27FC236}">
                <a16:creationId xmlns:a16="http://schemas.microsoft.com/office/drawing/2014/main" id="{661A9D64-3FFD-4B76-82B1-908DD7C9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FAQ 直接返回标准条款，复杂问法继续查文档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D94E4-21F5-4A94-BCBF-35D5CC86470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52550" y="2619375"/>
            <a:ext cx="103155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279BDA81-632D-48B5-94AA-175026BE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85750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47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1" name="多轮对话容易丢条件">
            <a:extLst xmlns:a="http://schemas.openxmlformats.org/drawingml/2006/main">
              <a:ext uri="{FF2B5EF4-FFF2-40B4-BE49-F238E27FC236}">
                <a16:creationId xmlns:a16="http://schemas.microsoft.com/office/drawing/2014/main" id="{71191175-D51F-4177-AA1B-64369FFB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57500"/>
            <a:ext cx="3286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多轮对话容易丢条件</a:t>
            </a:r>
          </a:p>
        </p:txBody>
      </p:sp>
      <p:sp>
        <p:nvSpPr>
          <p:cNvPr id="12" name="“它的屏幕呢”“那保修多久”需要理解上下文">
            <a:extLst xmlns:a="http://schemas.openxmlformats.org/drawingml/2006/main">
              <a:ext uri="{FF2B5EF4-FFF2-40B4-BE49-F238E27FC236}">
                <a16:creationId xmlns:a16="http://schemas.microsoft.com/office/drawing/2014/main" id="{9B669252-4F1B-4842-B22E-A5F52014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14700"/>
            <a:ext cx="1004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“它的屏幕呢”“那保修多久”需要理解上下文</a:t>
            </a:r>
          </a:p>
        </p:txBody>
      </p:sp>
      <p:sp>
        <p:nvSpPr>
          <p:cNvPr id="13" name="结合上一轮问答与待补槽位，重写完整检索问题">
            <a:extLst xmlns:a="http://schemas.openxmlformats.org/drawingml/2006/main">
              <a:ext uri="{FF2B5EF4-FFF2-40B4-BE49-F238E27FC236}">
                <a16:creationId xmlns:a16="http://schemas.microsoft.com/office/drawing/2014/main" id="{890C8992-BA63-4611-A140-CBD1D96C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结合上一轮问答与待补槽位，重写完整检索问题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D12A7-2A45-4FC2-943C-0F1A99AADB7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52550" y="3857625"/>
            <a:ext cx="103155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F03EC060-01FF-4314-95E6-9AA97895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0957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47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6" name="回答与实际办理脱节">
            <a:extLst xmlns:a="http://schemas.openxmlformats.org/drawingml/2006/main">
              <a:ext uri="{FF2B5EF4-FFF2-40B4-BE49-F238E27FC236}">
                <a16:creationId xmlns:a16="http://schemas.microsoft.com/office/drawing/2014/main" id="{F5627428-1A69-44EE-9938-22FF94AB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95750"/>
            <a:ext cx="3286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回答与实际办理脱节</a:t>
            </a:r>
          </a:p>
        </p:txBody>
      </p:sp>
      <p:sp>
        <p:nvSpPr>
          <p:cNvPr id="17" name="订单归属、申请商品和操作意愿需要核实">
            <a:extLst xmlns:a="http://schemas.openxmlformats.org/drawingml/2006/main">
              <a:ext uri="{FF2B5EF4-FFF2-40B4-BE49-F238E27FC236}">
                <a16:creationId xmlns:a16="http://schemas.microsoft.com/office/drawing/2014/main" id="{AE668B79-6710-414C-8841-4922F2CE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52950"/>
            <a:ext cx="1004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订单归属、申请商品和操作意愿需要核实</a:t>
            </a:r>
          </a:p>
        </p:txBody>
      </p:sp>
      <p:sp>
        <p:nvSpPr>
          <p:cNvPr id="18" name="查询本人订单，确认退／换／修后生成本地申请">
            <a:extLst xmlns:a="http://schemas.openxmlformats.org/drawingml/2006/main">
              <a:ext uri="{FF2B5EF4-FFF2-40B4-BE49-F238E27FC236}">
                <a16:creationId xmlns:a16="http://schemas.microsoft.com/office/drawing/2014/main" id="{0FFD99BE-6407-4EEE-B07E-09B0B0F3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查询本人订单，确认退／换／修后生成本地申请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087BE9-B62F-4D11-ABBE-4C11D57278F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52550" y="5095875"/>
            <a:ext cx="103155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20" name="项目边界：小米国行知识资料 + 本地演示订单／售后记录，人工转接仅展示等待文案">
            <a:extLst xmlns:a="http://schemas.openxmlformats.org/drawingml/2006/main">
              <a:ext uri="{FF2B5EF4-FFF2-40B4-BE49-F238E27FC236}">
                <a16:creationId xmlns:a16="http://schemas.microsoft.com/office/drawing/2014/main" id="{8FDD0CE8-F48A-46BA-AD96-E48A2B3F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34050"/>
            <a:ext cx="11106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00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00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00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00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00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00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00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00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00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936421"/>
                </a:solidFill>
                <a:latin typeface="Heiti TC"/>
                <a:ea typeface="Heiti TC"/>
                <a:cs typeface="Heiti TC"/>
              </a:rPr>
              <a:t>项目边界：小米国行知识资料 + 本地演示订单／售后记录，人工转接仅展示等待文案</a:t>
            </a:r>
          </a:p>
        </p:txBody>
      </p:sp>
    </p:spTree>
    <p:extLst>
      <p:ext uri="{BB962C8B-B14F-4D97-AF65-F5344CB8AC3E}">
        <p14:creationId xmlns:p14="http://schemas.microsoft.com/office/powerpoint/2010/main" val="599261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6F621E-A9A6-4D57-97F3-7E63644DBA48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667875" y="4352925"/>
            <a:ext cx="142875" cy="866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FC291F-2BD9-41BE-836A-024ED5FA25B8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5262563" y="4352925"/>
            <a:ext cx="1333500" cy="866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827F86-67F0-46AD-A60B-CCA9D54EFE7E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4357688" y="4352925"/>
            <a:ext cx="904875" cy="866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2BE81-5499-44BC-8A2D-743433354D19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1690688" y="2362200"/>
            <a:ext cx="3000375" cy="876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285F98"/>
            </a:solidFill>
            <a:prstDash val="dash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61661-9335-45C9-AE3A-BFFFA387B057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096375" y="2362200"/>
            <a:ext cx="571500" cy="876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03245-B3A5-410C-A2EE-22D50AF451BA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5262563" y="2362200"/>
            <a:ext cx="3833813" cy="876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6B651-0F35-4A75-BA6E-15950C53896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000750" y="19812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E2DC6-E5A6-4057-A309-510C9EC0227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57500" y="19812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28" name="系统架构">
            <a:extLst xmlns:a="http://schemas.openxmlformats.org/drawingml/2006/main">
              <a:ext uri="{FF2B5EF4-FFF2-40B4-BE49-F238E27FC236}">
                <a16:creationId xmlns:a16="http://schemas.microsoft.com/office/drawing/2014/main" id="{813BA6A4-9251-4BCB-855A-3287F52C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3150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系统架构</a:t>
            </a:r>
          </a:p>
        </p:txBody>
      </p:sp>
      <p:sp>
        <p:nvSpPr>
          <p:cNvPr id="2" name="Vue 3 提供对话界面，FastAPI 接入请求，LangGraph 编排业务与知识查询">
            <a:extLst xmlns:a="http://schemas.openxmlformats.org/drawingml/2006/main">
              <a:ext uri="{FF2B5EF4-FFF2-40B4-BE49-F238E27FC236}">
                <a16:creationId xmlns:a16="http://schemas.microsoft.com/office/drawing/2014/main" id="{0450F810-FB20-4D66-8BF1-79B70AED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94297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Vue 3 提供对话界面，FastAPI 接入请求，LangGraph 编排业务与知识查询</a:t>
            </a:r>
          </a:p>
        </p:txBody>
      </p:sp>
      <p:sp>
        <p:nvSpPr>
          <p:cNvPr id="3" name="AI智能客服  /  万佳恒">
            <a:extLst xmlns:a="http://schemas.openxmlformats.org/drawingml/2006/main">
              <a:ext uri="{FF2B5EF4-FFF2-40B4-BE49-F238E27FC236}">
                <a16:creationId xmlns:a16="http://schemas.microsoft.com/office/drawing/2014/main" id="{88A2FF4F-0AB8-4F42-AE24-1FD18CA3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AI智能客服  /  万佳恒</a:t>
            </a:r>
          </a:p>
        </p:txBody>
      </p:sp>
      <p:sp>
        <p:nvSpPr>
          <p:cNvPr id="4" name="2 / 6">
            <a:extLst xmlns:a="http://schemas.openxmlformats.org/drawingml/2006/main">
              <a:ext uri="{FF2B5EF4-FFF2-40B4-BE49-F238E27FC236}">
                <a16:creationId xmlns:a16="http://schemas.microsoft.com/office/drawing/2014/main" id="{2AAE846F-82CA-4221-A2CA-B1466EBE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2 / 7</a:t>
            </a:r>
          </a:p>
        </p:txBody>
      </p:sp>
      <p:sp>
        <p:nvSpPr>
          <p:cNvPr id="5" name="Vue 3 + Vite">
            <a:extLst xmlns:a="http://schemas.openxmlformats.org/drawingml/2006/main">
              <a:ext uri="{FF2B5EF4-FFF2-40B4-BE49-F238E27FC236}">
                <a16:creationId xmlns:a16="http://schemas.microsoft.com/office/drawing/2014/main" id="{74D1083A-61B2-4B61-8D60-967DB81D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0200"/>
            <a:ext cx="2333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Vue 3 + Vite</a:t>
            </a:r>
          </a:p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登录、对话、进度</a:t>
            </a:r>
          </a:p>
        </p:txBody>
      </p:sp>
      <p:sp>
        <p:nvSpPr>
          <p:cNvPr id="6" name="FastAPI + SSE">
            <a:extLst xmlns:a="http://schemas.openxmlformats.org/drawingml/2006/main">
              <a:ext uri="{FF2B5EF4-FFF2-40B4-BE49-F238E27FC236}">
                <a16:creationId xmlns:a16="http://schemas.microsoft.com/office/drawing/2014/main" id="{B6571E38-4CE0-49BB-A918-277CB2E7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00200"/>
            <a:ext cx="2619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FastAPI + SSE</a:t>
            </a:r>
          </a:p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Cookie 身份、请求排队</a:t>
            </a:r>
          </a:p>
        </p:txBody>
      </p:sp>
      <p:sp>
        <p:nvSpPr>
          <p:cNvPr id="7" name="LangGraph 客服主图">
            <a:extLst xmlns:a="http://schemas.openxmlformats.org/drawingml/2006/main">
              <a:ext uri="{FF2B5EF4-FFF2-40B4-BE49-F238E27FC236}">
                <a16:creationId xmlns:a16="http://schemas.microsoft.com/office/drawing/2014/main" id="{87C75AC7-DD62-45D0-B235-A4606C55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00200"/>
            <a:ext cx="5143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A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7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7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7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7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7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7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7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7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7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LangGraph 客服主图</a:t>
            </a:r>
          </a:p>
          <a:p xmlns:a="http://schemas.openxmlformats.org/drawingml/2006/main">
            <a:pPr algn="ctr">
              <a:defRPr sz="17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规则与 LLM 路由、统一回复</a:t>
            </a:r>
          </a:p>
        </p:txBody>
      </p:sp>
      <p:sp>
        <p:nvSpPr>
          <p:cNvPr id="10" name="LLM 接入">
            <a:extLst xmlns:a="http://schemas.openxmlformats.org/drawingml/2006/main">
              <a:ext uri="{FF2B5EF4-FFF2-40B4-BE49-F238E27FC236}">
                <a16:creationId xmlns:a16="http://schemas.microsoft.com/office/drawing/2014/main" id="{57886C87-3623-42A6-A83B-6DEFCD8F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233362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LLM 接入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DeepSeek、MiniMax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分类、重写与生成</a:t>
            </a:r>
          </a:p>
        </p:txBody>
      </p:sp>
      <p:sp>
        <p:nvSpPr>
          <p:cNvPr id="11" name="固定 RAG 子流程">
            <a:extLst xmlns:a="http://schemas.openxmlformats.org/drawingml/2006/main">
              <a:ext uri="{FF2B5EF4-FFF2-40B4-BE49-F238E27FC236}">
                <a16:creationId xmlns:a16="http://schemas.microsoft.com/office/drawing/2014/main" id="{6023C2CB-4A16-4A88-BCEC-3A40E385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38500"/>
            <a:ext cx="376237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固定 RAG 子流程</a:t>
            </a:r>
          </a:p>
          <a:p xmlns:a="http://schemas.openxmlformats.org/drawingml/2006/main">
            <a: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FAQ、文档混合检索、精排</a:t>
            </a:r>
          </a:p>
          <a:p xmlns:a="http://schemas.openxmlformats.org/drawingml/2006/main">
            <a: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可选手机参数关系查询</a:t>
            </a:r>
          </a:p>
        </p:txBody>
      </p:sp>
      <p:sp>
        <p:nvSpPr>
          <p:cNvPr id="12" name="业务节点">
            <a:extLst xmlns:a="http://schemas.openxmlformats.org/drawingml/2006/main">
              <a:ext uri="{FF2B5EF4-FFF2-40B4-BE49-F238E27FC236}">
                <a16:creationId xmlns:a16="http://schemas.microsoft.com/office/drawing/2014/main" id="{7BB16892-08EF-4829-83A7-FBA34E63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38500"/>
            <a:ext cx="40005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A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业务节点</a:t>
            </a:r>
          </a:p>
          <a:p xmlns:a="http://schemas.openxmlformats.org/drawingml/2006/main">
            <a: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本人订单查询</a:t>
            </a:r>
          </a:p>
          <a:p xmlns:a="http://schemas.openxmlformats.org/drawingml/2006/main">
            <a: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退货／换货／维修申请</a:t>
            </a:r>
          </a:p>
        </p:txBody>
      </p:sp>
      <p:sp>
        <p:nvSpPr>
          <p:cNvPr id="16" name="模型供 Graph 与 RAG 使用">
            <a:extLst xmlns:a="http://schemas.openxmlformats.org/drawingml/2006/main">
              <a:ext uri="{FF2B5EF4-FFF2-40B4-BE49-F238E27FC236}">
                <a16:creationId xmlns:a16="http://schemas.microsoft.com/office/drawing/2014/main" id="{E8FB61CB-11E8-4141-91CA-604A77F4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243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模型供 Graph 与 RAG 使用</a:t>
            </a:r>
          </a:p>
        </p:txBody>
      </p:sp>
      <p:sp>
        <p:nvSpPr>
          <p:cNvPr id="17" name="Milvus">
            <a:extLst xmlns:a="http://schemas.openxmlformats.org/drawingml/2006/main">
              <a:ext uri="{FF2B5EF4-FFF2-40B4-BE49-F238E27FC236}">
                <a16:creationId xmlns:a16="http://schemas.microsoft.com/office/drawing/2014/main" id="{0B11ED04-B2E4-4810-BFB5-2B7E7898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2197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Milvus</a:t>
            </a:r>
          </a:p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FAQ 与文档向量</a:t>
            </a:r>
          </a:p>
        </p:txBody>
      </p:sp>
      <p:sp>
        <p:nvSpPr>
          <p:cNvPr id="18" name="Redis">
            <a:extLst xmlns:a="http://schemas.openxmlformats.org/drawingml/2006/main">
              <a:ext uri="{FF2B5EF4-FFF2-40B4-BE49-F238E27FC236}">
                <a16:creationId xmlns:a16="http://schemas.microsoft.com/office/drawing/2014/main" id="{471A90C7-3673-4D98-87F5-31AF5BBE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219700"/>
            <a:ext cx="2047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Redis</a:t>
            </a:r>
          </a:p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版本化正文、目录</a:t>
            </a:r>
          </a:p>
        </p:txBody>
      </p:sp>
      <p:sp>
        <p:nvSpPr>
          <p:cNvPr id="19" name="PostgreSQL">
            <a:extLst xmlns:a="http://schemas.openxmlformats.org/drawingml/2006/main">
              <a:ext uri="{FF2B5EF4-FFF2-40B4-BE49-F238E27FC236}">
                <a16:creationId xmlns:a16="http://schemas.microsoft.com/office/drawing/2014/main" id="{68842342-166B-458C-94EF-46C70CF1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19700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PostgreSQL</a:t>
            </a:r>
          </a:p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会话检查点、订单、申请</a:t>
            </a:r>
          </a:p>
        </p:txBody>
      </p:sp>
      <p:sp>
        <p:nvSpPr>
          <p:cNvPr id="23" name="Neo4j（可选）">
            <a:extLst xmlns:a="http://schemas.openxmlformats.org/drawingml/2006/main">
              <a:ext uri="{FF2B5EF4-FFF2-40B4-BE49-F238E27FC236}">
                <a16:creationId xmlns:a16="http://schemas.microsoft.com/office/drawing/2014/main" id="{BADFF239-F03A-46D3-AB21-0CB4C536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Neo4j（可选）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手机参数关系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8BD999-7831-4883-8065-05378FB7103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667125" y="4352925"/>
            <a:ext cx="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87F8C"/>
            </a:solidFill>
            <a:prstDash val="solid"/>
            <a:tailEnd type="non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00EB35-C872-471F-908A-00F673EC6A5C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685925" y="4953000"/>
            <a:ext cx="1981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87F8C"/>
            </a:solidFill>
            <a:prstDash val="solid"/>
            <a:tailEnd type="non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12C96A-BDB4-45B9-8EBB-3244329DAF9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85925" y="49530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27" name="原始 Markdown 统一维护知识，更新 Milvus / Redis；参数关系单独同步 Neo4j">
            <a:extLst xmlns:a="http://schemas.openxmlformats.org/drawingml/2006/main">
              <a:ext uri="{FF2B5EF4-FFF2-40B4-BE49-F238E27FC236}">
                <a16:creationId xmlns:a16="http://schemas.microsoft.com/office/drawing/2014/main" id="{8EEBCBFD-7F50-4E7E-A2F3-7E12B9E7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038850"/>
            <a:ext cx="828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原始 Markdown 统一维护知识，更新 Milvus / Redis；参数关系单独同步 Neo4j</a:t>
            </a:r>
          </a:p>
        </p:txBody>
      </p:sp>
    </p:spTree>
    <p:extLst>
      <p:ext uri="{BB962C8B-B14F-4D97-AF65-F5344CB8AC3E}">
        <p14:creationId xmlns:p14="http://schemas.microsoft.com/office/powerpoint/2010/main" val="17976952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项目亮点">
            <a:extLst xmlns:a="http://schemas.openxmlformats.org/drawingml/2006/main">
              <a:ext uri="{FF2B5EF4-FFF2-40B4-BE49-F238E27FC236}">
                <a16:creationId xmlns:a16="http://schemas.microsoft.com/office/drawing/2014/main" id="{68C9D8DC-3B22-4B33-8E61-C9BEE2B9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3150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项目亮点</a:t>
            </a:r>
          </a:p>
        </p:txBody>
      </p:sp>
      <p:sp>
        <p:nvSpPr>
          <p:cNvPr id="2" name="围绕实际问答与办理过程，保持流程可追踪、证据有来源、写操作有确认">
            <a:extLst xmlns:a="http://schemas.openxmlformats.org/drawingml/2006/main">
              <a:ext uri="{FF2B5EF4-FFF2-40B4-BE49-F238E27FC236}">
                <a16:creationId xmlns:a16="http://schemas.microsoft.com/office/drawing/2014/main" id="{7A26105C-6981-4B20-BD97-FC883042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94297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围绕实际问答与办理过程，保持流程可追踪、证据有来源、写操作有确认</a:t>
            </a:r>
          </a:p>
        </p:txBody>
      </p:sp>
      <p:sp>
        <p:nvSpPr>
          <p:cNvPr id="3" name="AI智能客服  /  万佳恒">
            <a:extLst xmlns:a="http://schemas.openxmlformats.org/drawingml/2006/main">
              <a:ext uri="{FF2B5EF4-FFF2-40B4-BE49-F238E27FC236}">
                <a16:creationId xmlns:a16="http://schemas.microsoft.com/office/drawing/2014/main" id="{D714EB68-E240-42A3-8BEE-D1123CF3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AI智能客服  /  万佳恒</a:t>
            </a:r>
          </a:p>
        </p:txBody>
      </p:sp>
      <p:sp>
        <p:nvSpPr>
          <p:cNvPr id="4" name="3 / 6">
            <a:extLst xmlns:a="http://schemas.openxmlformats.org/drawingml/2006/main">
              <a:ext uri="{FF2B5EF4-FFF2-40B4-BE49-F238E27FC236}">
                <a16:creationId xmlns:a16="http://schemas.microsoft.com/office/drawing/2014/main" id="{B2E79699-A706-4026-A09A-A27AA0A8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3 / 7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967C346F-230D-4DDC-9F8E-CC0431AA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6" name="可控的单意图路由">
            <a:extLst xmlns:a="http://schemas.openxmlformats.org/drawingml/2006/main">
              <a:ext uri="{FF2B5EF4-FFF2-40B4-BE49-F238E27FC236}">
                <a16:creationId xmlns:a16="http://schemas.microsoft.com/office/drawing/2014/main" id="{507C7A82-3AC0-4BB4-8E90-CB652155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240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可控的单意图路由</a:t>
            </a:r>
          </a:p>
        </p:txBody>
      </p:sp>
      <p:sp>
        <p:nvSpPr>
          <p:cNvPr id="7" name="明确寒暄与转人工走 Python 规则，其余由 LLM 分类">
            <a:extLst xmlns:a="http://schemas.openxmlformats.org/drawingml/2006/main">
              <a:ext uri="{FF2B5EF4-FFF2-40B4-BE49-F238E27FC236}">
                <a16:creationId xmlns:a16="http://schemas.microsoft.com/office/drawing/2014/main" id="{6A0C4F56-EE34-45F0-8F13-ACDAB2A0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716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明确寒暄与转人工走 Python 规则，其余由 LLM 分类</a:t>
            </a:r>
          </a:p>
        </p:txBody>
      </p:sp>
      <p:sp>
        <p:nvSpPr>
          <p:cNvPr id="8" name="多轮上下文与 SSE 节点进度可追踪">
            <a:extLst xmlns:a="http://schemas.openxmlformats.org/drawingml/2006/main">
              <a:ext uri="{FF2B5EF4-FFF2-40B4-BE49-F238E27FC236}">
                <a16:creationId xmlns:a16="http://schemas.microsoft.com/office/drawing/2014/main" id="{FA3B2B4C-EB04-4428-B30D-8A479D70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多轮上下文与 SSE 节点进度可追踪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77463-19D4-440C-9806-AC52B5D3D7C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33500" y="2457450"/>
            <a:ext cx="103346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6C032874-7E83-4135-8B6A-7E193C3F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2890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1" name="分层检索与独立精排">
            <a:extLst xmlns:a="http://schemas.openxmlformats.org/drawingml/2006/main">
              <a:ext uri="{FF2B5EF4-FFF2-40B4-BE49-F238E27FC236}">
                <a16:creationId xmlns:a16="http://schemas.microsoft.com/office/drawing/2014/main" id="{7EC423B6-302D-441D-B6FA-1EE6FFEA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289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分层检索与独立精排</a:t>
            </a:r>
          </a:p>
        </p:txBody>
      </p:sp>
      <p:sp>
        <p:nvSpPr>
          <p:cNvPr id="12" name="FAQ 优先，未明确命中再走原查询 + HyDE 混合检索">
            <a:extLst xmlns:a="http://schemas.openxmlformats.org/drawingml/2006/main">
              <a:ext uri="{FF2B5EF4-FFF2-40B4-BE49-F238E27FC236}">
                <a16:creationId xmlns:a16="http://schemas.microsoft.com/office/drawing/2014/main" id="{9D59015E-58F2-4924-961C-3345E5C7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765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FAQ 优先，未明确命中再走原查询 + HyDE 混合检索</a:t>
            </a:r>
          </a:p>
        </p:txBody>
      </p:sp>
      <p:sp>
        <p:nvSpPr>
          <p:cNvPr id="13" name="双向量召回后，按证据相关性独立精排">
            <a:extLst xmlns:a="http://schemas.openxmlformats.org/drawingml/2006/main">
              <a:ext uri="{FF2B5EF4-FFF2-40B4-BE49-F238E27FC236}">
                <a16:creationId xmlns:a16="http://schemas.microsoft.com/office/drawing/2014/main" id="{45BD11F9-D5CC-4429-BA8E-D1144FCA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双向量召回后，按证据相关性独立精排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061E9-F5F0-4767-A10E-56652B4D04E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33500" y="3562350"/>
            <a:ext cx="103346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9502B0ED-0B21-4DE5-B879-BF0957CC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3380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6" name="参数关系查询有确定结果">
            <a:extLst xmlns:a="http://schemas.openxmlformats.org/drawingml/2006/main">
              <a:ext uri="{FF2B5EF4-FFF2-40B4-BE49-F238E27FC236}">
                <a16:creationId xmlns:a16="http://schemas.microsoft.com/office/drawing/2014/main" id="{8FE8F357-C00A-41F6-B71F-AF94838D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338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参数关系查询有确定结果</a:t>
            </a:r>
          </a:p>
        </p:txBody>
      </p:sp>
      <p:sp>
        <p:nvSpPr>
          <p:cNvPr id="17" name="Neo4j 支持型号比较、共同参数与多条件筛选">
            <a:extLst xmlns:a="http://schemas.openxmlformats.org/drawingml/2006/main">
              <a:ext uri="{FF2B5EF4-FFF2-40B4-BE49-F238E27FC236}">
                <a16:creationId xmlns:a16="http://schemas.microsoft.com/office/drawing/2014/main" id="{5521D735-3D85-4D9F-9B9B-2B2D5EF4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814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Neo4j 支持型号比较、共同参数与多条件筛选</a:t>
            </a:r>
          </a:p>
        </p:txBody>
      </p:sp>
      <p:sp>
        <p:nvSpPr>
          <p:cNvPr id="18" name="固定 Cypher 查询，程序计算差值与筛选结果">
            <a:extLst xmlns:a="http://schemas.openxmlformats.org/drawingml/2006/main">
              <a:ext uri="{FF2B5EF4-FFF2-40B4-BE49-F238E27FC236}">
                <a16:creationId xmlns:a16="http://schemas.microsoft.com/office/drawing/2014/main" id="{05B265A6-06F2-46B6-B0C2-D3A2C222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固定 Cypher 查询，程序计算差值与筛选结果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45013-B3E3-47F8-BD39-BD648E56961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33500" y="4667250"/>
            <a:ext cx="103346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20" name="04">
            <a:extLst xmlns:a="http://schemas.openxmlformats.org/drawingml/2006/main">
              <a:ext uri="{FF2B5EF4-FFF2-40B4-BE49-F238E27FC236}">
                <a16:creationId xmlns:a16="http://schemas.microsoft.com/office/drawing/2014/main" id="{DB484E4C-C365-4ACD-A25F-6CE5BFBA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3870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  <p:sp>
        <p:nvSpPr>
          <p:cNvPr id="21" name="售后确认与重复提交保护">
            <a:extLst xmlns:a="http://schemas.openxmlformats.org/drawingml/2006/main">
              <a:ext uri="{FF2B5EF4-FFF2-40B4-BE49-F238E27FC236}">
                <a16:creationId xmlns:a16="http://schemas.microsoft.com/office/drawing/2014/main" id="{C2EE778C-0F30-4F0A-9150-80BBFFFD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387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售后确认与重复提交保护</a:t>
            </a:r>
          </a:p>
        </p:txBody>
      </p:sp>
      <p:sp>
        <p:nvSpPr>
          <p:cNvPr id="22" name="核对本人订单、商品和动作，明确确认后再创建申请">
            <a:extLst xmlns:a="http://schemas.openxmlformats.org/drawingml/2006/main">
              <a:ext uri="{FF2B5EF4-FFF2-40B4-BE49-F238E27FC236}">
                <a16:creationId xmlns:a16="http://schemas.microsoft.com/office/drawing/2014/main" id="{5DC45231-E9BC-4550-9375-CA2A02AA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863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核对本人订单、商品和动作，明确确认后再创建申请</a:t>
            </a:r>
          </a:p>
        </p:txBody>
      </p:sp>
      <p:sp>
        <p:nvSpPr>
          <p:cNvPr id="23" name="参数改变重新确认，同一申请不重复创建">
            <a:extLst xmlns:a="http://schemas.openxmlformats.org/drawingml/2006/main">
              <a:ext uri="{FF2B5EF4-FFF2-40B4-BE49-F238E27FC236}">
                <a16:creationId xmlns:a16="http://schemas.microsoft.com/office/drawing/2014/main" id="{6EA75AA5-9061-4479-9B60-DC43384B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38700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参数改变重新确认，同一申请不重复创建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F45905-7D91-4B11-903D-D27CB387975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33500" y="5772150"/>
            <a:ext cx="103346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25" name="知识来自同一份 Markdown 正文，内部保留来源与版本；未找到依据时明确说明无法核实">
            <a:extLst xmlns:a="http://schemas.openxmlformats.org/drawingml/2006/main">
              <a:ext uri="{FF2B5EF4-FFF2-40B4-BE49-F238E27FC236}">
                <a16:creationId xmlns:a16="http://schemas.microsoft.com/office/drawing/2014/main" id="{FEC3C36D-A8DF-487A-8E3C-46F0EE42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76950"/>
            <a:ext cx="1109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知识来自同一份 Markdown 正文，内部保留来源与版本；未找到依据时明确说明无法核实</a:t>
            </a:r>
          </a:p>
        </p:txBody>
      </p:sp>
    </p:spTree>
    <p:extLst>
      <p:ext uri="{BB962C8B-B14F-4D97-AF65-F5344CB8AC3E}">
        <p14:creationId xmlns:p14="http://schemas.microsoft.com/office/powerpoint/2010/main" val="15932741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157ED4-8CE2-49C1-96CA-037BC3B93767}"/>
              </a:ext>
            </a:extLst>
          </p:cNvPr>
          <p:cNvCxnSpPr>
            <a:stCxn xmlns:a="http://schemas.openxmlformats.org/drawingml/2006/main" id="46" idx="3"/>
            <a:endCxn xmlns:a="http://schemas.openxmlformats.org/drawingml/2006/main" id="42" idx="2"/>
          </p:cNvCxnSpPr>
          <p:nvPr/>
        </p:nvCxnSpPr>
        <p:spPr>
          <a:xfrm xmlns:a="http://schemas.openxmlformats.org/drawingml/2006/main" flipV="1">
            <a:off x="9334500" y="5962650"/>
            <a:ext cx="1714500" cy="285750"/>
          </a:xfrm>
          <a:prstGeom xmlns:a="http://schemas.openxmlformats.org/drawingml/2006/main" prst="bentConnector2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808973-5904-4D7D-9BB4-05783DB23959}"/>
              </a:ext>
            </a:extLst>
          </p:cNvPr>
          <p:cNvCxnSpPr>
            <a:stCxn xmlns:a="http://schemas.openxmlformats.org/drawingml/2006/main" id="41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8286750" y="596265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BA1082-C4AC-490F-AB54-A87604E834E6}"/>
              </a:ext>
            </a:extLst>
          </p:cNvPr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9334500" y="5676900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82D307-2011-4D36-A489-AA060480862A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6334125" y="567690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44B161-73A1-4B0C-B156-2305AE9D7072}"/>
              </a:ext>
            </a:extLst>
          </p:cNvPr>
          <p:cNvCxnSpPr>
            <a:stCxn xmlns:a="http://schemas.openxmlformats.org/drawingml/2006/main" id="29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5286375" y="51054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F62575-5C30-4D24-A72A-792050DDF36C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0739438" y="3467100"/>
            <a:ext cx="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1D8809-1774-4CB9-A177-321E1F32F4C8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6334125" y="4819650"/>
            <a:ext cx="3476625" cy="142875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F674B3-AC47-4325-A7B8-B70514A69B02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5048250" y="4286250"/>
            <a:ext cx="238125" cy="247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95EC8B-D9F0-4A5E-BDB2-9382CF0E2FB9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5048250" y="3467100"/>
            <a:ext cx="3714750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3F1745-906C-403F-9ECA-D39EC47D6937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5048250" y="3467100"/>
            <a:ext cx="1857375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12D6A7-641F-412E-A087-3C73C5FED9BE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5048250" y="34671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5973FB-EEF2-477F-838C-D9B145170BA2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3190875" y="3467100"/>
            <a:ext cx="1857375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AC8DF1-FBF6-4875-939D-857BAE0E303E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333500" y="3467100"/>
            <a:ext cx="3714750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A20459-F104-4ADB-ABAA-0A3A3AE5099C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5762625" y="2047875"/>
            <a:ext cx="4976813" cy="752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CE3E0E-F5BE-4B4D-BF79-8816F068BF96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5762625" y="2047875"/>
            <a:ext cx="3000375" cy="752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F712A1-B3C9-46B7-B3AB-A6F178FC64D5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5762625" y="2047875"/>
            <a:ext cx="1143000" cy="752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3783CB-D1E9-40F8-A808-79CEE45BDD9A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5048250" y="2047875"/>
            <a:ext cx="714375" cy="752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8FC16B-C593-43E2-8492-63EEB436B296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3190875" y="2047875"/>
            <a:ext cx="2571750" cy="752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E0B74A-003B-4DFA-AAB7-E6E0101DA0D2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1333500" y="2047875"/>
            <a:ext cx="4429125" cy="752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8ECC7-BC58-430C-B4E0-DC93AFD45B4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143375" y="17430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ABF33-777F-4E5D-BEF3-964CCF6AAEA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666875" y="17430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51" name="客服 Graph 主流程">
            <a:extLst xmlns:a="http://schemas.openxmlformats.org/drawingml/2006/main">
              <a:ext uri="{FF2B5EF4-FFF2-40B4-BE49-F238E27FC236}">
                <a16:creationId xmlns:a16="http://schemas.microsoft.com/office/drawing/2014/main" id="{3C682174-839F-4863-9900-721E005C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3150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客服 Graph 主流程</a:t>
            </a:r>
          </a:p>
        </p:txBody>
      </p:sp>
      <p:sp>
        <p:nvSpPr>
          <p:cNvPr id="2" name="单意图分流后汇总业务结果，再生成回复并校验">
            <a:extLst xmlns:a="http://schemas.openxmlformats.org/drawingml/2006/main">
              <a:ext uri="{FF2B5EF4-FFF2-40B4-BE49-F238E27FC236}">
                <a16:creationId xmlns:a16="http://schemas.microsoft.com/office/drawing/2014/main" id="{E3997DF6-6C66-4EFB-A30F-F17D1DE7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94297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单意图分流后汇总业务结果，再生成回复并校验</a:t>
            </a:r>
          </a:p>
        </p:txBody>
      </p:sp>
      <p:sp>
        <p:nvSpPr>
          <p:cNvPr id="3" name="AI智能客服  /  万佳恒">
            <a:extLst xmlns:a="http://schemas.openxmlformats.org/drawingml/2006/main">
              <a:ext uri="{FF2B5EF4-FFF2-40B4-BE49-F238E27FC236}">
                <a16:creationId xmlns:a16="http://schemas.microsoft.com/office/drawing/2014/main" id="{5D8A5496-B41C-40C5-B774-A7A39981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AI智能客服  /  万佳恒</a:t>
            </a:r>
          </a:p>
        </p:txBody>
      </p:sp>
      <p:sp>
        <p:nvSpPr>
          <p:cNvPr id="4" name="4 / 6">
            <a:extLst xmlns:a="http://schemas.openxmlformats.org/drawingml/2006/main">
              <a:ext uri="{FF2B5EF4-FFF2-40B4-BE49-F238E27FC236}">
                <a16:creationId xmlns:a16="http://schemas.microsoft.com/office/drawing/2014/main" id="{EDEB8FFF-7032-4A06-BC61-339C4F23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4 / 7</a:t>
            </a:r>
          </a:p>
        </p:txBody>
      </p:sp>
      <p:sp>
        <p:nvSpPr>
          <p:cNvPr id="5" name="START">
            <a:extLst xmlns:a="http://schemas.openxmlformats.org/drawingml/2006/main">
              <a:ext uri="{FF2B5EF4-FFF2-40B4-BE49-F238E27FC236}">
                <a16:creationId xmlns:a16="http://schemas.microsoft.com/office/drawing/2014/main" id="{3C338EB8-B495-4135-9B49-CEF7C48F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859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START</a:t>
            </a:r>
          </a:p>
        </p:txBody>
      </p:sp>
      <p:sp>
        <p:nvSpPr>
          <p:cNvPr id="6" name="prepare_context">
            <a:extLst xmlns:a="http://schemas.openxmlformats.org/drawingml/2006/main">
              <a:ext uri="{FF2B5EF4-FFF2-40B4-BE49-F238E27FC236}">
                <a16:creationId xmlns:a16="http://schemas.microsoft.com/office/drawing/2014/main" id="{85611436-7456-4FF5-B494-F671C09B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43827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prepare_context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保留有效槽位</a:t>
            </a:r>
          </a:p>
        </p:txBody>
      </p:sp>
      <p:sp>
        <p:nvSpPr>
          <p:cNvPr id="7" name="recognize_intent">
            <a:extLst xmlns:a="http://schemas.openxmlformats.org/drawingml/2006/main">
              <a:ext uri="{FF2B5EF4-FFF2-40B4-BE49-F238E27FC236}">
                <a16:creationId xmlns:a16="http://schemas.microsoft.com/office/drawing/2014/main" id="{5054C79B-0B90-42B7-891B-2922653A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38275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A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recognize_intent</a:t>
            </a:r>
          </a:p>
          <a:p xmlns:a="http://schemas.openxmlformats.org/drawingml/2006/main">
            <a:pPr algn="ctr">
              <a:defRPr sz="16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规则 + LLM 分类</a:t>
            </a:r>
          </a:p>
        </p:txBody>
      </p:sp>
      <p:sp>
        <p:nvSpPr>
          <p:cNvPr id="10" name="复杂子图保留但当前不进入">
            <a:extLst xmlns:a="http://schemas.openxmlformats.org/drawingml/2006/main">
              <a:ext uri="{FF2B5EF4-FFF2-40B4-BE49-F238E27FC236}">
                <a16:creationId xmlns:a16="http://schemas.microsoft.com/office/drawing/2014/main" id="{855EE3B4-0FE6-4C3B-A9D7-21DB0712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4192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复杂子图保留但当前不进入</a:t>
            </a:r>
          </a:p>
          <a:p xmlns:a="http://schemas.openxmlformats.org/drawingml/2006/main">
            <a: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is_complex=False，业务工具未接入</a:t>
            </a:r>
          </a:p>
        </p:txBody>
      </p:sp>
      <p:sp>
        <p:nvSpPr>
          <p:cNvPr id="11" name="咨询">
            <a:extLst xmlns:a="http://schemas.openxmlformats.org/drawingml/2006/main">
              <a:ext uri="{FF2B5EF4-FFF2-40B4-BE49-F238E27FC236}">
                <a16:creationId xmlns:a16="http://schemas.microsoft.com/office/drawing/2014/main" id="{45014935-B901-4B4C-8971-79932F69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03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咨询</a:t>
            </a:r>
          </a:p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知识检索</a:t>
            </a:r>
          </a:p>
        </p:txBody>
      </p:sp>
      <p:sp>
        <p:nvSpPr>
          <p:cNvPr id="12" name="订单查询">
            <a:extLst xmlns:a="http://schemas.openxmlformats.org/drawingml/2006/main">
              <a:ext uri="{FF2B5EF4-FFF2-40B4-BE49-F238E27FC236}">
                <a16:creationId xmlns:a16="http://schemas.microsoft.com/office/drawing/2014/main" id="{41C0FDAC-2B77-4B90-906B-2411E654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003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订单查询</a:t>
            </a:r>
          </a:p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本人订单</a:t>
            </a:r>
          </a:p>
        </p:txBody>
      </p:sp>
      <p:sp>
        <p:nvSpPr>
          <p:cNvPr id="13" name="售后">
            <a:extLst xmlns:a="http://schemas.openxmlformats.org/drawingml/2006/main">
              <a:ext uri="{FF2B5EF4-FFF2-40B4-BE49-F238E27FC236}">
                <a16:creationId xmlns:a16="http://schemas.microsoft.com/office/drawing/2014/main" id="{9CDE20F3-F4E0-43BF-BD73-D36C136C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003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售后</a:t>
            </a:r>
          </a:p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确认后提交</a:t>
            </a:r>
          </a:p>
        </p:txBody>
      </p:sp>
      <p:sp>
        <p:nvSpPr>
          <p:cNvPr id="14" name="闲聊">
            <a:extLst xmlns:a="http://schemas.openxmlformats.org/drawingml/2006/main">
              <a:ext uri="{FF2B5EF4-FFF2-40B4-BE49-F238E27FC236}">
                <a16:creationId xmlns:a16="http://schemas.microsoft.com/office/drawing/2014/main" id="{9EB60604-B6B6-4F77-AA53-D30C65F8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闲聊</a:t>
            </a:r>
          </a:p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规则或普通回复</a:t>
            </a:r>
          </a:p>
        </p:txBody>
      </p:sp>
      <p:sp>
        <p:nvSpPr>
          <p:cNvPr id="15" name="投诉">
            <a:extLst xmlns:a="http://schemas.openxmlformats.org/drawingml/2006/main">
              <a:ext uri="{FF2B5EF4-FFF2-40B4-BE49-F238E27FC236}">
                <a16:creationId xmlns:a16="http://schemas.microsoft.com/office/drawing/2014/main" id="{5AF493AC-F23C-419B-9E02-0DD14F07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003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投诉</a:t>
            </a:r>
          </a:p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标记需要人工</a:t>
            </a:r>
          </a:p>
        </p:txBody>
      </p:sp>
      <p:sp>
        <p:nvSpPr>
          <p:cNvPr id="16" name="转人工">
            <a:extLst xmlns:a="http://schemas.openxmlformats.org/drawingml/2006/main">
              <a:ext uri="{FF2B5EF4-FFF2-40B4-BE49-F238E27FC236}">
                <a16:creationId xmlns:a16="http://schemas.microsoft.com/office/drawing/2014/main" id="{D7CD8D2A-1DEC-4E73-8F79-45FA015F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00350"/>
            <a:ext cx="1857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转人工</a:t>
            </a:r>
          </a:p>
        </p:txBody>
      </p:sp>
      <p:sp>
        <p:nvSpPr>
          <p:cNvPr id="23" name="aggregate_results  汇总结果、证据与动作">
            <a:extLst xmlns:a="http://schemas.openxmlformats.org/drawingml/2006/main">
              <a:ext uri="{FF2B5EF4-FFF2-40B4-BE49-F238E27FC236}">
                <a16:creationId xmlns:a16="http://schemas.microsoft.com/office/drawing/2014/main" id="{33FB9C8E-FCAA-4067-B493-9381F326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48100"/>
            <a:ext cx="904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A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aggregate_results  汇总结果、证据与动作</a:t>
            </a:r>
          </a:p>
        </p:txBody>
      </p:sp>
      <p:sp>
        <p:nvSpPr>
          <p:cNvPr id="29" name="check_handoff">
            <a:extLst xmlns:a="http://schemas.openxmlformats.org/drawingml/2006/main">
              <a:ext uri="{FF2B5EF4-FFF2-40B4-BE49-F238E27FC236}">
                <a16:creationId xmlns:a16="http://schemas.microsoft.com/office/drawing/2014/main" id="{40B7388D-DE97-4F68-BA33-646A50EE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339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check_handoff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检查人工需求</a:t>
            </a:r>
          </a:p>
        </p:txBody>
      </p:sp>
      <p:sp>
        <p:nvSpPr>
          <p:cNvPr id="30" name="handoff">
            <a:extLst xmlns:a="http://schemas.openxmlformats.org/drawingml/2006/main">
              <a:ext uri="{FF2B5EF4-FFF2-40B4-BE49-F238E27FC236}">
                <a16:creationId xmlns:a16="http://schemas.microsoft.com/office/drawing/2014/main" id="{B63D552F-D202-4940-8D76-A45EB9A7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33900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handoff</a:t>
            </a:r>
          </a:p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展示转接等待文案</a:t>
            </a:r>
          </a:p>
        </p:txBody>
      </p:sp>
      <p:sp>
        <p:nvSpPr>
          <p:cNvPr id="34" name="需要人工">
            <a:extLst xmlns:a="http://schemas.openxmlformats.org/drawingml/2006/main">
              <a:ext uri="{FF2B5EF4-FFF2-40B4-BE49-F238E27FC236}">
                <a16:creationId xmlns:a16="http://schemas.microsoft.com/office/drawing/2014/main" id="{10B83050-7975-4633-8ADC-3EC6581A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434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936421"/>
                </a:solidFill>
                <a:latin typeface="Heiti TC"/>
                <a:ea typeface="Heiti TC"/>
                <a:cs typeface="Heiti TC"/>
              </a:rPr>
              <a:t>需要人工</a:t>
            </a:r>
          </a:p>
        </p:txBody>
      </p:sp>
      <p:sp>
        <p:nvSpPr>
          <p:cNvPr id="35" name="generate_answer">
            <a:extLst xmlns:a="http://schemas.openxmlformats.org/drawingml/2006/main">
              <a:ext uri="{FF2B5EF4-FFF2-40B4-BE49-F238E27FC236}">
                <a16:creationId xmlns:a16="http://schemas.microsoft.com/office/drawing/2014/main" id="{75750644-788B-4D89-8806-700B6056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39115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A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generate_answer</a:t>
            </a:r>
          </a:p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生成或直接返回回复</a:t>
            </a:r>
          </a:p>
        </p:txBody>
      </p:sp>
      <p:sp>
        <p:nvSpPr>
          <p:cNvPr id="37" name="否">
            <a:extLst xmlns:a="http://schemas.openxmlformats.org/drawingml/2006/main">
              <a:ext uri="{FF2B5EF4-FFF2-40B4-BE49-F238E27FC236}">
                <a16:creationId xmlns:a16="http://schemas.microsoft.com/office/drawing/2014/main" id="{0FD26781-CC0B-4559-BC41-A833C8B2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133975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否</a:t>
            </a:r>
          </a:p>
        </p:txBody>
      </p: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8DCC4F-10DA-4B22-91F7-6CF52A2970E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734675" y="510540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87F8C"/>
            </a:solidFill>
            <a:prstDash val="solid"/>
            <a:tailEnd type="none" w="med" len="me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266CE5-80F5-4E9B-AF4C-56E47EC9D1B4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5905500" y="5229225"/>
            <a:ext cx="48291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87F8C"/>
            </a:solidFill>
            <a:prstDash val="solid"/>
            <a:tailEnd type="none" w="med" len="me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F87A0B-1E81-46A4-8478-97FBA5409E8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05500" y="5229225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41" name="validate_answer">
            <a:extLst xmlns:a="http://schemas.openxmlformats.org/drawingml/2006/main">
              <a:ext uri="{FF2B5EF4-FFF2-40B4-BE49-F238E27FC236}">
                <a16:creationId xmlns:a16="http://schemas.microsoft.com/office/drawing/2014/main" id="{DC6DDF4D-A8E0-40D1-9ED1-F0E77F60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9115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validate_answer</a:t>
            </a:r>
          </a:p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非空与边界校验</a:t>
            </a:r>
          </a:p>
        </p:txBody>
      </p:sp>
      <p:sp>
        <p:nvSpPr>
          <p:cNvPr id="42" name="END">
            <a:extLst xmlns:a="http://schemas.openxmlformats.org/drawingml/2006/main">
              <a:ext uri="{FF2B5EF4-FFF2-40B4-BE49-F238E27FC236}">
                <a16:creationId xmlns:a16="http://schemas.microsoft.com/office/drawing/2014/main" id="{45960E1A-49CC-4512-A52A-A4672B43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391150"/>
            <a:ext cx="1238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END</a:t>
            </a:r>
          </a:p>
        </p:txBody>
      </p:sp>
      <p:sp>
        <p:nvSpPr>
          <p:cNvPr id="45" name="通过">
            <a:extLst xmlns:a="http://schemas.openxmlformats.org/drawingml/2006/main">
              <a:ext uri="{FF2B5EF4-FFF2-40B4-BE49-F238E27FC236}">
                <a16:creationId xmlns:a16="http://schemas.microsoft.com/office/drawing/2014/main" id="{05C364B2-84FB-42DE-9E31-6EC4FDB8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5353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4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4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4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4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4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4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4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4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4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通过</a:t>
            </a:r>
          </a:p>
        </p:txBody>
      </p:sp>
      <p:sp>
        <p:nvSpPr>
          <p:cNvPr id="46" name="safe_fallback">
            <a:extLst xmlns:a="http://schemas.openxmlformats.org/drawingml/2006/main">
              <a:ext uri="{FF2B5EF4-FFF2-40B4-BE49-F238E27FC236}">
                <a16:creationId xmlns:a16="http://schemas.microsoft.com/office/drawing/2014/main" id="{E304B74F-DBCB-4CE7-84B0-3BC077B6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055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4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4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4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4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4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4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4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4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4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safe_fallback</a:t>
            </a:r>
          </a:p>
        </p:txBody>
      </p:sp>
      <p:sp>
        <p:nvSpPr>
          <p:cNvPr id="49" name="失败">
            <a:extLst xmlns:a="http://schemas.openxmlformats.org/drawingml/2006/main">
              <a:ext uri="{FF2B5EF4-FFF2-40B4-BE49-F238E27FC236}">
                <a16:creationId xmlns:a16="http://schemas.microsoft.com/office/drawing/2014/main" id="{6D679E83-FEA9-4E34-93C7-FD0A48F6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86475"/>
            <a:ext cx="647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936421"/>
                </a:solidFill>
                <a:latin typeface="Heiti TC"/>
                <a:ea typeface="Heiti TC"/>
                <a:cs typeface="Heiti TC"/>
              </a:rPr>
              <a:t>失败</a:t>
            </a:r>
          </a:p>
        </p:txBody>
      </p:sp>
      <p:sp>
        <p:nvSpPr>
          <p:cNvPr id="50" name="需澄清直接生成追问">
            <a:extLst xmlns:a="http://schemas.openxmlformats.org/drawingml/2006/main">
              <a:ext uri="{FF2B5EF4-FFF2-40B4-BE49-F238E27FC236}">
                <a16:creationId xmlns:a16="http://schemas.microsoft.com/office/drawing/2014/main" id="{D68FA130-ABA8-4814-86BD-DC8BCC15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52975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需澄清直接生成追问</a:t>
            </a:r>
          </a:p>
          <a:p xmlns:a="http://schemas.openxmlformats.org/drawingml/2006/main">
            <a: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订单判为咨询时回到知识检索</a:t>
            </a:r>
          </a:p>
        </p:txBody>
      </p:sp>
    </p:spTree>
    <p:extLst>
      <p:ext uri="{BB962C8B-B14F-4D97-AF65-F5344CB8AC3E}">
        <p14:creationId xmlns:p14="http://schemas.microsoft.com/office/powerpoint/2010/main" val="20492353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C0218F-1F1E-4DBA-BE83-A488280AE80F}"/>
              </a:ext>
            </a:extLst>
          </p:cNvPr>
          <p:cNvCxnSpPr>
            <a:stCxn xmlns:a="http://schemas.openxmlformats.org/drawingml/2006/main" id="30" idx="1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>
            <a:off x="5572125" y="56388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842E12-C299-4402-B180-D3733B2E86F8}"/>
              </a:ext>
            </a:extLst>
          </p:cNvPr>
          <p:cNvCxnSpPr>
            <a:stCxn xmlns:a="http://schemas.openxmlformats.org/drawingml/2006/main" id="29" idx="1"/>
            <a:endCxn xmlns:a="http://schemas.openxmlformats.org/drawingml/2006/main" id="30" idx="3"/>
          </p:cNvCxnSpPr>
          <p:nvPr/>
        </p:nvCxnSpPr>
        <p:spPr>
          <a:xfrm xmlns:a="http://schemas.openxmlformats.org/drawingml/2006/main" flipH="1">
            <a:off x="8429625" y="56388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0D4AA5-E053-456C-AA7B-A2066B4D57C0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10310813" y="4705350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E69AE6-F653-4D51-AB91-D14F59227934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429625" y="430053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3F2CC-07E8-4C62-916B-5A2DAB05E883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572125" y="430053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C82A51-C34F-46D3-834D-CFBFC780D7E5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857500" y="430053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7FFD5-D2EC-446C-AA3C-BABD48E7C07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096375" y="216693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3B6FB-CE7F-4A1B-8DB9-E6606663D55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238875" y="216693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FB930-7D53-4EE3-9DF7-7A142916EFE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57500" y="216693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37" name="RAG 检索流程">
            <a:extLst xmlns:a="http://schemas.openxmlformats.org/drawingml/2006/main">
              <a:ext uri="{FF2B5EF4-FFF2-40B4-BE49-F238E27FC236}">
                <a16:creationId xmlns:a16="http://schemas.microsoft.com/office/drawing/2014/main" id="{815851E7-FFF1-40E8-83B1-87366EE5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3150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RAG 检索流程</a:t>
            </a:r>
          </a:p>
        </p:txBody>
      </p:sp>
      <p:sp>
        <p:nvSpPr>
          <p:cNvPr id="2" name="固定顺序查询，返回真实证据；FAQ 与图谱命中时跳过文档生成">
            <a:extLst xmlns:a="http://schemas.openxmlformats.org/drawingml/2006/main">
              <a:ext uri="{FF2B5EF4-FFF2-40B4-BE49-F238E27FC236}">
                <a16:creationId xmlns:a16="http://schemas.microsoft.com/office/drawing/2014/main" id="{BAFBFA78-A58F-48B6-B026-EBDC6EB0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94297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固定顺序查询，返回真实证据；FAQ 与图谱命中时跳过文档生成</a:t>
            </a:r>
          </a:p>
        </p:txBody>
      </p:sp>
      <p:sp>
        <p:nvSpPr>
          <p:cNvPr id="3" name="AI智能客服  /  万佳恒">
            <a:extLst xmlns:a="http://schemas.openxmlformats.org/drawingml/2006/main">
              <a:ext uri="{FF2B5EF4-FFF2-40B4-BE49-F238E27FC236}">
                <a16:creationId xmlns:a16="http://schemas.microsoft.com/office/drawing/2014/main" id="{D532746D-EEED-4CC7-99C9-16BCF1DA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AI智能客服  /  万佳恒</a:t>
            </a:r>
          </a:p>
        </p:txBody>
      </p:sp>
      <p:sp>
        <p:nvSpPr>
          <p:cNvPr id="4" name="6 / 6">
            <a:extLst xmlns:a="http://schemas.openxmlformats.org/drawingml/2006/main">
              <a:ext uri="{FF2B5EF4-FFF2-40B4-BE49-F238E27FC236}">
                <a16:creationId xmlns:a16="http://schemas.microsoft.com/office/drawing/2014/main" id="{B9A57BD1-16F4-4A90-B85B-78B3CE2F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7 / 7</a:t>
            </a:r>
          </a:p>
        </p:txBody>
      </p:sp>
      <p:sp>
        <p:nvSpPr>
          <p:cNvPr id="5" name="问题重写">
            <a:extLst xmlns:a="http://schemas.openxmlformats.org/drawingml/2006/main">
              <a:ext uri="{FF2B5EF4-FFF2-40B4-BE49-F238E27FC236}">
                <a16:creationId xmlns:a16="http://schemas.microsoft.com/office/drawing/2014/main" id="{26220D0D-676B-4EFB-B42B-D73CA8DC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2333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A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问题重写</a:t>
            </a:r>
          </a:p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补全上下文与条件</a:t>
            </a:r>
          </a:p>
        </p:txBody>
      </p:sp>
      <p:sp>
        <p:nvSpPr>
          <p:cNvPr id="6" name="参数关系查询（可选）">
            <a:extLst xmlns:a="http://schemas.openxmlformats.org/drawingml/2006/main">
              <a:ext uri="{FF2B5EF4-FFF2-40B4-BE49-F238E27FC236}">
                <a16:creationId xmlns:a16="http://schemas.microsoft.com/office/drawing/2014/main" id="{3A4D5D87-E53D-4DC7-8EBB-1E212759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62125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参数关系查询（可选）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Neo4j 固定 Cypher</a:t>
            </a:r>
          </a:p>
        </p:txBody>
      </p:sp>
      <p:sp>
        <p:nvSpPr>
          <p:cNvPr id="7" name="FAQ 问法召回">
            <a:extLst xmlns:a="http://schemas.openxmlformats.org/drawingml/2006/main">
              <a:ext uri="{FF2B5EF4-FFF2-40B4-BE49-F238E27FC236}">
                <a16:creationId xmlns:a16="http://schemas.microsoft.com/office/drawing/2014/main" id="{05874FDD-A361-44C8-84FC-750ED712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2333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FAQ 问法召回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相关性校验与去重</a:t>
            </a:r>
          </a:p>
        </p:txBody>
      </p:sp>
      <p:sp>
        <p:nvSpPr>
          <p:cNvPr id="8" name="直接返回">
            <a:extLst xmlns:a="http://schemas.openxmlformats.org/drawingml/2006/main">
              <a:ext uri="{FF2B5EF4-FFF2-40B4-BE49-F238E27FC236}">
                <a16:creationId xmlns:a16="http://schemas.microsoft.com/office/drawing/2014/main" id="{D3884531-4209-4A01-AB56-4446AAEF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62125"/>
            <a:ext cx="2047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A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直接返回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图谱表格／FAQ</a:t>
            </a:r>
          </a:p>
        </p:txBody>
      </p:sp>
      <p:sp>
        <p:nvSpPr>
          <p:cNvPr id="12" name="普通问题直接查 FAQ">
            <a:extLst xmlns:a="http://schemas.openxmlformats.org/drawingml/2006/main">
              <a:ext uri="{FF2B5EF4-FFF2-40B4-BE49-F238E27FC236}">
                <a16:creationId xmlns:a16="http://schemas.microsoft.com/office/drawing/2014/main" id="{C392B0B9-AEC5-4233-A8F1-8877884D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14625"/>
            <a:ext cx="647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普通问题直接查 FAQ</a:t>
            </a:r>
          </a:p>
          <a:p xmlns:a="http://schemas.openxmlformats.org/drawingml/2006/main">
            <a: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图谱未覆盖、版本过期或异常时回到 FAQ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54A06-9195-4415-93E1-0E70DCB84C2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810125" y="145732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87F8C"/>
            </a:solidFill>
            <a:prstDash val="solid"/>
            <a:tailEnd type="non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600DBC-6D55-4A24-B3C3-CE6E2BD0870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810125" y="1457325"/>
            <a:ext cx="58293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87F8C"/>
            </a:solidFill>
            <a:prstDash val="solid"/>
            <a:tailEnd type="non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75741-0950-45C4-955D-5CFC7175A5E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639425" y="145732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16" name="图谱命中">
            <a:extLst xmlns:a="http://schemas.openxmlformats.org/drawingml/2006/main">
              <a:ext uri="{FF2B5EF4-FFF2-40B4-BE49-F238E27FC236}">
                <a16:creationId xmlns:a16="http://schemas.microsoft.com/office/drawing/2014/main" id="{11BCD1DC-28D4-4BE2-BA8D-E78D3084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123950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图谱命中</a:t>
            </a:r>
          </a:p>
        </p:txBody>
      </p:sp>
      <p:sp>
        <p:nvSpPr>
          <p:cNvPr id="17" name="明确命中">
            <a:extLst xmlns:a="http://schemas.openxmlformats.org/drawingml/2006/main">
              <a:ext uri="{FF2B5EF4-FFF2-40B4-BE49-F238E27FC236}">
                <a16:creationId xmlns:a16="http://schemas.microsoft.com/office/drawing/2014/main" id="{28A0A825-F781-408B-B0F1-8045BD85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384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明确命中</a:t>
            </a:r>
          </a:p>
        </p:txBody>
      </p:sp>
      <p:sp>
        <p:nvSpPr>
          <p:cNvPr id="18" name="原查询混合检索">
            <a:extLst xmlns:a="http://schemas.openxmlformats.org/drawingml/2006/main">
              <a:ext uri="{FF2B5EF4-FFF2-40B4-BE49-F238E27FC236}">
                <a16:creationId xmlns:a16="http://schemas.microsoft.com/office/drawing/2014/main" id="{79A09368-8C7D-43D1-A1FF-9C43D539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95725"/>
            <a:ext cx="2333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原查询混合检索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BGE-M3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Dense + Sparse</a:t>
            </a:r>
          </a:p>
        </p:txBody>
      </p:sp>
      <p:sp>
        <p:nvSpPr>
          <p:cNvPr id="19" name="HyDE 生成">
            <a:extLst xmlns:a="http://schemas.openxmlformats.org/drawingml/2006/main">
              <a:ext uri="{FF2B5EF4-FFF2-40B4-BE49-F238E27FC236}">
                <a16:creationId xmlns:a16="http://schemas.microsoft.com/office/drawing/2014/main" id="{FDB1F4ED-65AE-4BFB-B1D4-CA506452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95725"/>
            <a:ext cx="2190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HyDE 生成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假设文本仅用于检索</a:t>
            </a:r>
          </a:p>
        </p:txBody>
      </p:sp>
      <p:sp>
        <p:nvSpPr>
          <p:cNvPr id="20" name="HyDE 混合检索">
            <a:extLst xmlns:a="http://schemas.openxmlformats.org/drawingml/2006/main">
              <a:ext uri="{FF2B5EF4-FFF2-40B4-BE49-F238E27FC236}">
                <a16:creationId xmlns:a16="http://schemas.microsoft.com/office/drawing/2014/main" id="{F15CE166-1224-4966-96C7-6EC6F346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95725"/>
            <a:ext cx="2333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HyDE 混合检索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BGE-M3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Dense + Sparse</a:t>
            </a:r>
          </a:p>
        </p:txBody>
      </p:sp>
      <p:sp>
        <p:nvSpPr>
          <p:cNvPr id="21" name="RRF 融合去重">
            <a:extLst xmlns:a="http://schemas.openxmlformats.org/drawingml/2006/main">
              <a:ext uri="{FF2B5EF4-FFF2-40B4-BE49-F238E27FC236}">
                <a16:creationId xmlns:a16="http://schemas.microsoft.com/office/drawing/2014/main" id="{567438A5-5010-4EAA-9F70-F6295474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95725"/>
            <a:ext cx="2714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A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RRF 融合去重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合并两次真实文档召回</a:t>
            </a:r>
          </a:p>
        </p:txBody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862E71-AFF7-4C1A-98E0-0BE86FD9529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24800" y="2571750"/>
            <a:ext cx="0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87F8C"/>
            </a:solidFill>
            <a:prstDash val="solid"/>
            <a:tailEnd type="non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BF394D-E715-4511-AF27-E1FBD8728DBC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685925" y="3438525"/>
            <a:ext cx="62388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87F8C"/>
            </a:solidFill>
            <a:prstDash val="solid"/>
            <a:tailEnd type="non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B610B6-CC34-438A-85CF-47082A6FD9A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85925" y="3438525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28" name="FAQ 未明确命中">
            <a:extLst xmlns:a="http://schemas.openxmlformats.org/drawingml/2006/main">
              <a:ext uri="{FF2B5EF4-FFF2-40B4-BE49-F238E27FC236}">
                <a16:creationId xmlns:a16="http://schemas.microsoft.com/office/drawing/2014/main" id="{81181365-E098-4403-95DB-D091B479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09925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5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5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5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5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5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5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5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5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5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FAQ 未明确命中</a:t>
            </a:r>
          </a:p>
        </p:txBody>
      </p:sp>
      <p:sp>
        <p:nvSpPr>
          <p:cNvPr id="29" name="独立 Reranker 精排">
            <a:extLst xmlns:a="http://schemas.openxmlformats.org/drawingml/2006/main">
              <a:ext uri="{FF2B5EF4-FFF2-40B4-BE49-F238E27FC236}">
                <a16:creationId xmlns:a16="http://schemas.microsoft.com/office/drawing/2014/main" id="{07558CD9-47B7-4B3A-9E33-77103DFC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48275"/>
            <a:ext cx="2714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A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独立 Reranker 精排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最多 5 条、正文 8000 字符</a:t>
            </a:r>
          </a:p>
        </p:txBody>
      </p:sp>
      <p:sp>
        <p:nvSpPr>
          <p:cNvPr id="30" name="整理真实证据">
            <a:extLst xmlns:a="http://schemas.openxmlformats.org/drawingml/2006/main">
              <a:ext uri="{FF2B5EF4-FFF2-40B4-BE49-F238E27FC236}">
                <a16:creationId xmlns:a16="http://schemas.microsoft.com/office/drawing/2014/main" id="{86B3A0FE-DB38-4FC1-926C-D9ECE565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48275"/>
            <a:ext cx="2333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整理真实证据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保留来源与版本</a:t>
            </a:r>
          </a:p>
        </p:txBody>
      </p:sp>
      <p:sp>
        <p:nvSpPr>
          <p:cNvPr id="31" name="主图统一回复">
            <a:extLst xmlns:a="http://schemas.openxmlformats.org/drawingml/2006/main">
              <a:ext uri="{FF2B5EF4-FFF2-40B4-BE49-F238E27FC236}">
                <a16:creationId xmlns:a16="http://schemas.microsoft.com/office/drawing/2014/main" id="{77BD4E8C-820E-4842-B1F8-3D90818D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24827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主图统一回复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依据真实证据生成</a:t>
            </a:r>
          </a:p>
        </p:txBody>
      </p:sp>
      <p:sp>
        <p:nvSpPr>
          <p:cNvPr id="35" name="原查询 / HyDE 权重 1.0 / 0.7，RRF k=60">
            <a:extLst xmlns:a="http://schemas.openxmlformats.org/drawingml/2006/main">
              <a:ext uri="{FF2B5EF4-FFF2-40B4-BE49-F238E27FC236}">
                <a16:creationId xmlns:a16="http://schemas.microsoft.com/office/drawing/2014/main" id="{F5D8D04A-6478-4DDA-89BE-B4F8123F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43625"/>
            <a:ext cx="700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原查询 / HyDE 权重 1.0 / 0.7，RRF k=60</a:t>
            </a:r>
          </a:p>
        </p:txBody>
      </p:sp>
      <p:sp>
        <p:nvSpPr>
          <p:cNvPr id="36" name="缺条件先澄清，缺证据说明无法核实">
            <a:extLst xmlns:a="http://schemas.openxmlformats.org/drawingml/2006/main">
              <a:ext uri="{FF2B5EF4-FFF2-40B4-BE49-F238E27FC236}">
                <a16:creationId xmlns:a16="http://schemas.microsoft.com/office/drawing/2014/main" id="{3357D4EB-5A1D-4B35-939E-0A43769B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61436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7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7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7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7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7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7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7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7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7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936421"/>
                </a:solidFill>
                <a:latin typeface="Heiti TC"/>
                <a:ea typeface="Heiti TC"/>
                <a:cs typeface="Heiti TC"/>
              </a:rPr>
              <a:t>缺条件先澄清，缺证据说明无法核实</a:t>
            </a:r>
          </a:p>
        </p:txBody>
      </p:sp>
    </p:spTree>
    <p:extLst>
      <p:ext uri="{BB962C8B-B14F-4D97-AF65-F5344CB8AC3E}">
        <p14:creationId xmlns:p14="http://schemas.microsoft.com/office/powerpoint/2010/main" val="11764233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项目亮点">
            <a:extLst xmlns:a="http://schemas.openxmlformats.org/drawingml/2006/main">
              <a:ext uri="{FF2B5EF4-FFF2-40B4-BE49-F238E27FC236}">
                <a16:creationId xmlns:a16="http://schemas.microsoft.com/office/drawing/2014/main" id="{68C9D8DC-3B22-4B33-8E61-C9BEE2B9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3150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Markdown 父子分块与入库</a:t>
            </a:r>
          </a:p>
        </p:txBody>
      </p:sp>
      <p:sp>
        <p:nvSpPr>
          <p:cNvPr id="2" name="围绕实际问答与办理过程，保持流程可追踪、证据有来源、写操作有确认">
            <a:extLst xmlns:a="http://schemas.openxmlformats.org/drawingml/2006/main">
              <a:ext uri="{FF2B5EF4-FFF2-40B4-BE49-F238E27FC236}">
                <a16:creationId xmlns:a16="http://schemas.microsoft.com/office/drawing/2014/main" id="{7A26105C-6981-4B20-BD97-FC883042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94297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按主题保留完整上下文，在父块内部切分子块，分别保存正文与检索索引</a:t>
            </a:r>
          </a:p>
        </p:txBody>
      </p:sp>
      <p:sp>
        <p:nvSpPr>
          <p:cNvPr id="3" name="AI智能客服  /  万佳恒">
            <a:extLst xmlns:a="http://schemas.openxmlformats.org/drawingml/2006/main">
              <a:ext uri="{FF2B5EF4-FFF2-40B4-BE49-F238E27FC236}">
                <a16:creationId xmlns:a16="http://schemas.microsoft.com/office/drawing/2014/main" id="{D714EB68-E240-42A3-8BEE-D1123CF3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AI智能客服  /  万佳恒</a:t>
            </a:r>
          </a:p>
        </p:txBody>
      </p:sp>
      <p:sp>
        <p:nvSpPr>
          <p:cNvPr id="4" name="3 / 5">
            <a:extLst xmlns:a="http://schemas.openxmlformats.org/drawingml/2006/main">
              <a:ext uri="{FF2B5EF4-FFF2-40B4-BE49-F238E27FC236}">
                <a16:creationId xmlns:a16="http://schemas.microsoft.com/office/drawing/2014/main" id="{B2E79699-A706-4026-A09A-A27AA0A8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6 / 7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967C346F-230D-4DDC-9F8E-CC0431AA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6" name="可控的单意图路由">
            <a:extLst xmlns:a="http://schemas.openxmlformats.org/drawingml/2006/main">
              <a:ext uri="{FF2B5EF4-FFF2-40B4-BE49-F238E27FC236}">
                <a16:creationId xmlns:a16="http://schemas.microsoft.com/office/drawing/2014/main" id="{507C7A82-3AC0-4BB4-8E90-CB652155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240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Markdown 划分父块</a:t>
            </a:r>
          </a:p>
        </p:txBody>
      </p:sp>
      <p:sp>
        <p:nvSpPr>
          <p:cNvPr id="7" name="明确寒暄与转人工走 Python 规则，其余由 LLM 分类">
            <a:extLst xmlns:a="http://schemas.openxmlformats.org/drawingml/2006/main">
              <a:ext uri="{FF2B5EF4-FFF2-40B4-BE49-F238E27FC236}">
                <a16:creationId xmlns:a16="http://schemas.microsoft.com/office/drawing/2014/main" id="{6A0C4F56-EE34-45F0-8F13-ACDAB2A0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716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按标题层级和完整主题划分父块，保留标题路径与来源</a:t>
            </a:r>
          </a:p>
        </p:txBody>
      </p:sp>
      <p:sp>
        <p:nvSpPr>
          <p:cNvPr id="8" name="多轮上下文与 SSE 节点进度可追踪">
            <a:extLst xmlns:a="http://schemas.openxmlformats.org/drawingml/2006/main">
              <a:ext uri="{FF2B5EF4-FFF2-40B4-BE49-F238E27FC236}">
                <a16:creationId xmlns:a16="http://schemas.microsoft.com/office/drawing/2014/main" id="{FA3B2B4C-EB04-4428-B30D-8A479D70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父块保留完整业务语境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77463-19D4-440C-9806-AC52B5D3D7C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33500" y="2457450"/>
            <a:ext cx="103346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6C032874-7E83-4135-8B6A-7E193C3F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2890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1" name="分层检索与独立精排">
            <a:extLst xmlns:a="http://schemas.openxmlformats.org/drawingml/2006/main">
              <a:ext uri="{FF2B5EF4-FFF2-40B4-BE49-F238E27FC236}">
                <a16:creationId xmlns:a16="http://schemas.microsoft.com/office/drawing/2014/main" id="{7EC423B6-302D-441D-B6FA-1EE6FFEA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289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父块内部切分子块</a:t>
            </a:r>
          </a:p>
        </p:txBody>
      </p:sp>
      <p:sp>
        <p:nvSpPr>
          <p:cNvPr id="12" name="FAQ 优先，未明确命中再走原查询 + HyDE 混合检索">
            <a:extLst xmlns:a="http://schemas.openxmlformats.org/drawingml/2006/main">
              <a:ext uri="{FF2B5EF4-FFF2-40B4-BE49-F238E27FC236}">
                <a16:creationId xmlns:a16="http://schemas.microsoft.com/office/drawing/2014/main" id="{9D59015E-58F2-4924-961C-3345E5C7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765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优先沿段落和句子切分，以长度上限控制子块大小</a:t>
            </a:r>
          </a:p>
        </p:txBody>
      </p:sp>
      <p:sp>
        <p:nvSpPr>
          <p:cNvPr id="13" name="双向量召回后，按证据相关性独立精排">
            <a:extLst xmlns:a="http://schemas.openxmlformats.org/drawingml/2006/main">
              <a:ext uri="{FF2B5EF4-FFF2-40B4-BE49-F238E27FC236}">
                <a16:creationId xmlns:a16="http://schemas.microsoft.com/office/drawing/2014/main" id="{45BD11F9-D5CC-4429-BA8E-D1144FCA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每个子块关联唯一父块 ID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061E9-F5F0-4767-A10E-56652B4D04E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33500" y="3562350"/>
            <a:ext cx="103346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9502B0ED-0B21-4DE5-B879-BF0957CC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3380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6" name="参数关系查询有确定结果">
            <a:extLst xmlns:a="http://schemas.openxmlformats.org/drawingml/2006/main">
              <a:ext uri="{FF2B5EF4-FFF2-40B4-BE49-F238E27FC236}">
                <a16:creationId xmlns:a16="http://schemas.microsoft.com/office/drawing/2014/main" id="{8FE8F357-C00A-41F6-B71F-AF94838D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338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父块正文存 PostgreSQL</a:t>
            </a:r>
          </a:p>
        </p:txBody>
      </p:sp>
      <p:sp>
        <p:nvSpPr>
          <p:cNvPr id="17" name="Neo4j 支持型号比较、共同参数与多条件筛选">
            <a:extLst xmlns:a="http://schemas.openxmlformats.org/drawingml/2006/main">
              <a:ext uri="{FF2B5EF4-FFF2-40B4-BE49-F238E27FC236}">
                <a16:creationId xmlns:a16="http://schemas.microsoft.com/office/drawing/2014/main" id="{5521D735-3D85-4D9F-9B9B-2B2D5EF4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814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保存父块正文、父块 ID、文档 ID、版本及适用范围</a:t>
            </a:r>
          </a:p>
        </p:txBody>
      </p:sp>
      <p:sp>
        <p:nvSpPr>
          <p:cNvPr id="18" name="固定 Cypher 查询，程序计算差值与筛选结果">
            <a:extLst xmlns:a="http://schemas.openxmlformats.org/drawingml/2006/main">
              <a:ext uri="{FF2B5EF4-FFF2-40B4-BE49-F238E27FC236}">
                <a16:creationId xmlns:a16="http://schemas.microsoft.com/office/drawing/2014/main" id="{05B265A6-06F2-46B6-B0C2-D3A2C222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按父块 ID 与版本批量回查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45013-B3E3-47F8-BD39-BD648E56961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33500" y="4667250"/>
            <a:ext cx="103346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20" name="04">
            <a:extLst xmlns:a="http://schemas.openxmlformats.org/drawingml/2006/main">
              <a:ext uri="{FF2B5EF4-FFF2-40B4-BE49-F238E27FC236}">
                <a16:creationId xmlns:a16="http://schemas.microsoft.com/office/drawing/2014/main" id="{DB484E4C-C365-4ACD-A25F-6CE5BFBA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3870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  <p:sp>
        <p:nvSpPr>
          <p:cNvPr id="21" name="售后确认与重复提交保护">
            <a:extLst xmlns:a="http://schemas.openxmlformats.org/drawingml/2006/main">
              <a:ext uri="{FF2B5EF4-FFF2-40B4-BE49-F238E27FC236}">
                <a16:creationId xmlns:a16="http://schemas.microsoft.com/office/drawing/2014/main" id="{C2EE778C-0F30-4F0A-9150-80BBFFFD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387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子块索引存 Milvus</a:t>
            </a:r>
          </a:p>
        </p:txBody>
      </p:sp>
      <p:sp>
        <p:nvSpPr>
          <p:cNvPr id="22" name="核对本人订单、商品和动作，明确确认后再创建申请">
            <a:extLst xmlns:a="http://schemas.openxmlformats.org/drawingml/2006/main">
              <a:ext uri="{FF2B5EF4-FFF2-40B4-BE49-F238E27FC236}">
                <a16:creationId xmlns:a16="http://schemas.microsoft.com/office/drawing/2014/main" id="{5DC45231-E9BC-4550-9375-CA2A02AA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863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保存子块向量与正文、父块 ID、版本，以及品牌、型号等过滤字段</a:t>
            </a:r>
          </a:p>
        </p:txBody>
      </p:sp>
      <p:sp>
        <p:nvSpPr>
          <p:cNvPr id="23" name="参数改变重新确认，同一申请不重复创建">
            <a:extLst xmlns:a="http://schemas.openxmlformats.org/drawingml/2006/main">
              <a:ext uri="{FF2B5EF4-FFF2-40B4-BE49-F238E27FC236}">
                <a16:creationId xmlns:a16="http://schemas.microsoft.com/office/drawing/2014/main" id="{6EA75AA5-9061-4479-9B60-DC43384B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38700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BGE-M3 生成 Dense + Sparse 向量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F45905-7D91-4B11-903D-D27CB387975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33500" y="5772150"/>
            <a:ext cx="103346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25" name="知识来自同一份 Markdown 正文，内部保留来源与版本；未找到依据时明确说明无法核实">
            <a:extLst xmlns:a="http://schemas.openxmlformats.org/drawingml/2006/main">
              <a:ext uri="{FF2B5EF4-FFF2-40B4-BE49-F238E27FC236}">
                <a16:creationId xmlns:a16="http://schemas.microsoft.com/office/drawing/2014/main" id="{FEC3C36D-A8DF-487A-8E3C-46F0EE42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76950"/>
            <a:ext cx="1109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检索时先命中子块，再按父块 ID 与版本回查 PostgreSQL，补齐上下文</a:t>
            </a:r>
          </a:p>
        </p:txBody>
      </p:sp>
    </p:spTree>
    <p:extLst>
      <p:ext uri="{BB962C8B-B14F-4D97-AF65-F5344CB8AC3E}">
        <p14:creationId xmlns:p14="http://schemas.microsoft.com/office/powerpoint/2010/main" val="15932741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7502AB-26E3-40AC-A7C6-D5055246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3150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抽槽与跨轮补参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0FDD9-D52B-4B66-87A2-BC214A5F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94297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LLM 提取本轮条件，Python 保留有效槽位，缺少信息时继续追问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602EC-B981-4E44-9BA6-A1E2BFD6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192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5D740-F1A4-4D3E-B9BA-D7629107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192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抽取参数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696F0-6F6B-475E-B635-7A82F819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752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LLM 输出 JSON，Pydantic 校验字段结构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19B93-F562-4766-B103-A341B6C2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5717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72B91-4B3A-48BD-B531-35403D2D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717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合并与追问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1AB9D-5A67-4156-8A7D-5C8A0716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752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沿用已知条件，补充或纠正新值，缺参继续问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0C4E2-FF16-4C8A-A9F2-DA4CE7C1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5242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E850E-75E3-4E47-9908-A58904BC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242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核实与确认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7E7C2-48AA-4BB7-9A61-58C1FF0B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24250"/>
            <a:ext cx="752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订单归属由数据库核实，售后明确确认后提交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E58DA-6A4E-490A-A22F-12213F0C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667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>
              <a:defRPr sz="20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>
              <a:defRPr sz="20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>
              <a:defRPr sz="20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>
              <a:defRPr sz="20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>
              <a:defRPr sz="20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>
              <a:defRPr sz="20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>
              <a:defRPr sz="20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>
              <a:defRPr sz="20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>
              <a:defRPr sz="20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咨询示例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F7C8F-F953-45DD-91A9-9F61C234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143500"/>
            <a:ext cx="1109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“我想了解小米15”  →  记录型号，追问咨询方面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23929-D4E0-450D-A3EE-41E65C4C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572125"/>
            <a:ext cx="1109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“屏幕参数”  →  继承型号，检索“小米15的屏幕参数”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21A16-E1FE-4385-906C-5C332834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76950"/>
            <a:ext cx="1109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咨询与售后支持跨轮补参，订单查询仅提取本轮条件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D19B1A-92AB-4C87-A1D4-BEC4BCE1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AI智能客服  /  万佳恒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03CE19-B550-48B7-B528-7E51B3E2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5 / 7</a:t>
            </a:r>
          </a:p>
        </p:txBody>
      </p:sp>
    </p:spTree>
    <p:extLst>
      <p:ext uri="{BB962C8B-B14F-4D97-AF65-F5344CB8AC3E}">
        <p14:creationId xmlns:p14="http://schemas.microsoft.com/office/powerpoint/2010/main" val="121295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7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2026-10-22T08:47:02.2780000Z</dcterms:created>
  <dcterms:modified xsi:type="dcterms:W3CDTF">2026-10-22T08:47:02.2780000Z</dcterms:modified>
</coreProperties>
</file>